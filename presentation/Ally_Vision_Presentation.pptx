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mAP@50 (%)</c:v>
                </c:pt>
              </c:strCache>
            </c:strRef>
          </c:tx>
          <c:spPr>
            <a:solidFill>
              <a:srgbClr val="27AE60"/>
            </a:solidFill>
          </c:spPr>
          <c:cat>
            <c:strRef>
              <c:f>Sheet1!$A$2:$A$9</c:f>
              <c:strCache>
                <c:ptCount val="8"/>
                <c:pt idx="0">
                  <c:v>Person</c:v>
                </c:pt>
                <c:pt idx="1">
                  <c:v>Chair</c:v>
                </c:pt>
                <c:pt idx="2">
                  <c:v>Table</c:v>
                </c:pt>
                <c:pt idx="3">
                  <c:v>Door</c:v>
                </c:pt>
                <c:pt idx="4">
                  <c:v>Stairs</c:v>
                </c:pt>
                <c:pt idx="5">
                  <c:v>Vehicle</c:v>
                </c:pt>
                <c:pt idx="6">
                  <c:v>Pole</c:v>
                </c:pt>
                <c:pt idx="7">
                  <c:v>Generic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92.1</c:v>
                </c:pt>
                <c:pt idx="1">
                  <c:v>89.4</c:v>
                </c:pt>
                <c:pt idx="2">
                  <c:v>86.7</c:v>
                </c:pt>
                <c:pt idx="3">
                  <c:v>84.2</c:v>
                </c:pt>
                <c:pt idx="4">
                  <c:v>81.5</c:v>
                </c:pt>
                <c:pt idx="5">
                  <c:v>90.8</c:v>
                </c:pt>
                <c:pt idx="6">
                  <c:v>78.3</c:v>
                </c:pt>
                <c:pt idx="7">
                  <c:v>85.6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1A2A40"/>
            </a:solidFill>
          </a:ln>
        </c:spPr>
        <c:txPr>
          <a:bodyPr/>
          <a:lstStyle/>
          <a:p>
            <a:pPr>
              <a:defRPr sz="900">
                <a:solidFill>
                  <a:srgbClr val="64748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70.0"/>
        </c:scaling>
        <c:delete val="0"/>
        <c:axPos val="l"/>
        <c:majorGridlines>
          <c:spPr>
            <a:ln>
              <a:solidFill>
                <a:srgbClr val="1A2A40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1A2A40"/>
            </a:solidFill>
          </a:ln>
        </c:spPr>
        <c:txPr>
          <a:bodyPr/>
          <a:lstStyle/>
          <a:p>
            <a:pPr>
              <a:defRPr sz="900">
                <a:solidFill>
                  <a:srgbClr val="64748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Latency (ms)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Camera</c:v>
                </c:pt>
                <c:pt idx="1">
                  <c:v>YOLO</c:v>
                </c:pt>
                <c:pt idx="2">
                  <c:v>Depth Fusion</c:v>
                </c:pt>
                <c:pt idx="3">
                  <c:v>RANSAC</c:v>
                </c:pt>
                <c:pt idx="4">
                  <c:v>Tactile</c:v>
                </c:pt>
                <c:pt idx="5">
                  <c:v>Serial TX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28</c:v>
                </c:pt>
                <c:pt idx="2">
                  <c:v>12</c:v>
                </c:pt>
                <c:pt idx="3">
                  <c:v>15</c:v>
                </c:pt>
                <c:pt idx="4">
                  <c:v>8</c:v>
                </c:pt>
                <c:pt idx="5">
                  <c:v>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94960" y="457200"/>
            <a:ext cx="1371600" cy="1371600"/>
          </a:xfrm>
          <a:prstGeom prst="ellipse">
            <a:avLst/>
          </a:prstGeom>
          <a:solidFill>
            <a:srgbClr val="060B14"/>
          </a:solidFill>
          <a:ln w="381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/>
            </a:pPr>
            <a:r>
              <a:t>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E8EDF5"/>
                </a:solidFill>
                <a:latin typeface="Calibri"/>
              </a:defRPr>
            </a:pPr>
            <a:r>
              <a:t>Ally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3464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AI-Powered Visual-to-Tactile Assistive Navigation System</a:t>
            </a:r>
            <a:br/>
            <a:r>
              <a:t>Using Sensory Substitution for Visually Impaired Individuals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749039"/>
            <a:ext cx="2103120" cy="381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  <a:latin typeface="Calibri"/>
              </a:defRPr>
            </a:pPr>
            <a:r>
              <a:t>Egyptian-Chinese University (ECU)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38912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Faculty of Engineering &amp; Technology — Mechatronics 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93776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Supervised by:  Dr. Islam Mohamed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34924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Academic Year 2025 –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12648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🌐 allyvision.org     |     📧 contact@allyvision.org     |     📍 Cairo, Egypt</a:t>
            </a:r>
          </a:p>
        </p:txBody>
      </p:sp>
    </p:spTree>
  </p:cSld>
  <p:clrMapOvr>
    <a:masterClrMapping/>
  </p:clrMapOvr>
  <p:transition spd="med" advClick="1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3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6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9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20"/>
                            </p:stCondLst>
                            <p:childTnLst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150"/>
                            </p:stCondLst>
                            <p:childTnLst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380"/>
                            </p:stCondLst>
                            <p:childTnLst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610"/>
                            </p:stCondLst>
                            <p:childTnLst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840"/>
                            </p:stCondLst>
                            <p:childTnLst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Click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072213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7AE60"/>
                </a:solidFill>
                <a:latin typeface="Calibri"/>
              </a:defRPr>
            </a:pPr>
            <a:r>
              <a:t>GRADUATION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DF5"/>
                </a:solidFill>
                <a:latin typeface="Calibri"/>
              </a:defRPr>
            </a:pPr>
            <a:r>
              <a:t>Meet the Minds Behind Ally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An ambitious 11-engineer team from ECU collaborating across hardware, AI, embedded systems, and haptics.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2560320" cy="128016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17320" y="2057400"/>
            <a:ext cx="594360" cy="59436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EDF5"/>
                </a:solidFill>
                <a:latin typeface="Calibri"/>
              </a:defRPr>
            </a:pPr>
            <a:r>
              <a:t>Farah Tamer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Engineering Team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920240"/>
            <a:ext cx="2560320" cy="128016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51960" y="2057400"/>
            <a:ext cx="594360" cy="5943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697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EDF5"/>
                </a:solidFill>
                <a:latin typeface="Calibri"/>
              </a:defRPr>
            </a:pPr>
            <a:r>
              <a:t>Taha Mohamed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9260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Engineering Team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920240"/>
            <a:ext cx="2560320" cy="128016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86600" y="2057400"/>
            <a:ext cx="594360" cy="5943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697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EDF5"/>
                </a:solidFill>
                <a:latin typeface="Calibri"/>
              </a:defRPr>
            </a:pPr>
            <a:r>
              <a:t>Mostafa Mohamed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9260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Engineering Team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1920240"/>
            <a:ext cx="2560320" cy="128016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921240" y="2057400"/>
            <a:ext cx="594360" cy="59436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697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EDF5"/>
                </a:solidFill>
                <a:latin typeface="Calibri"/>
              </a:defRPr>
            </a:pPr>
            <a:r>
              <a:t>David Hany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9260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Engineering Team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429000"/>
            <a:ext cx="2560320" cy="128016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17320" y="3566160"/>
            <a:ext cx="594360" cy="5943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06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EDF5"/>
                </a:solidFill>
                <a:latin typeface="Calibri"/>
              </a:defRPr>
            </a:pPr>
            <a:r>
              <a:t>Salma Mohamed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4348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Engineering Team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3429000"/>
            <a:ext cx="2560320" cy="128016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51960" y="3566160"/>
            <a:ext cx="594360" cy="5943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206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EDF5"/>
                </a:solidFill>
                <a:latin typeface="Calibri"/>
              </a:defRPr>
            </a:pPr>
            <a:r>
              <a:t>Fathy Ahmed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44348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Engineering Team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429000"/>
            <a:ext cx="2560320" cy="128016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86600" y="3566160"/>
            <a:ext cx="594360" cy="594360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206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EDF5"/>
                </a:solidFill>
                <a:latin typeface="Calibri"/>
              </a:defRPr>
            </a:pPr>
            <a:r>
              <a:t>Abdallah Reda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4348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Engineering Team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2560" y="3429000"/>
            <a:ext cx="2560320" cy="128016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921240" y="3566160"/>
            <a:ext cx="594360" cy="59436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4206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EDF5"/>
                </a:solidFill>
                <a:latin typeface="Calibri"/>
              </a:defRPr>
            </a:pPr>
            <a:r>
              <a:t>Mohamed Mohsen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4348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Engineering Team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937760"/>
            <a:ext cx="2560320" cy="128016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417320" y="5074920"/>
            <a:ext cx="594360" cy="5943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715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EDF5"/>
                </a:solidFill>
                <a:latin typeface="Calibri"/>
              </a:defRPr>
            </a:pPr>
            <a:r>
              <a:t>Ahmed Ragab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9436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Engineering Team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83280" y="4937760"/>
            <a:ext cx="2560320" cy="128016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251960" y="5074920"/>
            <a:ext cx="594360" cy="594360"/>
          </a:xfrm>
          <a:prstGeom prst="ellipse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20" y="5715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EDF5"/>
                </a:solidFill>
                <a:latin typeface="Calibri"/>
              </a:defRPr>
            </a:pPr>
            <a:r>
              <a:t>Habiba Saad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4720" y="59436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Engineering Team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4937760"/>
            <a:ext cx="2560320" cy="128016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086600" y="5074920"/>
            <a:ext cx="594360" cy="59436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5715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EDF5"/>
                </a:solidFill>
                <a:latin typeface="Calibri"/>
              </a:defRPr>
            </a:pPr>
            <a:r>
              <a:t>Hend Elsayed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59436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Engineering Team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Ally Vision — ECU Graduation Project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0" y="6355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02 / 12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6309360"/>
            <a:ext cx="11064240" cy="1270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80"/>
                            </p:stCondLst>
                            <p:childTnLst>
                              <p:par>
                                <p:cTn id="26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60"/>
                            </p:stCondLst>
                            <p:childTnLst>
                              <p:par>
                                <p:cTn id="30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40"/>
                            </p:stCondLst>
                            <p:childTnLst>
                              <p:par>
                                <p:cTn id="34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20"/>
                            </p:stCondLst>
                            <p:childTnLst>
                              <p:par>
                                <p:cTn id="38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80"/>
                            </p:stCondLst>
                            <p:childTnLst>
                              <p:par>
                                <p:cTn id="47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60"/>
                            </p:stCondLst>
                            <p:childTnLst>
                              <p:par>
                                <p:cTn id="51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40"/>
                            </p:stCondLst>
                            <p:childTnLst>
                              <p:par>
                                <p:cTn id="55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720"/>
                            </p:stCondLst>
                            <p:childTnLst>
                              <p:par>
                                <p:cTn id="59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80"/>
                            </p:stCondLst>
                            <p:childTnLst>
                              <p:par>
                                <p:cTn id="68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60"/>
                            </p:stCondLst>
                            <p:childTnLst>
                              <p:par>
                                <p:cTn id="72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40"/>
                            </p:stCondLst>
                            <p:childTnLst>
                              <p:par>
                                <p:cTn id="76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720"/>
                            </p:stCondLst>
                            <p:childTnLst>
                              <p:par>
                                <p:cTn id="80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80"/>
                            </p:stCondLst>
                            <p:childTnLst>
                              <p:par>
                                <p:cTn id="89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360"/>
                            </p:stCondLst>
                            <p:childTnLst>
                              <p:par>
                                <p:cTn id="93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40"/>
                            </p:stCondLst>
                            <p:childTnLst>
                              <p:par>
                                <p:cTn id="97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720"/>
                            </p:stCondLst>
                            <p:childTnLst>
                              <p:par>
                                <p:cTn id="101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80"/>
                            </p:stCondLst>
                            <p:childTnLst>
                              <p:par>
                                <p:cTn id="110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360"/>
                            </p:stCondLst>
                            <p:childTnLst>
                              <p:par>
                                <p:cTn id="114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40"/>
                            </p:stCondLst>
                            <p:childTnLst>
                              <p:par>
                                <p:cTn id="118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720"/>
                            </p:stCondLst>
                            <p:childTnLst>
                              <p:par>
                                <p:cTn id="122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4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80"/>
                            </p:stCondLst>
                            <p:childTnLst>
                              <p:par>
                                <p:cTn id="131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360"/>
                            </p:stCondLst>
                            <p:childTnLst>
                              <p:par>
                                <p:cTn id="135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40"/>
                            </p:stCondLst>
                            <p:childTnLst>
                              <p:par>
                                <p:cTn id="139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720"/>
                            </p:stCondLst>
                            <p:childTnLst>
                              <p:par>
                                <p:cTn id="143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4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80"/>
                            </p:stCondLst>
                            <p:childTnLst>
                              <p:par>
                                <p:cTn id="152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360"/>
                            </p:stCondLst>
                            <p:childTnLst>
                              <p:par>
                                <p:cTn id="156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540"/>
                            </p:stCondLst>
                            <p:childTnLst>
                              <p:par>
                                <p:cTn id="160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720"/>
                            </p:stCondLst>
                            <p:childTnLst>
                              <p:par>
                                <p:cTn id="164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4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180"/>
                            </p:stCondLst>
                            <p:childTnLst>
                              <p:par>
                                <p:cTn id="173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360"/>
                            </p:stCondLst>
                            <p:childTnLst>
                              <p:par>
                                <p:cTn id="177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540"/>
                            </p:stCondLst>
                            <p:childTnLst>
                              <p:par>
                                <p:cTn id="181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720"/>
                            </p:stCondLst>
                            <p:childTnLst>
                              <p:par>
                                <p:cTn id="185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4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180"/>
                            </p:stCondLst>
                            <p:childTnLst>
                              <p:par>
                                <p:cTn id="194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360"/>
                            </p:stCondLst>
                            <p:childTnLst>
                              <p:par>
                                <p:cTn id="198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540"/>
                            </p:stCondLst>
                            <p:childTnLst>
                              <p:par>
                                <p:cTn id="202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720"/>
                            </p:stCondLst>
                            <p:childTnLst>
                              <p:par>
                                <p:cTn id="206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4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Click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0B253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DF5"/>
                </a:solidFill>
                <a:latin typeface="Calibri"/>
              </a:defRPr>
            </a:pPr>
            <a:r>
              <a:t>Presentation 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97280" cy="381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03520" cy="658368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457200" cy="384048"/>
          </a:xfrm>
          <a:prstGeom prst="roundRect">
            <a:avLst/>
          </a:prstGeom>
          <a:solidFill>
            <a:srgbClr val="0A1E3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7556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DF5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9339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Project Overview &amp; 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23160"/>
            <a:ext cx="5303520" cy="658368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560320"/>
            <a:ext cx="457200" cy="384048"/>
          </a:xfrm>
          <a:prstGeom prst="roundRect">
            <a:avLst/>
          </a:prstGeom>
          <a:solidFill>
            <a:srgbClr val="0A1E3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328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DF5"/>
                </a:solidFill>
                <a:latin typeface="Calibri"/>
              </a:defRPr>
            </a:pPr>
            <a:r>
              <a:t>Motivations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77063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Why Ally Vision Exists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00400"/>
            <a:ext cx="5303520" cy="658368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3337560"/>
            <a:ext cx="457200" cy="384048"/>
          </a:xfrm>
          <a:prstGeom prst="roundRect">
            <a:avLst/>
          </a:prstGeom>
          <a:solidFill>
            <a:srgbClr val="0A1E3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101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DF5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54787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77639"/>
            <a:ext cx="5303520" cy="658368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4114799"/>
            <a:ext cx="457200" cy="384048"/>
          </a:xfrm>
          <a:prstGeom prst="roundRect">
            <a:avLst/>
          </a:prstGeom>
          <a:solidFill>
            <a:srgbClr val="0A1E3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08736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DF5"/>
                </a:solidFill>
                <a:latin typeface="Calibri"/>
              </a:defRPr>
            </a:pPr>
            <a:r>
              <a:t>Contribution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325111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What We Bring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54880"/>
            <a:ext cx="5303520" cy="658368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" y="4892040"/>
            <a:ext cx="457200" cy="384048"/>
          </a:xfrm>
          <a:prstGeom prst="roundRect">
            <a:avLst/>
          </a:prstGeom>
          <a:solidFill>
            <a:srgbClr val="0A1E3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864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DF5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10235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Our Goals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532120"/>
            <a:ext cx="5303520" cy="658368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5669280"/>
            <a:ext cx="457200" cy="384048"/>
          </a:xfrm>
          <a:prstGeom prst="roundRect">
            <a:avLst/>
          </a:prstGeom>
          <a:solidFill>
            <a:srgbClr val="0A1E3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56418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DF5"/>
                </a:solidFill>
                <a:latin typeface="Calibri"/>
              </a:defRPr>
            </a:pPr>
            <a:r>
              <a:t>Proposed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87959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Architecture &amp; Design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1645920"/>
            <a:ext cx="5303520" cy="658368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27648" y="1783080"/>
            <a:ext cx="457200" cy="384048"/>
          </a:xfrm>
          <a:prstGeom prst="roundRect">
            <a:avLst/>
          </a:prstGeom>
          <a:solidFill>
            <a:srgbClr val="0A1E3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17556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DF5"/>
                </a:solidFill>
                <a:latin typeface="Calibri"/>
              </a:defRPr>
            </a:pPr>
            <a:r>
              <a:t>Parametric Study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199339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Benchmarks &amp; Analysis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2423160"/>
            <a:ext cx="5303520" cy="658368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27648" y="2560320"/>
            <a:ext cx="457200" cy="384048"/>
          </a:xfrm>
          <a:prstGeom prst="roundRect">
            <a:avLst/>
          </a:prstGeom>
          <a:solidFill>
            <a:srgbClr val="0A1E3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25328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DF5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277063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Performance Metrics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3200400"/>
            <a:ext cx="5303520" cy="658368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327648" y="3337560"/>
            <a:ext cx="457200" cy="384048"/>
          </a:xfrm>
          <a:prstGeom prst="roundRect">
            <a:avLst/>
          </a:prstGeom>
          <a:solidFill>
            <a:srgbClr val="0A1E3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33101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DF5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354787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3977639"/>
            <a:ext cx="5303520" cy="658368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327648" y="4114799"/>
            <a:ext cx="457200" cy="384048"/>
          </a:xfrm>
          <a:prstGeom prst="roundRect">
            <a:avLst/>
          </a:prstGeom>
          <a:solidFill>
            <a:srgbClr val="0A1E3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408736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DF5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4325111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4754880"/>
            <a:ext cx="5303520" cy="658368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327648" y="4892040"/>
            <a:ext cx="457200" cy="384048"/>
          </a:xfrm>
          <a:prstGeom prst="roundRect">
            <a:avLst/>
          </a:prstGeom>
          <a:solidFill>
            <a:srgbClr val="0A1E3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4864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DF5"/>
                </a:solidFill>
                <a:latin typeface="Calibri"/>
              </a:defRPr>
            </a:pPr>
            <a:r>
              <a:t>Time Plan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510235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Sprint Execution Roadmap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20" y="5532120"/>
            <a:ext cx="5303520" cy="658368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327648" y="5669280"/>
            <a:ext cx="457200" cy="384048"/>
          </a:xfrm>
          <a:prstGeom prst="roundRect">
            <a:avLst/>
          </a:prstGeom>
          <a:solidFill>
            <a:srgbClr val="0A1E3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03720" y="56418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DF5"/>
                </a:solidFill>
                <a:latin typeface="Calibri"/>
              </a:defRPr>
            </a:pPr>
            <a:r>
              <a:t>Q &amp; 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3720" y="587959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Open Discussion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Ally Vision — ECU Graduation Project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58400" y="6355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03 / 12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6309360"/>
            <a:ext cx="11064240" cy="1270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6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60"/>
                            </p:stCondLst>
                            <p:childTnLst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20"/>
                            </p:stCondLst>
                            <p:childTnLst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80"/>
                            </p:stCondLst>
                            <p:childTnLst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40"/>
                            </p:stCondLst>
                            <p:childTnLst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800"/>
                            </p:stCondLst>
                            <p:childTnLst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960"/>
                            </p:stCondLst>
                            <p:childTnLst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120"/>
                            </p:stCondLst>
                            <p:childTnLst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280"/>
                            </p:stCondLst>
                            <p:childTnLst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440"/>
                            </p:stCondLst>
                            <p:childTnLst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00"/>
                            </p:stCondLst>
                            <p:childTnLst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760"/>
                            </p:stCondLst>
                            <p:childTnLst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920"/>
                            </p:stCondLst>
                            <p:childTnLst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80"/>
                            </p:stCondLst>
                            <p:childTnLst>
                              <p:par>
                                <p:cTn id="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240"/>
                            </p:stCondLst>
                            <p:childTnLst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400"/>
                            </p:stCondLst>
                            <p:childTnLst>
                              <p:par>
                                <p:cTn id="7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560"/>
                            </p:stCondLst>
                            <p:childTnLst>
                              <p:par>
                                <p:cTn id="8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720"/>
                            </p:stCondLst>
                            <p:childTnLst>
                              <p:par>
                                <p:cTn id="8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880"/>
                            </p:stCondLst>
                            <p:childTnLst>
                              <p:par>
                                <p:cTn id="9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3040"/>
                            </p:stCondLst>
                            <p:childTnLst>
                              <p:par>
                                <p:cTn id="9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3200"/>
                            </p:stCondLst>
                            <p:childTnLst>
                              <p:par>
                                <p:cTn id="9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3360"/>
                            </p:stCondLst>
                            <p:childTnLst>
                              <p:par>
                                <p:cTn id="10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3520"/>
                            </p:stCondLst>
                            <p:childTnLst>
                              <p:par>
                                <p:cTn id="10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680"/>
                            </p:stCondLst>
                            <p:childTnLst>
                              <p:par>
                                <p:cTn id="1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3840"/>
                            </p:stCondLst>
                            <p:childTnLst>
                              <p:par>
                                <p:cTn id="1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60"/>
                            </p:stCondLst>
                            <p:childTnLst>
                              <p:par>
                                <p:cTn id="1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320"/>
                            </p:stCondLst>
                            <p:childTnLst>
                              <p:par>
                                <p:cTn id="1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480"/>
                            </p:stCondLst>
                            <p:childTnLst>
                              <p:par>
                                <p:cTn id="1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640"/>
                            </p:stCondLst>
                            <p:childTnLst>
                              <p:par>
                                <p:cTn id="1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800"/>
                            </p:stCondLst>
                            <p:childTnLst>
                              <p:par>
                                <p:cTn id="1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960"/>
                            </p:stCondLst>
                            <p:childTnLst>
                              <p:par>
                                <p:cTn id="1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1120"/>
                            </p:stCondLst>
                            <p:childTnLst>
                              <p:par>
                                <p:cTn id="1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280"/>
                            </p:stCondLst>
                            <p:childTnLst>
                              <p:par>
                                <p:cTn id="1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440"/>
                            </p:stCondLst>
                            <p:childTnLst>
                              <p:par>
                                <p:cTn id="1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600"/>
                            </p:stCondLst>
                            <p:childTnLst>
                              <p:par>
                                <p:cTn id="1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760"/>
                            </p:stCondLst>
                            <p:childTnLst>
                              <p:par>
                                <p:cTn id="1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920"/>
                            </p:stCondLst>
                            <p:childTnLst>
                              <p:par>
                                <p:cTn id="1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2080"/>
                            </p:stCondLst>
                            <p:childTnLst>
                              <p:par>
                                <p:cTn id="1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2240"/>
                            </p:stCondLst>
                            <p:childTnLst>
                              <p:par>
                                <p:cTn id="1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2400"/>
                            </p:stCondLst>
                            <p:childTnLst>
                              <p:par>
                                <p:cTn id="1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2560"/>
                            </p:stCondLst>
                            <p:childTnLst>
                              <p:par>
                                <p:cTn id="1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2720"/>
                            </p:stCondLst>
                            <p:childTnLst>
                              <p:par>
                                <p:cTn id="18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2880"/>
                            </p:stCondLst>
                            <p:childTnLst>
                              <p:par>
                                <p:cTn id="19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3040"/>
                            </p:stCondLst>
                            <p:childTnLst>
                              <p:par>
                                <p:cTn id="19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3200"/>
                            </p:stCondLst>
                            <p:childTnLst>
                              <p:par>
                                <p:cTn id="19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3360"/>
                            </p:stCondLst>
                            <p:childTnLst>
                              <p:par>
                                <p:cTn id="20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3520"/>
                            </p:stCondLst>
                            <p:childTnLst>
                              <p:par>
                                <p:cTn id="20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3680"/>
                            </p:stCondLst>
                            <p:childTnLst>
                              <p:par>
                                <p:cTn id="2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3840"/>
                            </p:stCondLst>
                            <p:childTnLst>
                              <p:par>
                                <p:cTn id="2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4000"/>
                            </p:stCondLst>
                            <p:childTnLst>
                              <p:par>
                                <p:cTn id="2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1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Click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072213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7AE60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DF5"/>
                </a:solidFill>
                <a:latin typeface="Calibri"/>
              </a:defRPr>
            </a:pPr>
            <a:r>
              <a:t>See Beyond 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97280" cy="381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Ally Vision is a wearable assistive navigation system that converts real-time 3D spatial data into tactile feedback on the user's forehead using a 5×5 dynamic pin-matrix, enabling visually impaired individuals to perceive obstacles without sight or sound.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94A3B8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Built on principles of Sensory Substitution and Neuroplasticity — the brain's ability to rewire sensory pathways. Inspired by the 7Sense SuperBrain 1 clinical architecture.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00400"/>
            <a:ext cx="2560320" cy="201168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7AE60"/>
                </a:solidFill>
                <a:latin typeface="Calibri"/>
              </a:defRPr>
            </a:pPr>
            <a:r>
              <a:t>285M+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Visually Impaired</a:t>
            </a:r>
            <a:br/>
            <a:r>
              <a:t>Worldwide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3200400"/>
            <a:ext cx="2560320" cy="201168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34747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8BDF8"/>
                </a:solidFill>
                <a:latin typeface="Calibri"/>
              </a:defRPr>
            </a:pPr>
            <a:r>
              <a:t>43M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4389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Completely</a:t>
            </a:r>
            <a:br/>
            <a:r>
              <a:t>Blind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200400"/>
            <a:ext cx="2560320" cy="201168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4747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59E0B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89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In Developing</a:t>
            </a:r>
            <a:br/>
            <a:r>
              <a:t>Countries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3200400"/>
            <a:ext cx="2560320" cy="201168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34747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A855F7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389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Face Mobility</a:t>
            </a:r>
            <a:br/>
            <a:r>
              <a:t>Challenges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Ally Vision — ECU Graduation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355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04 / 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309360"/>
            <a:ext cx="11064240" cy="1270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"/>
                            </p:stCondLst>
                            <p:childTnLst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"/>
                            </p:stCondLst>
                            <p:childTnLst>
                              <p:par>
                                <p:cTn id="30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"/>
                            </p:stCondLst>
                            <p:childTnLst>
                              <p:par>
                                <p:cTn id="34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00"/>
                            </p:stCondLst>
                            <p:childTnLst>
                              <p:par>
                                <p:cTn id="38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800"/>
                            </p:stCondLst>
                            <p:childTnLst>
                              <p:par>
                                <p:cTn id="42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200"/>
                            </p:stCondLst>
                            <p:childTnLst>
                              <p:par>
                                <p:cTn id="50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400"/>
                            </p:stCondLst>
                            <p:childTnLst>
                              <p:par>
                                <p:cTn id="54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00"/>
                            </p:stCondLst>
                            <p:childTnLst>
                              <p:par>
                                <p:cTn id="58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800"/>
                            </p:stCondLst>
                            <p:childTnLst>
                              <p:par>
                                <p:cTn id="62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6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200"/>
                            </p:stCondLst>
                            <p:childTnLst>
                              <p:par>
                                <p:cTn id="70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400"/>
                            </p:stCondLst>
                            <p:childTnLst>
                              <p:par>
                                <p:cTn id="74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600"/>
                            </p:stCondLst>
                            <p:childTnLst>
                              <p:par>
                                <p:cTn id="78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Click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211131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855F7"/>
                </a:solidFill>
                <a:latin typeface="Calibri"/>
              </a:defRPr>
            </a:pPr>
            <a:r>
              <a:t>MOTIVATIONS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DF5"/>
                </a:solidFill>
                <a:latin typeface="Calibri"/>
              </a:defRPr>
            </a:pPr>
            <a:r>
              <a:t>Why Ally Vision Exists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97280" cy="381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6858000" cy="77724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8EDF5"/>
                </a:solidFill>
                <a:latin typeface="Calibri"/>
              </a:defRPr>
            </a:pPr>
            <a:r>
              <a:t>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9164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White canes detect only ground-level obstacles — missing overhead hazards, moving objects, and spatial 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14600"/>
            <a:ext cx="6858000" cy="77724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8EDF5"/>
                </a:solidFill>
                <a:latin typeface="Calibri"/>
              </a:defRPr>
            </a:pPr>
            <a:r>
              <a:t>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5176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Audio-based systems block environmental sound cues critical for safe navigation (traffic, voices, alerts)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474720"/>
            <a:ext cx="6858000" cy="77724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611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8EDF5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61188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Existing haptic devices are expensive ($2,000–$5,000+), bulky, and require extensive training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34840"/>
            <a:ext cx="6858000" cy="77724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8EDF5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57200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No existing product provides real-time 3D spatial mapping translated into intuitive tactile relief on the skin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54480"/>
            <a:ext cx="3840480" cy="4114800"/>
          </a:xfrm>
          <a:prstGeom prst="roundRect">
            <a:avLst>
              <a:gd name="adj" fmla="val 4000"/>
            </a:avLst>
          </a:prstGeom>
          <a:solidFill>
            <a:srgbClr val="120D25"/>
          </a:solidFill>
          <a:ln w="12700">
            <a:solidFill>
              <a:srgbClr val="4A2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1737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Calibri"/>
              </a:defRPr>
            </a:pPr>
            <a:r>
              <a:t>🧠 Core Insight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19456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The forehead is clinically proven as the optimal zone for tactile perception — the brain rapidly learns to interpret spatial height-maps pressed against it, achieving obstacle recognition within minutes through neuroplasticity.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94A3B8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— Bach-y-Rita &amp; Kercel, "Sensory Substitution and the Plastic Brain", Trends in Cognitive Sciences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Ally Vision — ECU Graduation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355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05 / 12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309360"/>
            <a:ext cx="11064240" cy="1270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6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60"/>
                            </p:stCondLst>
                            <p:childTnLst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20"/>
                            </p:stCondLst>
                            <p:childTnLst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0"/>
                            </p:stCondLst>
                            <p:childTnLst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20"/>
                            </p:stCondLst>
                            <p:childTnLst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60"/>
                            </p:stCondLst>
                            <p:childTnLst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20"/>
                            </p:stCondLst>
                            <p:childTnLst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60"/>
                            </p:stCondLst>
                            <p:childTnLst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20"/>
                            </p:stCondLst>
                            <p:childTnLst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60"/>
                            </p:stCondLst>
                            <p:childTnLst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20"/>
                            </p:stCondLst>
                            <p:childTnLst>
                              <p:par>
                                <p:cTn id="7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60"/>
                            </p:stCondLst>
                            <p:childTnLst>
                              <p:par>
                                <p:cTn id="8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320"/>
                            </p:stCondLst>
                            <p:childTnLst>
                              <p:par>
                                <p:cTn id="9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Click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2F0D0D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F4444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DF5"/>
                </a:solidFill>
                <a:latin typeface="Calibri"/>
              </a:defRPr>
            </a:pPr>
            <a:r>
              <a:t>The Challenge We Set Out to Solve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97280" cy="381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064240" cy="109728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3A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DF5"/>
                </a:solidFill>
                <a:latin typeface="Calibri"/>
              </a:defRPr>
            </a:pPr>
            <a:r>
              <a:t>Millions of visually impaired individuals cannot safely navigate unfamiliar environments. Traditional aids detect only ground-level obstacles. Modern assistive technologies remain expensive, bulky, and audio-reliant — blocking the critical environmental sounds that blind users depend on for survival.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26080"/>
            <a:ext cx="3520440" cy="292608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10896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E8EDF5"/>
                </a:solidFill>
                <a:latin typeface="Calibri"/>
              </a:defRPr>
            </a:pPr>
            <a:r>
              <a:t>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5760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4748B"/>
                </a:solidFill>
                <a:latin typeface="Calibri"/>
              </a:defRPr>
            </a:pPr>
            <a:r>
              <a:t>White Cane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11480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Ground-level only. No overhead detection.</a:t>
            </a:r>
            <a:br/>
            <a:r>
              <a:t>No spatial context. ~1m range.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926080"/>
            <a:ext cx="3520440" cy="292608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310896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E8EDF5"/>
                </a:solidFill>
                <a:latin typeface="Calibri"/>
              </a:defRPr>
            </a:pPr>
            <a:r>
              <a:t>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65760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4748B"/>
                </a:solidFill>
                <a:latin typeface="Calibri"/>
              </a:defRPr>
            </a:pPr>
            <a:r>
              <a:t>Audio-Based Systems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411480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Blocks environmental sounds.</a:t>
            </a:r>
            <a:br/>
            <a:r>
              <a:t>Cognitive overload. Not intuitive</a:t>
            </a:r>
            <a:br/>
            <a:r>
              <a:t>for spatial mapping.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926080"/>
            <a:ext cx="3520440" cy="292608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53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310896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E8EDF5"/>
                </a:solidFill>
                <a:latin typeface="Calibri"/>
              </a:defRPr>
            </a:pPr>
            <a:r>
              <a:t>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65760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  <a:latin typeface="Calibri"/>
              </a:defRPr>
            </a:pPr>
            <a:r>
              <a:t>Ally Vision (Ours)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411480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Real-time 3D depth. Silent tactile</a:t>
            </a:r>
            <a:br/>
            <a:r>
              <a:t>feedback. Affordable. 6m range.</a:t>
            </a:r>
            <a:br/>
            <a:r>
              <a:t>No audio blocking.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Ally Vision — ECU Graduation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355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06 / 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309360"/>
            <a:ext cx="11064240" cy="1270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6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4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80"/>
                            </p:stCondLst>
                            <p:childTnLst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"/>
                            </p:stCondLst>
                            <p:childTnLst>
                              <p:par>
                                <p:cTn id="35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"/>
                            </p:stCondLst>
                            <p:childTnLst>
                              <p:par>
                                <p:cTn id="39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00"/>
                            </p:stCondLst>
                            <p:childTnLst>
                              <p:par>
                                <p:cTn id="43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800"/>
                            </p:stCondLst>
                            <p:childTnLst>
                              <p:par>
                                <p:cTn id="47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200"/>
                            </p:stCondLst>
                            <p:childTnLst>
                              <p:par>
                                <p:cTn id="55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400"/>
                            </p:stCondLst>
                            <p:childTnLst>
                              <p:par>
                                <p:cTn id="59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600"/>
                            </p:stCondLst>
                            <p:childTnLst>
                              <p:par>
                                <p:cTn id="63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800"/>
                            </p:stCondLst>
                            <p:childTnLst>
                              <p:par>
                                <p:cTn id="67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200"/>
                            </p:stCondLst>
                            <p:childTnLst>
                              <p:par>
                                <p:cTn id="75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400"/>
                            </p:stCondLst>
                            <p:childTnLst>
                              <p:par>
                                <p:cTn id="79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600"/>
                            </p:stCondLst>
                            <p:childTnLst>
                              <p:par>
                                <p:cTn id="83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Click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072213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7AE60"/>
                </a:solidFill>
                <a:latin typeface="Calibri"/>
              </a:defRPr>
            </a:pPr>
            <a:r>
              <a:t>KEY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DF5"/>
                </a:solidFill>
                <a:latin typeface="Calibri"/>
              </a:defRPr>
            </a:pPr>
            <a:r>
              <a:t>What We Bring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97280" cy="381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520440" cy="201168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DF5"/>
                </a:solidFill>
                <a:latin typeface="Calibri"/>
              </a:defRPr>
            </a:pPr>
            <a:r>
              <a:t>Bio-Inspired 7-Stage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Complete sensory substitution pipeline: Eye → Visual Cortex → Nervous System → Muscle &amp; Skin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54480"/>
            <a:ext cx="3520440" cy="201168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691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01168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DF5"/>
                </a:solidFill>
                <a:latin typeface="Calibri"/>
              </a:defRPr>
            </a:pPr>
            <a:r>
              <a:t>5×5 Dynamic Tactile Pin-Matrix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560320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25 micro linear stepper motors with TMC2209 silent drivers, sub-mm pin displacement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554480"/>
            <a:ext cx="3520440" cy="201168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691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01168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DF5"/>
                </a:solidFill>
                <a:latin typeface="Calibri"/>
              </a:defRPr>
            </a:pPr>
            <a:r>
              <a:t>Real-Time AI Spatial Fusion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560320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YOLOv8n + RGB-D depth + RANSAC floor + ByteTrack tracking at ≥20 FPS edge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40480"/>
            <a:ext cx="3520440" cy="201168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977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29768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DF5"/>
                </a:solidFill>
                <a:latin typeface="Calibri"/>
              </a:defRPr>
            </a:pPr>
            <a:r>
              <a:t>Safe Path Corridor Planning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846320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3-sector clearance with 80cm corridor envelope and steering angle θ computation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840480"/>
            <a:ext cx="3520440" cy="201168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3977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29768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DF5"/>
                </a:solidFill>
                <a:latin typeface="Calibri"/>
              </a:defRPr>
            </a:pPr>
            <a:r>
              <a:t>"Abstract to Enhance" Philosophy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846320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High-density 3D point clouds → low-cognitive-load 5×5 height matrix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840480"/>
            <a:ext cx="3520440" cy="201168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977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29768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DF5"/>
                </a:solidFill>
                <a:latin typeface="Calibri"/>
              </a:defRPr>
            </a:pPr>
            <a:r>
              <a:t>Systematic Literature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846320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PRISMA SLR: 3,104 papers → 137 included from Scopus &amp; Web of Science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Ally Vision — ECU Graduation Project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355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07 / 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309360"/>
            <a:ext cx="11064240" cy="1270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6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80"/>
                            </p:stCondLst>
                            <p:childTnLst>
                              <p:par>
                                <p:cTn id="22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60"/>
                            </p:stCondLst>
                            <p:childTnLst>
                              <p:par>
                                <p:cTn id="26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40"/>
                            </p:stCondLst>
                            <p:childTnLst>
                              <p:par>
                                <p:cTn id="30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720"/>
                            </p:stCondLst>
                            <p:childTnLst>
                              <p:par>
                                <p:cTn id="34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900"/>
                            </p:stCondLst>
                            <p:childTnLst>
                              <p:par>
                                <p:cTn id="38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80"/>
                            </p:stCondLst>
                            <p:childTnLst>
                              <p:par>
                                <p:cTn id="42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260"/>
                            </p:stCondLst>
                            <p:childTnLst>
                              <p:par>
                                <p:cTn id="46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440"/>
                            </p:stCondLst>
                            <p:childTnLst>
                              <p:par>
                                <p:cTn id="50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620"/>
                            </p:stCondLst>
                            <p:childTnLst>
                              <p:par>
                                <p:cTn id="54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800"/>
                            </p:stCondLst>
                            <p:childTnLst>
                              <p:par>
                                <p:cTn id="58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980"/>
                            </p:stCondLst>
                            <p:childTnLst>
                              <p:par>
                                <p:cTn id="62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160"/>
                            </p:stCondLst>
                            <p:childTnLst>
                              <p:par>
                                <p:cTn id="66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80"/>
                            </p:stCondLst>
                            <p:childTnLst>
                              <p:par>
                                <p:cTn id="75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60"/>
                            </p:stCondLst>
                            <p:childTnLst>
                              <p:par>
                                <p:cTn id="79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40"/>
                            </p:stCondLst>
                            <p:childTnLst>
                              <p:par>
                                <p:cTn id="83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720"/>
                            </p:stCondLst>
                            <p:childTnLst>
                              <p:par>
                                <p:cTn id="87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900"/>
                            </p:stCondLst>
                            <p:childTnLst>
                              <p:par>
                                <p:cTn id="91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80"/>
                            </p:stCondLst>
                            <p:childTnLst>
                              <p:par>
                                <p:cTn id="95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260"/>
                            </p:stCondLst>
                            <p:childTnLst>
                              <p:par>
                                <p:cTn id="99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440"/>
                            </p:stCondLst>
                            <p:childTnLst>
                              <p:par>
                                <p:cTn id="103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620"/>
                            </p:stCondLst>
                            <p:childTnLst>
                              <p:par>
                                <p:cTn id="107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800"/>
                            </p:stCondLst>
                            <p:childTnLst>
                              <p:par>
                                <p:cTn id="111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980"/>
                            </p:stCondLst>
                            <p:childTnLst>
                              <p:par>
                                <p:cTn id="115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2160"/>
                            </p:stCondLst>
                            <p:childTnLst>
                              <p:par>
                                <p:cTn id="119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Click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0B253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DF5"/>
                </a:solidFill>
                <a:latin typeface="Calibri"/>
              </a:defRPr>
            </a:pPr>
            <a:r>
              <a:t>Our Goals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97280" cy="381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40680" cy="128016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48640" cy="548640"/>
          </a:xfrm>
          <a:prstGeom prst="roundRect">
            <a:avLst/>
          </a:prstGeom>
          <a:solidFill>
            <a:srgbClr val="0A1E2E"/>
          </a:solidFill>
          <a:ln w="12700">
            <a:solidFill>
              <a:srgbClr val="153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7373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DF5"/>
                </a:solidFill>
                <a:latin typeface="Calibri"/>
              </a:defRPr>
            </a:pPr>
            <a:r>
              <a:t>Real-Time 3D Perception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10312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Live RGB-D depth fusion with (X, Y, Z) metric coordinates at ≥20 FPS using YOLOv8n ONNX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440680" cy="128016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548640" cy="548640"/>
          </a:xfrm>
          <a:prstGeom prst="roundRect">
            <a:avLst/>
          </a:prstGeom>
          <a:solidFill>
            <a:srgbClr val="0A1E2E"/>
          </a:solidFill>
          <a:ln w="12700">
            <a:solidFill>
              <a:srgbClr val="153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🛡️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7373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DF5"/>
                </a:solidFill>
                <a:latin typeface="Calibri"/>
              </a:defRPr>
            </a:pPr>
            <a:r>
              <a:t>Safe Path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10312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80cm walkable corridors using RANSAC ground plane and 3-sector clearance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63239"/>
            <a:ext cx="5440680" cy="128016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3337559"/>
            <a:ext cx="548640" cy="548640"/>
          </a:xfrm>
          <a:prstGeom prst="roundRect">
            <a:avLst/>
          </a:prstGeom>
          <a:solidFill>
            <a:srgbClr val="0A1E2E"/>
          </a:solidFill>
          <a:ln w="12700">
            <a:solidFill>
              <a:srgbClr val="153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24611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DF5"/>
                </a:solidFill>
                <a:latin typeface="Calibri"/>
              </a:defRPr>
            </a:pPr>
            <a:r>
              <a:t>Hazard Priority Scoring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611879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Multi-factor: proximity (0.40), velocity (0.25), class severity (0.15), collision (0.20)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063239"/>
            <a:ext cx="5440680" cy="128016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3337559"/>
            <a:ext cx="548640" cy="548640"/>
          </a:xfrm>
          <a:prstGeom prst="roundRect">
            <a:avLst/>
          </a:prstGeom>
          <a:solidFill>
            <a:srgbClr val="0A1E2E"/>
          </a:solidFill>
          <a:ln w="12700">
            <a:solidFill>
              <a:srgbClr val="153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24611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DF5"/>
                </a:solidFill>
                <a:latin typeface="Calibri"/>
              </a:defRPr>
            </a:pPr>
            <a:r>
              <a:t>Tactile Pin-Matrix Encoding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611879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3D depth → 0–5 pin height levels on 5×5 matrix (±1.5m lateral, 0.5–5.0m forward)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572000"/>
            <a:ext cx="5440680" cy="128016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4846320"/>
            <a:ext cx="548640" cy="548640"/>
          </a:xfrm>
          <a:prstGeom prst="roundRect">
            <a:avLst/>
          </a:prstGeom>
          <a:solidFill>
            <a:srgbClr val="0A1E2E"/>
          </a:solidFill>
          <a:ln w="12700">
            <a:solidFill>
              <a:srgbClr val="153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7548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DF5"/>
                </a:solidFill>
                <a:latin typeface="Calibri"/>
              </a:defRPr>
            </a:pPr>
            <a:r>
              <a:t>Sub-100ms Latency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12064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Camera capture → AI → serial → motor actuation total pipeline under 100ms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572000"/>
            <a:ext cx="5440680" cy="128016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0" y="4846320"/>
            <a:ext cx="548640" cy="548640"/>
          </a:xfrm>
          <a:prstGeom prst="roundRect">
            <a:avLst/>
          </a:prstGeom>
          <a:solidFill>
            <a:srgbClr val="0A1E2E"/>
          </a:solidFill>
          <a:ln w="12700">
            <a:solidFill>
              <a:srgbClr val="153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7548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DF5"/>
                </a:solidFill>
                <a:latin typeface="Calibri"/>
              </a:defRPr>
            </a:pPr>
            <a:r>
              <a:t>Human Subject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512064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5 blindfolded trials: White Cane Only vs. White Cane + Ally Vision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Ally Vision — ECU Graduation Project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355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08 / 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309360"/>
            <a:ext cx="11064240" cy="1270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6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60"/>
                            </p:stCondLst>
                            <p:childTnLst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20"/>
                            </p:stCondLst>
                            <p:childTnLst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80"/>
                            </p:stCondLst>
                            <p:childTnLst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40"/>
                            </p:stCondLst>
                            <p:childTnLst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800"/>
                            </p:stCondLst>
                            <p:childTnLst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960"/>
                            </p:stCondLst>
                            <p:childTnLst>
                              <p:par>
                                <p:cTn id="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120"/>
                            </p:stCondLst>
                            <p:childTnLst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280"/>
                            </p:stCondLst>
                            <p:childTnLst>
                              <p:par>
                                <p:cTn id="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60"/>
                            </p:stCondLst>
                            <p:childTnLst>
                              <p:par>
                                <p:cTn id="5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20"/>
                            </p:stCondLst>
                            <p:childTnLst>
                              <p:par>
                                <p:cTn id="6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80"/>
                            </p:stCondLst>
                            <p:childTnLst>
                              <p:par>
                                <p:cTn id="6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40"/>
                            </p:stCondLst>
                            <p:childTnLst>
                              <p:par>
                                <p:cTn id="7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800"/>
                            </p:stCondLst>
                            <p:childTnLst>
                              <p:par>
                                <p:cTn id="7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960"/>
                            </p:stCondLst>
                            <p:childTnLst>
                              <p:par>
                                <p:cTn id="7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120"/>
                            </p:stCondLst>
                            <p:childTnLst>
                              <p:par>
                                <p:cTn id="8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280"/>
                            </p:stCondLst>
                            <p:childTnLst>
                              <p:par>
                                <p:cTn id="8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60"/>
                            </p:stCondLst>
                            <p:childTnLst>
                              <p:par>
                                <p:cTn id="9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320"/>
                            </p:stCondLst>
                            <p:childTnLst>
                              <p:par>
                                <p:cTn id="10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480"/>
                            </p:stCondLst>
                            <p:childTnLst>
                              <p:par>
                                <p:cTn id="10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640"/>
                            </p:stCondLst>
                            <p:childTnLst>
                              <p:par>
                                <p:cTn id="10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800"/>
                            </p:stCondLst>
                            <p:childTnLst>
                              <p:par>
                                <p:cTn id="1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960"/>
                            </p:stCondLst>
                            <p:childTnLst>
                              <p:par>
                                <p:cTn id="1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120"/>
                            </p:stCondLst>
                            <p:childTnLst>
                              <p:par>
                                <p:cTn id="1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280"/>
                            </p:stCondLst>
                            <p:childTnLst>
                              <p:par>
                                <p:cTn id="1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Click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072213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7AE60"/>
                </a:solidFill>
                <a:latin typeface="Calibri"/>
              </a:defRPr>
            </a:pPr>
            <a:r>
              <a:t>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DF5"/>
                </a:solidFill>
                <a:latin typeface="Calibri"/>
              </a:defRPr>
            </a:pPr>
            <a:r>
              <a:t>End-to-End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97280" cy="381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554480"/>
            <a:ext cx="1417320" cy="105156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60020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8EDF5"/>
                </a:solidFill>
                <a:latin typeface="Calibri"/>
              </a:defRPr>
            </a:pPr>
            <a:r>
              <a:t>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96596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RGB-D</a:t>
            </a:r>
            <a:br/>
            <a:r>
              <a:t>Camera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8288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7AE6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1554480"/>
            <a:ext cx="1417320" cy="105156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8840" y="160020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8EDF5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96596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Preprocess</a:t>
            </a:r>
            <a:br/>
            <a:r>
              <a:t>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288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7AE6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0" y="1554480"/>
            <a:ext cx="1417320" cy="105156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77640" y="160020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8EDF5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40" y="196596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YOLOv8n</a:t>
            </a:r>
            <a:br/>
            <a:r>
              <a:t>ONNX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18288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7AE6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1554480"/>
            <a:ext cx="1417320" cy="105156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160020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8EDF5"/>
                </a:solidFill>
                <a:latin typeface="Calibri"/>
              </a:defRPr>
            </a:pPr>
            <a:r>
              <a:t>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196596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3D Pinhole</a:t>
            </a:r>
            <a:br/>
            <a:r>
              <a:t>Projection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18288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7AE6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1554480"/>
            <a:ext cx="1417320" cy="105156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160020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8EDF5"/>
                </a:solidFill>
                <a:latin typeface="Calibri"/>
              </a:defRPr>
            </a:pPr>
            <a:r>
              <a:t>🛤️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196596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RANSAC</a:t>
            </a:r>
            <a:br/>
            <a:r>
              <a:t>Corridor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18288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7AE6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8320" y="1554480"/>
            <a:ext cx="1417320" cy="105156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4040" y="160020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8EDF5"/>
                </a:solidFill>
                <a:latin typeface="Calibri"/>
              </a:defRPr>
            </a:pPr>
            <a:r>
              <a:t>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196596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5×5 Tactile</a:t>
            </a:r>
            <a:br/>
            <a:r>
              <a:t>Matrix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18288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7AE6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247120" y="1554480"/>
            <a:ext cx="1417320" cy="105156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292840" y="160020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8EDF5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196596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Arduino R4</a:t>
            </a:r>
            <a:br/>
            <a:r>
              <a:t>Motors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DF5"/>
                </a:solidFill>
                <a:latin typeface="Calibri"/>
              </a:defRPr>
            </a:pPr>
            <a:r>
              <a:t>5×5 Tactile Height Matrix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246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Obstacle proximity → pin displacement (0 = flush, 5 = peak hazard)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3611880"/>
            <a:ext cx="566928" cy="566928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1E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64748B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53312" y="3611880"/>
            <a:ext cx="566928" cy="566928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1E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64748B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975104" y="3611880"/>
            <a:ext cx="566928" cy="566928"/>
          </a:xfrm>
          <a:prstGeom prst="roundRect">
            <a:avLst/>
          </a:prstGeom>
          <a:solidFill>
            <a:srgbClr val="13AF2D"/>
          </a:solidFill>
          <a:ln w="12700">
            <a:solidFill>
              <a:srgbClr val="1E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596896" y="3611880"/>
            <a:ext cx="566928" cy="566928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1E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64748B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18688" y="3611880"/>
            <a:ext cx="566928" cy="566928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1E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64748B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4233672"/>
            <a:ext cx="566928" cy="566928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1E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64748B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353312" y="4233672"/>
            <a:ext cx="566928" cy="566928"/>
          </a:xfrm>
          <a:prstGeom prst="roundRect">
            <a:avLst/>
          </a:prstGeom>
          <a:solidFill>
            <a:srgbClr val="109628"/>
          </a:solidFill>
          <a:ln w="12700">
            <a:solidFill>
              <a:srgbClr val="1E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975104" y="4233672"/>
            <a:ext cx="566928" cy="566928"/>
          </a:xfrm>
          <a:prstGeom prst="roundRect">
            <a:avLst/>
          </a:prstGeom>
          <a:solidFill>
            <a:srgbClr val="19E137"/>
          </a:solidFill>
          <a:ln w="12700">
            <a:solidFill>
              <a:srgbClr val="1E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596896" y="4233672"/>
            <a:ext cx="566928" cy="566928"/>
          </a:xfrm>
          <a:prstGeom prst="roundRect">
            <a:avLst/>
          </a:prstGeom>
          <a:solidFill>
            <a:srgbClr val="109628"/>
          </a:solidFill>
          <a:ln w="12700">
            <a:solidFill>
              <a:srgbClr val="1E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18688" y="4233672"/>
            <a:ext cx="566928" cy="566928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1E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64748B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4855464"/>
            <a:ext cx="566928" cy="566928"/>
          </a:xfrm>
          <a:prstGeom prst="roundRect">
            <a:avLst/>
          </a:prstGeom>
          <a:solidFill>
            <a:srgbClr val="0D7D23"/>
          </a:solidFill>
          <a:ln w="12700">
            <a:solidFill>
              <a:srgbClr val="1E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353312" y="4855464"/>
            <a:ext cx="566928" cy="566928"/>
          </a:xfrm>
          <a:prstGeom prst="roundRect">
            <a:avLst/>
          </a:prstGeom>
          <a:solidFill>
            <a:srgbClr val="16C832"/>
          </a:solidFill>
          <a:ln w="12700">
            <a:solidFill>
              <a:srgbClr val="1E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975104" y="4855464"/>
            <a:ext cx="566928" cy="566928"/>
          </a:xfrm>
          <a:prstGeom prst="roundRect">
            <a:avLst/>
          </a:prstGeom>
          <a:solidFill>
            <a:srgbClr val="19E137"/>
          </a:solidFill>
          <a:ln w="12700">
            <a:solidFill>
              <a:srgbClr val="1E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596896" y="4855464"/>
            <a:ext cx="566928" cy="566928"/>
          </a:xfrm>
          <a:prstGeom prst="roundRect">
            <a:avLst/>
          </a:prstGeom>
          <a:solidFill>
            <a:srgbClr val="16C832"/>
          </a:solidFill>
          <a:ln w="12700">
            <a:solidFill>
              <a:srgbClr val="1E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18688" y="4855464"/>
            <a:ext cx="566928" cy="566928"/>
          </a:xfrm>
          <a:prstGeom prst="roundRect">
            <a:avLst/>
          </a:prstGeom>
          <a:solidFill>
            <a:srgbClr val="0D7D23"/>
          </a:solidFill>
          <a:ln w="12700">
            <a:solidFill>
              <a:srgbClr val="1E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5477256"/>
            <a:ext cx="566928" cy="566928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1E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64748B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353312" y="5477256"/>
            <a:ext cx="566928" cy="566928"/>
          </a:xfrm>
          <a:prstGeom prst="roundRect">
            <a:avLst/>
          </a:prstGeom>
          <a:solidFill>
            <a:srgbClr val="109628"/>
          </a:solidFill>
          <a:ln w="12700">
            <a:solidFill>
              <a:srgbClr val="1E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975104" y="5477256"/>
            <a:ext cx="566928" cy="566928"/>
          </a:xfrm>
          <a:prstGeom prst="roundRect">
            <a:avLst/>
          </a:prstGeom>
          <a:solidFill>
            <a:srgbClr val="19E137"/>
          </a:solidFill>
          <a:ln w="12700">
            <a:solidFill>
              <a:srgbClr val="1E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596896" y="5477256"/>
            <a:ext cx="566928" cy="566928"/>
          </a:xfrm>
          <a:prstGeom prst="roundRect">
            <a:avLst/>
          </a:prstGeom>
          <a:solidFill>
            <a:srgbClr val="109628"/>
          </a:solidFill>
          <a:ln w="12700">
            <a:solidFill>
              <a:srgbClr val="1E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218688" y="5477256"/>
            <a:ext cx="566928" cy="566928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1E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64748B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1520" y="6099048"/>
            <a:ext cx="566928" cy="566928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1E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64748B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353312" y="6099048"/>
            <a:ext cx="566928" cy="566928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1E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64748B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975104" y="6099048"/>
            <a:ext cx="566928" cy="566928"/>
          </a:xfrm>
          <a:prstGeom prst="roundRect">
            <a:avLst/>
          </a:prstGeom>
          <a:solidFill>
            <a:srgbClr val="13AF2D"/>
          </a:solidFill>
          <a:ln w="12700">
            <a:solidFill>
              <a:srgbClr val="1E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596896" y="6099048"/>
            <a:ext cx="566928" cy="566928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1E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64748B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218688" y="6099048"/>
            <a:ext cx="566928" cy="566928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1E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64748B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672084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Row 1=Far (5m) → Row 5=Near (0.5m)  |  Col 1=Left → Col 5=Right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754880" y="2926080"/>
            <a:ext cx="6858000" cy="338328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37760" y="3063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DF5"/>
                </a:solidFill>
                <a:latin typeface="Calibri"/>
              </a:defRPr>
            </a:pPr>
            <a:r>
              <a:t>Pin Height Transfer Function</a:t>
            </a:r>
          </a:p>
        </p:txBody>
      </p:sp>
      <p:sp>
        <p:nvSpPr>
          <p:cNvPr id="62" name="Oval 61"/>
          <p:cNvSpPr/>
          <p:nvPr/>
        </p:nvSpPr>
        <p:spPr>
          <a:xfrm>
            <a:off x="5029200" y="3639312"/>
            <a:ext cx="109728" cy="109728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257800" y="3566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EDF5"/>
                </a:solidFill>
                <a:latin typeface="Calibri"/>
              </a:defRPr>
            </a:pPr>
            <a:r>
              <a:t>Level 0: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3566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Flush — Clear walkable space</a:t>
            </a:r>
          </a:p>
        </p:txBody>
      </p:sp>
      <p:sp>
        <p:nvSpPr>
          <p:cNvPr id="65" name="Oval 64"/>
          <p:cNvSpPr/>
          <p:nvPr/>
        </p:nvSpPr>
        <p:spPr>
          <a:xfrm>
            <a:off x="5029200" y="4142232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257800" y="4069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EDF5"/>
                </a:solidFill>
                <a:latin typeface="Calibri"/>
              </a:defRPr>
            </a:pPr>
            <a:r>
              <a:t>Level 1–2: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0" y="4069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Distant obstacle (3.0 – 5.0m)</a:t>
            </a:r>
          </a:p>
        </p:txBody>
      </p:sp>
      <p:sp>
        <p:nvSpPr>
          <p:cNvPr id="68" name="Oval 67"/>
          <p:cNvSpPr/>
          <p:nvPr/>
        </p:nvSpPr>
        <p:spPr>
          <a:xfrm>
            <a:off x="5029200" y="4645152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257800" y="4572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EDF5"/>
                </a:solidFill>
                <a:latin typeface="Calibri"/>
              </a:defRPr>
            </a:pPr>
            <a:r>
              <a:t>Level 3–4: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0" y="4572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Intermediate hazard (1.5 – 3.0m)</a:t>
            </a:r>
          </a:p>
        </p:txBody>
      </p:sp>
      <p:sp>
        <p:nvSpPr>
          <p:cNvPr id="71" name="Oval 70"/>
          <p:cNvSpPr/>
          <p:nvPr/>
        </p:nvSpPr>
        <p:spPr>
          <a:xfrm>
            <a:off x="5029200" y="5148072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257800" y="5074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EDF5"/>
                </a:solidFill>
                <a:latin typeface="Calibri"/>
              </a:defRPr>
            </a:pPr>
            <a:r>
              <a:t>Level 5: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0" y="5074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Critical danger (&lt; 1.2m)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937760" y="5669280"/>
            <a:ext cx="6492240" cy="502920"/>
          </a:xfrm>
          <a:prstGeom prst="roundRect">
            <a:avLst>
              <a:gd name="adj" fmla="val 4000"/>
            </a:avLst>
          </a:prstGeom>
          <a:solidFill>
            <a:srgbClr val="0A1E15"/>
          </a:solidFill>
          <a:ln w="12700">
            <a:solidFill>
              <a:srgbClr val="153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120640" y="5742432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7AE60"/>
                </a:solidFill>
                <a:latin typeface="Calibri"/>
              </a:defRPr>
            </a:pPr>
            <a:r>
              <a:t>🎯 Center column (Col 3) = User's forward walking path — kept flush unless direct obstruction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Ally Vision — ECU Graduation Project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058400" y="6355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09 / 12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48640" y="6309360"/>
            <a:ext cx="11064240" cy="1270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6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40"/>
                            </p:stCondLst>
                            <p:childTnLst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80"/>
                            </p:stCondLst>
                            <p:childTnLst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20"/>
                            </p:stCondLst>
                            <p:childTnLst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60"/>
                            </p:stCondLst>
                            <p:childTnLst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00"/>
                            </p:stCondLst>
                            <p:childTnLst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840"/>
                            </p:stCondLst>
                            <p:childTnLst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980"/>
                            </p:stCondLst>
                            <p:childTnLst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120"/>
                            </p:stCondLst>
                            <p:childTnLst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260"/>
                            </p:stCondLst>
                            <p:childTnLst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400"/>
                            </p:stCondLst>
                            <p:childTnLst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40"/>
                            </p:stCondLst>
                            <p:childTnLst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680"/>
                            </p:stCondLst>
                            <p:childTnLst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820"/>
                            </p:stCondLst>
                            <p:childTnLst>
                              <p:par>
                                <p:cTn id="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960"/>
                            </p:stCondLst>
                            <p:childTnLst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100"/>
                            </p:stCondLst>
                            <p:childTnLst>
                              <p:par>
                                <p:cTn id="7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240"/>
                            </p:stCondLst>
                            <p:childTnLst>
                              <p:par>
                                <p:cTn id="8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380"/>
                            </p:stCondLst>
                            <p:childTnLst>
                              <p:par>
                                <p:cTn id="8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520"/>
                            </p:stCondLst>
                            <p:childTnLst>
                              <p:par>
                                <p:cTn id="9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660"/>
                            </p:stCondLst>
                            <p:childTnLst>
                              <p:par>
                                <p:cTn id="9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800"/>
                            </p:stCondLst>
                            <p:childTnLst>
                              <p:par>
                                <p:cTn id="9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940"/>
                            </p:stCondLst>
                            <p:childTnLst>
                              <p:par>
                                <p:cTn id="10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3080"/>
                            </p:stCondLst>
                            <p:childTnLst>
                              <p:par>
                                <p:cTn id="10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220"/>
                            </p:stCondLst>
                            <p:childTnLst>
                              <p:par>
                                <p:cTn id="1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40"/>
                            </p:stCondLst>
                            <p:childTnLst>
                              <p:par>
                                <p:cTn id="119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80"/>
                            </p:stCondLst>
                            <p:childTnLst>
                              <p:par>
                                <p:cTn id="123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420"/>
                            </p:stCondLst>
                            <p:childTnLst>
                              <p:par>
                                <p:cTn id="127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60"/>
                            </p:stCondLst>
                            <p:childTnLst>
                              <p:par>
                                <p:cTn id="131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700"/>
                            </p:stCondLst>
                            <p:childTnLst>
                              <p:par>
                                <p:cTn id="135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840"/>
                            </p:stCondLst>
                            <p:childTnLst>
                              <p:par>
                                <p:cTn id="139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980"/>
                            </p:stCondLst>
                            <p:childTnLst>
                              <p:par>
                                <p:cTn id="143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1120"/>
                            </p:stCondLst>
                            <p:childTnLst>
                              <p:par>
                                <p:cTn id="147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260"/>
                            </p:stCondLst>
                            <p:childTnLst>
                              <p:par>
                                <p:cTn id="151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400"/>
                            </p:stCondLst>
                            <p:childTnLst>
                              <p:par>
                                <p:cTn id="155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540"/>
                            </p:stCondLst>
                            <p:childTnLst>
                              <p:par>
                                <p:cTn id="159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680"/>
                            </p:stCondLst>
                            <p:childTnLst>
                              <p:par>
                                <p:cTn id="163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820"/>
                            </p:stCondLst>
                            <p:childTnLst>
                              <p:par>
                                <p:cTn id="167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1960"/>
                            </p:stCondLst>
                            <p:childTnLst>
                              <p:par>
                                <p:cTn id="171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2100"/>
                            </p:stCondLst>
                            <p:childTnLst>
                              <p:par>
                                <p:cTn id="175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2240"/>
                            </p:stCondLst>
                            <p:childTnLst>
                              <p:par>
                                <p:cTn id="179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2380"/>
                            </p:stCondLst>
                            <p:childTnLst>
                              <p:par>
                                <p:cTn id="183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2520"/>
                            </p:stCondLst>
                            <p:childTnLst>
                              <p:par>
                                <p:cTn id="187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2660"/>
                            </p:stCondLst>
                            <p:childTnLst>
                              <p:par>
                                <p:cTn id="191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2800"/>
                            </p:stCondLst>
                            <p:childTnLst>
                              <p:par>
                                <p:cTn id="195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2940"/>
                            </p:stCondLst>
                            <p:childTnLst>
                              <p:par>
                                <p:cTn id="199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3080"/>
                            </p:stCondLst>
                            <p:childTnLst>
                              <p:par>
                                <p:cTn id="203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3220"/>
                            </p:stCondLst>
                            <p:childTnLst>
                              <p:par>
                                <p:cTn id="207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140"/>
                            </p:stCondLst>
                            <p:childTnLst>
                              <p:par>
                                <p:cTn id="2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280"/>
                            </p:stCondLst>
                            <p:childTnLst>
                              <p:par>
                                <p:cTn id="2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420"/>
                            </p:stCondLst>
                            <p:childTnLst>
                              <p:par>
                                <p:cTn id="2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560"/>
                            </p:stCondLst>
                            <p:childTnLst>
                              <p:par>
                                <p:cTn id="2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700"/>
                            </p:stCondLst>
                            <p:childTnLst>
                              <p:par>
                                <p:cTn id="2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840"/>
                            </p:stCondLst>
                            <p:childTnLst>
                              <p:par>
                                <p:cTn id="2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980"/>
                            </p:stCondLst>
                            <p:childTnLst>
                              <p:par>
                                <p:cTn id="2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1120"/>
                            </p:stCondLst>
                            <p:childTnLst>
                              <p:par>
                                <p:cTn id="2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1260"/>
                            </p:stCondLst>
                            <p:childTnLst>
                              <p:par>
                                <p:cTn id="2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>
                            <p:stCondLst>
                              <p:cond delay="1400"/>
                            </p:stCondLst>
                            <p:childTnLst>
                              <p:par>
                                <p:cTn id="2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1540"/>
                            </p:stCondLst>
                            <p:childTnLst>
                              <p:par>
                                <p:cTn id="2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1680"/>
                            </p:stCondLst>
                            <p:childTnLst>
                              <p:par>
                                <p:cTn id="2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>
                            <p:stCondLst>
                              <p:cond delay="1820"/>
                            </p:stCondLst>
                            <p:childTnLst>
                              <p:par>
                                <p:cTn id="2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" fill="hold">
                            <p:stCondLst>
                              <p:cond delay="1960"/>
                            </p:stCondLst>
                            <p:childTnLst>
                              <p:par>
                                <p:cTn id="2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2100"/>
                            </p:stCondLst>
                            <p:childTnLst>
                              <p:par>
                                <p:cTn id="2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2240"/>
                            </p:stCondLst>
                            <p:childTnLst>
                              <p:par>
                                <p:cTn id="2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2380"/>
                            </p:stCondLst>
                            <p:childTnLst>
                              <p:par>
                                <p:cTn id="2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2520"/>
                            </p:stCondLst>
                            <p:childTnLst>
                              <p:par>
                                <p:cTn id="2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7" fill="hold">
                            <p:stCondLst>
                              <p:cond delay="2660"/>
                            </p:stCondLst>
                            <p:childTnLst>
                              <p:par>
                                <p:cTn id="2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1" fill="hold">
                            <p:stCondLst>
                              <p:cond delay="2800"/>
                            </p:stCondLst>
                            <p:childTnLst>
                              <p:par>
                                <p:cTn id="2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2940"/>
                            </p:stCondLst>
                            <p:childTnLst>
                              <p:par>
                                <p:cTn id="2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3080"/>
                            </p:stCondLst>
                            <p:childTnLst>
                              <p:par>
                                <p:cTn id="3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3" fill="hold">
                            <p:stCondLst>
                              <p:cond delay="3220"/>
                            </p:stCondLst>
                            <p:childTnLst>
                              <p:par>
                                <p:cTn id="3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1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2" fill="hold">
                            <p:stCondLst>
                              <p:cond delay="140"/>
                            </p:stCondLst>
                            <p:childTnLst>
                              <p:par>
                                <p:cTn id="3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Click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0B253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Calibri"/>
              </a:defRPr>
            </a:pPr>
            <a:r>
              <a:t>PARAMETRIC STUDY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DF5"/>
                </a:solidFill>
                <a:latin typeface="Calibri"/>
              </a:defRPr>
            </a:pPr>
            <a:r>
              <a:t>Performance Benchmarks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97280" cy="381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566928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92240" y="1554480"/>
          <a:ext cx="5120640" cy="2926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1417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YOLOv8n Detection (mAP@50 per class)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41732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End-to-End Latency Breakdown (ms)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754880"/>
            <a:ext cx="2103120" cy="137160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7AE60"/>
                </a:solidFill>
                <a:latin typeface="Calibri"/>
              </a:defRPr>
            </a:pPr>
            <a:r>
              <a:t>87.3%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32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mAP@50</a:t>
            </a:r>
            <a:br/>
            <a:r>
              <a:t>(8 Classes)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4754880"/>
            <a:ext cx="2103120" cy="137160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48920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8BDF8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5532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FPS</a:t>
            </a:r>
            <a:br/>
            <a:r>
              <a:t>Real-Time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79" y="4754880"/>
            <a:ext cx="2103120" cy="137160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19" y="48920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59E0B"/>
                </a:solidFill>
                <a:latin typeface="Calibri"/>
              </a:defRPr>
            </a:pPr>
            <a:r>
              <a:t>78ms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19" y="5532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Total Pipeline</a:t>
            </a:r>
            <a:br/>
            <a:r>
              <a:t>Latency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4754880"/>
            <a:ext cx="2103120" cy="137160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48920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A855F7"/>
                </a:solidFill>
                <a:latin typeface="Calibri"/>
              </a:defRPr>
            </a:pPr>
            <a:r>
              <a:t>±5cm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5532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Depth Accuracy</a:t>
            </a:r>
            <a:br/>
            <a:r>
              <a:t>(1–3m)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5519" y="4754880"/>
            <a:ext cx="2103120" cy="137160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59" y="48920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F4444"/>
                </a:solidFill>
                <a:latin typeface="Calibri"/>
              </a:defRPr>
            </a:pPr>
            <a:r>
              <a:t>9/10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59" y="5532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Corridor Tests</a:t>
            </a:r>
            <a:br/>
            <a:r>
              <a:t>Passed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Ally Vision — ECU Graduation Project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355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10 / 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309360"/>
            <a:ext cx="11064240" cy="1270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6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4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80"/>
                            </p:stCondLst>
                            <p:childTnLst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60"/>
                            </p:stCondLst>
                            <p:childTnLst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40"/>
                            </p:stCondLst>
                            <p:childTnLst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20"/>
                            </p:stCondLst>
                            <p:childTnLst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900"/>
                            </p:stCondLst>
                            <p:childTnLst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80"/>
                            </p:stCondLst>
                            <p:childTnLst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260"/>
                            </p:stCondLst>
                            <p:childTnLst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440"/>
                            </p:stCondLst>
                            <p:childTnLst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20"/>
                            </p:stCondLst>
                            <p:childTnLst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80"/>
                            </p:stCondLst>
                            <p:childTnLst>
                              <p:par>
                                <p:cTn id="67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60"/>
                            </p:stCondLst>
                            <p:childTnLst>
                              <p:par>
                                <p:cTn id="71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40"/>
                            </p:stCondLst>
                            <p:childTnLst>
                              <p:par>
                                <p:cTn id="75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720"/>
                            </p:stCondLst>
                            <p:childTnLst>
                              <p:par>
                                <p:cTn id="79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900"/>
                            </p:stCondLst>
                            <p:childTnLst>
                              <p:par>
                                <p:cTn id="83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80"/>
                            </p:stCondLst>
                            <p:childTnLst>
                              <p:par>
                                <p:cTn id="87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260"/>
                            </p:stCondLst>
                            <p:childTnLst>
                              <p:par>
                                <p:cTn id="91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440"/>
                            </p:stCondLst>
                            <p:childTnLst>
                              <p:par>
                                <p:cTn id="95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620"/>
                            </p:stCondLst>
                            <p:childTnLst>
                              <p:par>
                                <p:cTn id="99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800"/>
                            </p:stCondLst>
                            <p:childTnLst>
                              <p:par>
                                <p:cTn id="103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Click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072213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7AE60"/>
                </a:solidFill>
                <a:latin typeface="Calibri"/>
              </a:defRPr>
            </a:pPr>
            <a:r>
              <a:t>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DF5"/>
                </a:solidFill>
                <a:latin typeface="Calibri"/>
              </a:defRPr>
            </a:pPr>
            <a:r>
              <a:t>Key Findings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97280" cy="381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  <a:latin typeface="Calibri"/>
              </a:defRPr>
            </a:pPr>
            <a:r>
              <a:t>✓  Conclusions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084832"/>
            <a:ext cx="109728" cy="109728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End-to-end sensory substitution pipeline: Camera → AI → Tactile → Forehead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743200"/>
            <a:ext cx="109728" cy="109728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7004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87.3% mAP@50 across 8 navigation-critical obstacle classes (YOLOv8n ONNX)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401568"/>
            <a:ext cx="109728" cy="109728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328416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Pipeline latency &lt; 100ms — meeting real-time assistive device requirements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059936"/>
            <a:ext cx="109728" cy="109728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986784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Safe corridor planning with 3-sector analysis: 90% accuracy on indoor tests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718304"/>
            <a:ext cx="109728" cy="109728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4515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5×5 tactile matrix successfully conveys 3D spatial depth via pin displacement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5376672"/>
            <a:ext cx="109728" cy="109728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3035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PRISMA SLR of 137 papers validated approach against state-of-the-art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🚀  Future Work</a:t>
            </a:r>
          </a:p>
        </p:txBody>
      </p:sp>
      <p:sp>
        <p:nvSpPr>
          <p:cNvPr id="19" name="Oval 18"/>
          <p:cNvSpPr/>
          <p:nvPr/>
        </p:nvSpPr>
        <p:spPr>
          <a:xfrm>
            <a:off x="6309360" y="2084832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0116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Outdoor GPS Integration — GPS waypoint navigation for outdoor guidance</a:t>
            </a:r>
          </a:p>
        </p:txBody>
      </p:sp>
      <p:sp>
        <p:nvSpPr>
          <p:cNvPr id="21" name="Oval 20"/>
          <p:cNvSpPr/>
          <p:nvPr/>
        </p:nvSpPr>
        <p:spPr>
          <a:xfrm>
            <a:off x="6309360" y="2743200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267004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Larger Tactile Matrix — Scale from 5×5 to 7×13 pins for higher resolution</a:t>
            </a:r>
          </a:p>
        </p:txBody>
      </p:sp>
      <p:sp>
        <p:nvSpPr>
          <p:cNvPr id="23" name="Oval 22"/>
          <p:cNvSpPr/>
          <p:nvPr/>
        </p:nvSpPr>
        <p:spPr>
          <a:xfrm>
            <a:off x="6309360" y="3401568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3328416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Voice Command Layer — Optional voice assistant for landmarks &amp; instructions</a:t>
            </a:r>
          </a:p>
        </p:txBody>
      </p:sp>
      <p:sp>
        <p:nvSpPr>
          <p:cNvPr id="25" name="Oval 24"/>
          <p:cNvSpPr/>
          <p:nvPr/>
        </p:nvSpPr>
        <p:spPr>
          <a:xfrm>
            <a:off x="6309360" y="4059936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3986784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Battery-Powered Wireless — BLE 5.0 for fully portable untethered operation</a:t>
            </a:r>
          </a:p>
        </p:txBody>
      </p:sp>
      <p:sp>
        <p:nvSpPr>
          <p:cNvPr id="27" name="Oval 26"/>
          <p:cNvSpPr/>
          <p:nvPr/>
        </p:nvSpPr>
        <p:spPr>
          <a:xfrm>
            <a:off x="6309360" y="4718304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64515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Extensive User Studies — IRB-approved with 50+ visually impaired participants</a:t>
            </a:r>
          </a:p>
        </p:txBody>
      </p:sp>
      <p:sp>
        <p:nvSpPr>
          <p:cNvPr id="29" name="Oval 28"/>
          <p:cNvSpPr/>
          <p:nvPr/>
        </p:nvSpPr>
        <p:spPr>
          <a:xfrm>
            <a:off x="6309360" y="5376672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53035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Miniaturization — Custom PCB and housing for commercial wearable 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Ally Vision — ECU Graduation Project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355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11 / 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6309360"/>
            <a:ext cx="11064240" cy="1270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6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40"/>
                            </p:stCondLst>
                            <p:childTnLst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80"/>
                            </p:stCondLst>
                            <p:childTnLst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20"/>
                            </p:stCondLst>
                            <p:childTnLst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60"/>
                            </p:stCondLst>
                            <p:childTnLst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00"/>
                            </p:stCondLst>
                            <p:childTnLst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840"/>
                            </p:stCondLst>
                            <p:childTnLst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980"/>
                            </p:stCondLst>
                            <p:childTnLst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120"/>
                            </p:stCondLst>
                            <p:childTnLst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260"/>
                            </p:stCondLst>
                            <p:childTnLst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400"/>
                            </p:stCondLst>
                            <p:childTnLst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40"/>
                            </p:stCondLst>
                            <p:childTnLst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680"/>
                            </p:stCondLst>
                            <p:childTnLst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820"/>
                            </p:stCondLst>
                            <p:childTnLst>
                              <p:par>
                                <p:cTn id="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40"/>
                            </p:stCondLst>
                            <p:childTnLst>
                              <p:par>
                                <p:cTn id="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80"/>
                            </p:stCondLst>
                            <p:childTnLst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420"/>
                            </p:stCondLst>
                            <p:childTnLst>
                              <p:par>
                                <p:cTn id="8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60"/>
                            </p:stCondLst>
                            <p:childTnLst>
                              <p:par>
                                <p:cTn id="9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700"/>
                            </p:stCondLst>
                            <p:childTnLst>
                              <p:par>
                                <p:cTn id="9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840"/>
                            </p:stCondLst>
                            <p:childTnLst>
                              <p:par>
                                <p:cTn id="9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980"/>
                            </p:stCondLst>
                            <p:childTnLst>
                              <p:par>
                                <p:cTn id="10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120"/>
                            </p:stCondLst>
                            <p:childTnLst>
                              <p:par>
                                <p:cTn id="10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260"/>
                            </p:stCondLst>
                            <p:childTnLst>
                              <p:par>
                                <p:cTn id="1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540"/>
                            </p:stCondLst>
                            <p:childTnLst>
                              <p:par>
                                <p:cTn id="1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680"/>
                            </p:stCondLst>
                            <p:childTnLst>
                              <p:par>
                                <p:cTn id="1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820"/>
                            </p:stCondLst>
                            <p:childTnLst>
                              <p:par>
                                <p:cTn id="1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960"/>
                            </p:stCondLst>
                            <p:childTnLst>
                              <p:par>
                                <p:cTn id="1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Click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211131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855F7"/>
                </a:solidFill>
                <a:latin typeface="Calibri"/>
              </a:defRPr>
            </a:pPr>
            <a:r>
              <a:t>TIME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DF5"/>
                </a:solidFill>
                <a:latin typeface="Calibri"/>
              </a:defRPr>
            </a:pPr>
            <a:r>
              <a:t>7-Sprint Agile Execution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97280" cy="381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645920"/>
            <a:ext cx="1508760" cy="256032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755648"/>
            <a:ext cx="1234440" cy="320040"/>
          </a:xfrm>
          <a:prstGeom prst="roundRect">
            <a:avLst/>
          </a:prstGeom>
          <a:solidFill>
            <a:srgbClr val="0A1E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8BDF8"/>
                </a:solidFill>
                <a:latin typeface="Consolas"/>
              </a:defRPr>
            </a:pPr>
            <a:r>
              <a:t>S1 • W1-2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9456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8EDF5"/>
                </a:solidFill>
                <a:latin typeface="Calibri"/>
              </a:defRPr>
            </a:pPr>
            <a:r>
              <a:t>Setup &amp;</a:t>
            </a:r>
            <a:br/>
            <a:r>
              <a:t>Contracts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26080"/>
            <a:ext cx="1325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Monorepo, camera,</a:t>
            </a:r>
            <a:br/>
            <a:r>
              <a:t>dataset, contracts.py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560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38528" y="1645920"/>
            <a:ext cx="1508760" cy="256032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75688" y="1755648"/>
            <a:ext cx="1234440" cy="320040"/>
          </a:xfrm>
          <a:prstGeom prst="roundRect">
            <a:avLst/>
          </a:prstGeom>
          <a:solidFill>
            <a:srgbClr val="0A1E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8BDF8"/>
                </a:solidFill>
                <a:latin typeface="Consolas"/>
              </a:defRPr>
            </a:pPr>
            <a:r>
              <a:t>S2 • W3-4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8" y="219456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8EDF5"/>
                </a:solidFill>
                <a:latin typeface="Calibri"/>
              </a:defRPr>
            </a:pPr>
            <a:r>
              <a:t>Engine</a:t>
            </a:r>
            <a:br/>
            <a:r>
              <a:t>Prototypes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8" y="2926080"/>
            <a:ext cx="1325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YOLO training, RANSAC,</a:t>
            </a:r>
            <a:br/>
            <a:r>
              <a:t>Pygame, ONNX export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2560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2736" y="1645920"/>
            <a:ext cx="1508760" cy="256032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739896" y="1755648"/>
            <a:ext cx="1234440" cy="320040"/>
          </a:xfrm>
          <a:prstGeom prst="roundRect">
            <a:avLst/>
          </a:prstGeom>
          <a:solidFill>
            <a:srgbClr val="0A1E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8BDF8"/>
                </a:solidFill>
                <a:latin typeface="Consolas"/>
              </a:defRPr>
            </a:pPr>
            <a:r>
              <a:t>S3 • W5-6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219456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8EDF5"/>
                </a:solidFill>
                <a:latin typeface="Calibri"/>
              </a:defRPr>
            </a:pPr>
            <a:r>
              <a:t>Perception</a:t>
            </a:r>
            <a:br/>
            <a:r>
              <a:t>Milestone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4176" y="2926080"/>
            <a:ext cx="1325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Live 3D detection</a:t>
            </a:r>
            <a:br/>
            <a:r>
              <a:t>at ≥20 FPS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65776" y="2560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66944" y="1645920"/>
            <a:ext cx="1508760" cy="256032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04104" y="1755648"/>
            <a:ext cx="1234440" cy="320040"/>
          </a:xfrm>
          <a:prstGeom prst="roundRect">
            <a:avLst/>
          </a:prstGeom>
          <a:solidFill>
            <a:srgbClr val="0A1E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8BDF8"/>
                </a:solidFill>
                <a:latin typeface="Consolas"/>
              </a:defRPr>
            </a:pPr>
            <a:r>
              <a:t>S4 • W7-8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219456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8EDF5"/>
                </a:solidFill>
                <a:latin typeface="Calibri"/>
              </a:defRPr>
            </a:pPr>
            <a:r>
              <a:t>Spatial</a:t>
            </a:r>
            <a:br/>
            <a:r>
              <a:t>Intelligence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2926080"/>
            <a:ext cx="1325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ByteTrack, corridor</a:t>
            </a:r>
            <a:br/>
            <a:r>
              <a:t>planner, hazard scoring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4" y="2560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31152" y="1645920"/>
            <a:ext cx="1508760" cy="256032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068312" y="1755648"/>
            <a:ext cx="1234440" cy="320040"/>
          </a:xfrm>
          <a:prstGeom prst="roundRect">
            <a:avLst/>
          </a:prstGeom>
          <a:solidFill>
            <a:srgbClr val="0A1E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8BDF8"/>
                </a:solidFill>
                <a:latin typeface="Consolas"/>
              </a:defRPr>
            </a:pPr>
            <a:r>
              <a:t>S5 • W9-10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2592" y="219456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8EDF5"/>
                </a:solidFill>
                <a:latin typeface="Calibri"/>
              </a:defRPr>
            </a:pPr>
            <a:r>
              <a:t>Tactile</a:t>
            </a:r>
            <a:br/>
            <a:r>
              <a:t>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2592" y="2926080"/>
            <a:ext cx="1325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5×5 mapping,</a:t>
            </a:r>
            <a:br/>
            <a:r>
              <a:t>split-screen simulator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2560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1645920"/>
            <a:ext cx="1508760" cy="256032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732520" y="1755648"/>
            <a:ext cx="1234440" cy="320040"/>
          </a:xfrm>
          <a:prstGeom prst="roundRect">
            <a:avLst/>
          </a:prstGeom>
          <a:solidFill>
            <a:srgbClr val="0A1E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8BDF8"/>
                </a:solidFill>
                <a:latin typeface="Consolas"/>
              </a:defRPr>
            </a:pPr>
            <a:r>
              <a:t>S6 • W11-12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219456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8EDF5"/>
                </a:solidFill>
                <a:latin typeface="Calibri"/>
              </a:defRPr>
            </a:pPr>
            <a:r>
              <a:t>Hardware</a:t>
            </a:r>
            <a:br/>
            <a:r>
              <a:t>Loop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2926080"/>
            <a:ext cx="1325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Serial link, Arduino R4,</a:t>
            </a:r>
            <a:br/>
            <a:r>
              <a:t>latency &lt; 100ms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2560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59568" y="1645920"/>
            <a:ext cx="1508760" cy="256032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53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396728" y="1755648"/>
            <a:ext cx="1234440" cy="320040"/>
          </a:xfrm>
          <a:prstGeom prst="roundRect">
            <a:avLst/>
          </a:prstGeom>
          <a:solidFill>
            <a:srgbClr val="0A1E2E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7AE60"/>
                </a:solidFill>
                <a:latin typeface="Consolas"/>
              </a:defRPr>
            </a:pPr>
            <a:r>
              <a:t>S7 • W13-14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51008" y="219456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7AE60"/>
                </a:solidFill>
                <a:latin typeface="Calibri"/>
              </a:defRPr>
            </a:pPr>
            <a:r>
              <a:t>Field Trials</a:t>
            </a:r>
            <a:br/>
            <a:r>
              <a:t>&amp; Thesis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51008" y="2926080"/>
            <a:ext cx="1325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5 blindfolded trials,</a:t>
            </a:r>
            <a:br/>
            <a:r>
              <a:t>thesis, demo video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572000"/>
            <a:ext cx="3520440" cy="128016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470916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EDF5"/>
                </a:solidFill>
                <a:latin typeface="Calibri"/>
              </a:defRPr>
            </a:pPr>
            <a:r>
              <a:t>Team Tracks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507492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6 AI engineers in parallel with gate-based milestone reviews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43400" y="4572000"/>
            <a:ext cx="3520440" cy="128016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80560" y="470916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EDF5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507492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Agile Scrum, 2-week sprints, Jira, GitHub monorepo, weekly standups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38160" y="4572000"/>
            <a:ext cx="3520440" cy="1280160"/>
          </a:xfrm>
          <a:prstGeom prst="roundRect">
            <a:avLst>
              <a:gd name="adj" fmla="val 4000"/>
            </a:avLst>
          </a:prstGeom>
          <a:solidFill>
            <a:srgbClr val="0F192D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75320" y="470916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EDF5"/>
                </a:solidFill>
                <a:latin typeface="Calibri"/>
              </a:defRPr>
            </a:pPr>
            <a:r>
              <a:t>Quality Gates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20" y="507492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mAP ≥ 85%, FPS ≥ 20, latency &lt; 100ms, 9/10 corridor tests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Ally Vision — ECU Graduation Project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0" y="6355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12 / 12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6309360"/>
            <a:ext cx="11064240" cy="1270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6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40"/>
                            </p:stCondLst>
                            <p:childTnLst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80"/>
                            </p:stCondLst>
                            <p:childTnLst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20"/>
                            </p:stCondLst>
                            <p:childTnLst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60"/>
                            </p:stCondLst>
                            <p:childTnLst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00"/>
                            </p:stCondLst>
                            <p:childTnLst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840"/>
                            </p:stCondLst>
                            <p:childTnLst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980"/>
                            </p:stCondLst>
                            <p:childTnLst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120"/>
                            </p:stCondLst>
                            <p:childTnLst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260"/>
                            </p:stCondLst>
                            <p:childTnLst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400"/>
                            </p:stCondLst>
                            <p:childTnLst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40"/>
                            </p:stCondLst>
                            <p:childTnLst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680"/>
                            </p:stCondLst>
                            <p:childTnLst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820"/>
                            </p:stCondLst>
                            <p:childTnLst>
                              <p:par>
                                <p:cTn id="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960"/>
                            </p:stCondLst>
                            <p:childTnLst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100"/>
                            </p:stCondLst>
                            <p:childTnLst>
                              <p:par>
                                <p:cTn id="7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240"/>
                            </p:stCondLst>
                            <p:childTnLst>
                              <p:par>
                                <p:cTn id="8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380"/>
                            </p:stCondLst>
                            <p:childTnLst>
                              <p:par>
                                <p:cTn id="8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520"/>
                            </p:stCondLst>
                            <p:childTnLst>
                              <p:par>
                                <p:cTn id="9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660"/>
                            </p:stCondLst>
                            <p:childTnLst>
                              <p:par>
                                <p:cTn id="9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800"/>
                            </p:stCondLst>
                            <p:childTnLst>
                              <p:par>
                                <p:cTn id="9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940"/>
                            </p:stCondLst>
                            <p:childTnLst>
                              <p:par>
                                <p:cTn id="10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3080"/>
                            </p:stCondLst>
                            <p:childTnLst>
                              <p:par>
                                <p:cTn id="10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220"/>
                            </p:stCondLst>
                            <p:childTnLst>
                              <p:par>
                                <p:cTn id="1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3360"/>
                            </p:stCondLst>
                            <p:childTnLst>
                              <p:par>
                                <p:cTn id="1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3500"/>
                            </p:stCondLst>
                            <p:childTnLst>
                              <p:par>
                                <p:cTn id="1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3640"/>
                            </p:stCondLst>
                            <p:childTnLst>
                              <p:par>
                                <p:cTn id="1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3780"/>
                            </p:stCondLst>
                            <p:childTnLst>
                              <p:par>
                                <p:cTn id="1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3920"/>
                            </p:stCondLst>
                            <p:childTnLst>
                              <p:par>
                                <p:cTn id="1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4060"/>
                            </p:stCondLst>
                            <p:childTnLst>
                              <p:par>
                                <p:cTn id="1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4200"/>
                            </p:stCondLst>
                            <p:childTnLst>
                              <p:par>
                                <p:cTn id="1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4340"/>
                            </p:stCondLst>
                            <p:childTnLst>
                              <p:par>
                                <p:cTn id="1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4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80"/>
                            </p:stCondLst>
                            <p:childTnLst>
                              <p:par>
                                <p:cTn id="151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360"/>
                            </p:stCondLst>
                            <p:childTnLst>
                              <p:par>
                                <p:cTn id="155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540"/>
                            </p:stCondLst>
                            <p:childTnLst>
                              <p:par>
                                <p:cTn id="159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720"/>
                            </p:stCondLst>
                            <p:childTnLst>
                              <p:par>
                                <p:cTn id="163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900"/>
                            </p:stCondLst>
                            <p:childTnLst>
                              <p:par>
                                <p:cTn id="167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1080"/>
                            </p:stCondLst>
                            <p:childTnLst>
                              <p:par>
                                <p:cTn id="171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1260"/>
                            </p:stCondLst>
                            <p:childTnLst>
                              <p:par>
                                <p:cTn id="175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1440"/>
                            </p:stCondLst>
                            <p:childTnLst>
                              <p:par>
                                <p:cTn id="179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1620"/>
                            </p:stCondLst>
                            <p:childTnLst>
                              <p:par>
                                <p:cTn id="183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1800"/>
                            </p:stCondLst>
                            <p:childTnLst>
                              <p:par>
                                <p:cTn id="187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1980"/>
                            </p:stCondLst>
                            <p:childTnLst>
                              <p:par>
                                <p:cTn id="191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2160"/>
                            </p:stCondLst>
                            <p:childTnLst>
                              <p:par>
                                <p:cTn id="195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2340"/>
                            </p:stCondLst>
                            <p:childTnLst>
                              <p:par>
                                <p:cTn id="199" presetID="4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Click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94960" y="914400"/>
            <a:ext cx="1371600" cy="1371600"/>
          </a:xfrm>
          <a:prstGeom prst="ellipse">
            <a:avLst/>
          </a:prstGeom>
          <a:solidFill>
            <a:srgbClr val="060B14"/>
          </a:solidFill>
          <a:ln w="381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/>
            </a:pPr>
            <a:r>
              <a:t>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8EDF5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Questions, Feedback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114800"/>
            <a:ext cx="2103120" cy="381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3891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🌐  allyvision.org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7548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📧  contact@allyvision.org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3035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7AE60"/>
                </a:solidFill>
                <a:latin typeface="Calibri"/>
              </a:defRPr>
            </a:pPr>
            <a:r>
              <a:t>See Beyond Sight.</a:t>
            </a:r>
          </a:p>
        </p:txBody>
      </p:sp>
    </p:spTree>
  </p:cSld>
  <p:clrMapOvr>
    <a:masterClrMapping/>
  </p:clrMapOvr>
  <p:transition spd="med" advClick="1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8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6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4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20"/>
                            </p:stCondLst>
                            <p:childTnLst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00"/>
                            </p:stCondLst>
                            <p:childTnLst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680"/>
                            </p:stCondLst>
                            <p:childTnLst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Click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