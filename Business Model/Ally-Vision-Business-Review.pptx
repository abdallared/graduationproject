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c7d50e8fd641f5" /><Relationship Type="http://schemas.openxmlformats.org/officeDocument/2006/relationships/extended-properties" Target="/docProps/app.xml" Id="R8c6087c16754453d" /><Relationship Type="http://schemas.openxmlformats.org/officeDocument/2006/relationships/officeDocument" Target="/ppt/presentation.xml" Id="R0272e34ea0694b8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d86c149dd2c0449b"/>
  </p:sldMasterIdLst>
  <p:notesMasterIdLst>
    <p:notesMasterId xmlns:r="http://schemas.openxmlformats.org/officeDocument/2006/relationships" r:id="Rd3c7a169e1704dcc"/>
  </p:notesMasterIdLst>
  <p:sldIdLst>
    <p:sldId xmlns:r="http://schemas.openxmlformats.org/officeDocument/2006/relationships" id="256" r:id="Rbbf1d8867d0140bc"/>
    <p:sldId xmlns:r="http://schemas.openxmlformats.org/officeDocument/2006/relationships" id="257" r:id="R53f1ef017ba94122"/>
    <p:sldId xmlns:r="http://schemas.openxmlformats.org/officeDocument/2006/relationships" id="258" r:id="R8ecfa243c2374010"/>
    <p:sldId xmlns:r="http://schemas.openxmlformats.org/officeDocument/2006/relationships" id="259" r:id="R421405e689da4fa4"/>
    <p:sldId xmlns:r="http://schemas.openxmlformats.org/officeDocument/2006/relationships" id="260" r:id="R816b5f5ac8c94089"/>
    <p:sldId xmlns:r="http://schemas.openxmlformats.org/officeDocument/2006/relationships" id="261" r:id="R7c051183562c4558"/>
    <p:sldId xmlns:r="http://schemas.openxmlformats.org/officeDocument/2006/relationships" id="262" r:id="Rc7bd5a86de7d42ac"/>
    <p:sldId xmlns:r="http://schemas.openxmlformats.org/officeDocument/2006/relationships" id="263" r:id="Rad9273f1ddc24a70"/>
    <p:sldId xmlns:r="http://schemas.openxmlformats.org/officeDocument/2006/relationships" id="264" r:id="Raad6c24ba8374227"/>
    <p:sldId xmlns:r="http://schemas.openxmlformats.org/officeDocument/2006/relationships" id="265" r:id="R1607a0646e9b4184"/>
    <p:sldId xmlns:r="http://schemas.openxmlformats.org/officeDocument/2006/relationships" id="266" r:id="R24be18c256884544"/>
    <p:sldId xmlns:r="http://schemas.openxmlformats.org/officeDocument/2006/relationships" id="267" r:id="R8ce8d796c45c47dd"/>
    <p:sldId xmlns:r="http://schemas.openxmlformats.org/officeDocument/2006/relationships" id="268" r:id="R000c057cb053460f"/>
    <p:sldId xmlns:r="http://schemas.openxmlformats.org/officeDocument/2006/relationships" id="269" r:id="R2305f0a997fd4a20"/>
    <p:sldId xmlns:r="http://schemas.openxmlformats.org/officeDocument/2006/relationships" id="270" r:id="R74487eb532b64976"/>
    <p:sldId xmlns:r="http://schemas.openxmlformats.org/officeDocument/2006/relationships" id="271" r:id="Rc4499c549b43419e"/>
    <p:sldId xmlns:r="http://schemas.openxmlformats.org/officeDocument/2006/relationships" id="272" r:id="R5b73eb81975f40d9"/>
    <p:sldId xmlns:r="http://schemas.openxmlformats.org/officeDocument/2006/relationships" id="273" r:id="Ra803a3b4f8074831"/>
    <p:sldId xmlns:r="http://schemas.openxmlformats.org/officeDocument/2006/relationships" id="274" r:id="R03e04b7a37e84214"/>
  </p:sldIdLst>
  <p:sldSz cx="12192000" cy="6858000"/>
  <p:notesSz cx="6858000" cy="9144000"/>
  <p:embeddedFontLst>
    <p:embeddedFont>
      <p:font typeface="Lora Medium"/>
      <p:regular xmlns:r="http://schemas.openxmlformats.org/officeDocument/2006/relationships" r:id="Rbcb571353edb4440"/>
      <p:italic xmlns:r="http://schemas.openxmlformats.org/officeDocument/2006/relationships" r:id="Rf058cc5cc61e4803"/>
    </p:embeddedFont>
    <p:embeddedFont>
      <p:font typeface="Lora SemiBold"/>
      <p:regular xmlns:r="http://schemas.openxmlformats.org/officeDocument/2006/relationships" r:id="Rf8c880c6c5574fb5"/>
      <p:bold xmlns:r="http://schemas.openxmlformats.org/officeDocument/2006/relationships" r:id="Rf27470a307594e7a"/>
      <p:italic xmlns:r="http://schemas.openxmlformats.org/officeDocument/2006/relationships" r:id="Rbd9725c4cb6d4246"/>
      <p:boldItalic xmlns:r="http://schemas.openxmlformats.org/officeDocument/2006/relationships" r:id="Rd82e0ae4289f4831"/>
    </p:embeddedFont>
    <p:embeddedFont>
      <p:font typeface="OpenAI Sans"/>
      <p:regular xmlns:r="http://schemas.openxmlformats.org/officeDocument/2006/relationships" r:id="R58fb50a5149f4761"/>
      <p:bold xmlns:r="http://schemas.openxmlformats.org/officeDocument/2006/relationships" r:id="Rf9f1ee3abb2d41f8"/>
      <p:italic xmlns:r="http://schemas.openxmlformats.org/officeDocument/2006/relationships" r:id="Re9c4d29791f848ab"/>
      <p:boldItalic xmlns:r="http://schemas.openxmlformats.org/officeDocument/2006/relationships" r:id="R9d596ca299ab4209"/>
    </p:embeddedFont>
    <p:embeddedFont>
      <p:font typeface="Roboto"/>
      <p:regular xmlns:r="http://schemas.openxmlformats.org/officeDocument/2006/relationships" r:id="R7d892e6c4b6a40b4"/>
      <p:bold xmlns:r="http://schemas.openxmlformats.org/officeDocument/2006/relationships" r:id="Ref43da16d4b34aef"/>
      <p:italic xmlns:r="http://schemas.openxmlformats.org/officeDocument/2006/relationships" r:id="R02033a7e22824c68"/>
      <p:boldItalic xmlns:r="http://schemas.openxmlformats.org/officeDocument/2006/relationships" r:id="Re58800adb69f403a"/>
    </p:embeddedFont>
    <p:embeddedFont>
      <p:font typeface="Roboto Medium"/>
      <p:regular xmlns:r="http://schemas.openxmlformats.org/officeDocument/2006/relationships" r:id="Rc86994c590774d21"/>
      <p:italic xmlns:r="http://schemas.openxmlformats.org/officeDocument/2006/relationships" r:id="Re69a30f8e7744ec4"/>
    </p:embeddedFont>
    <p:embeddedFont>
      <p:font typeface="Roboto SemiBold"/>
      <p:regular xmlns:r="http://schemas.openxmlformats.org/officeDocument/2006/relationships" r:id="R95d73b03593d4cb5"/>
      <p:bold xmlns:r="http://schemas.openxmlformats.org/officeDocument/2006/relationships" r:id="R71896a3cebde46ad"/>
      <p:italic xmlns:r="http://schemas.openxmlformats.org/officeDocument/2006/relationships" r:id="R4686af8f2a384a5d"/>
      <p:boldItalic xmlns:r="http://schemas.openxmlformats.org/officeDocument/2006/relationships" r:id="R63b1a59bd6144a20"/>
    </p:embeddedFont>
    <p:embeddedFont>
      <p:font typeface="Roboto Serif 14pt"/>
      <p:regular xmlns:r="http://schemas.openxmlformats.org/officeDocument/2006/relationships" r:id="R9ba02898f1904b6d"/>
      <p:bold xmlns:r="http://schemas.openxmlformats.org/officeDocument/2006/relationships" r:id="R842d8c92da344336"/>
      <p:italic xmlns:r="http://schemas.openxmlformats.org/officeDocument/2006/relationships" r:id="Rf24c336927b24262"/>
      <p:boldItalic xmlns:r="http://schemas.openxmlformats.org/officeDocument/2006/relationships" r:id="R2540ec9912c04c90"/>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d6d8e39e6864904" /><Relationship Type="http://schemas.openxmlformats.org/officeDocument/2006/relationships/slideMaster" Target="/ppt/slideMasters/slideMaster1.xml" Id="Rd86c149dd2c0449b" /><Relationship Type="http://schemas.openxmlformats.org/officeDocument/2006/relationships/notesMaster" Target="/ppt/notesMasters/notesMaster1.xml" Id="Rd3c7a169e1704dcc" /><Relationship Type="http://schemas.openxmlformats.org/officeDocument/2006/relationships/presProps" Target="/ppt/presProps.xml" Id="Rbc5feb2994284a49" /><Relationship Type="http://schemas.openxmlformats.org/officeDocument/2006/relationships/viewProps" Target="/ppt/viewProps.xml" Id="R37913756b9094075" /><Relationship Type="http://schemas.openxmlformats.org/officeDocument/2006/relationships/tableStyles" Target="/ppt/tableStyles.xml" Id="Redc9ba82d35f41d6" /><Relationship Type="http://schemas.openxmlformats.org/officeDocument/2006/relationships/font" Target="/ppt/fonts/font.dat" Id="Rbcb571353edb4440" /><Relationship Type="http://schemas.openxmlformats.org/officeDocument/2006/relationships/font" Target="/ppt/fonts/font2.dat" Id="Rf058cc5cc61e4803" /><Relationship Type="http://schemas.openxmlformats.org/officeDocument/2006/relationships/font" Target="/ppt/fonts/font3.dat" Id="Rf8c880c6c5574fb5" /><Relationship Type="http://schemas.openxmlformats.org/officeDocument/2006/relationships/font" Target="/ppt/fonts/font4.dat" Id="Rf27470a307594e7a" /><Relationship Type="http://schemas.openxmlformats.org/officeDocument/2006/relationships/font" Target="/ppt/fonts/font5.dat" Id="Rbd9725c4cb6d4246" /><Relationship Type="http://schemas.openxmlformats.org/officeDocument/2006/relationships/font" Target="/ppt/fonts/font6.dat" Id="Rd82e0ae4289f4831" /><Relationship Type="http://schemas.openxmlformats.org/officeDocument/2006/relationships/font" Target="/ppt/fonts/font7.dat" Id="R58fb50a5149f4761" /><Relationship Type="http://schemas.openxmlformats.org/officeDocument/2006/relationships/font" Target="/ppt/fonts/font8.dat" Id="Rf9f1ee3abb2d41f8" /><Relationship Type="http://schemas.openxmlformats.org/officeDocument/2006/relationships/font" Target="/ppt/fonts/font9.dat" Id="Re9c4d29791f848ab" /><Relationship Type="http://schemas.openxmlformats.org/officeDocument/2006/relationships/font" Target="/ppt/fonts/font10.dat" Id="R9d596ca299ab4209" /><Relationship Type="http://schemas.openxmlformats.org/officeDocument/2006/relationships/font" Target="/ppt/fonts/font11.dat" Id="R7d892e6c4b6a40b4" /><Relationship Type="http://schemas.openxmlformats.org/officeDocument/2006/relationships/font" Target="/ppt/fonts/font12.dat" Id="Ref43da16d4b34aef" /><Relationship Type="http://schemas.openxmlformats.org/officeDocument/2006/relationships/font" Target="/ppt/fonts/font13.dat" Id="R02033a7e22824c68" /><Relationship Type="http://schemas.openxmlformats.org/officeDocument/2006/relationships/font" Target="/ppt/fonts/font14.dat" Id="Re58800adb69f403a" /><Relationship Type="http://schemas.openxmlformats.org/officeDocument/2006/relationships/font" Target="/ppt/fonts/font15.dat" Id="Rc86994c590774d21" /><Relationship Type="http://schemas.openxmlformats.org/officeDocument/2006/relationships/font" Target="/ppt/fonts/font16.dat" Id="Re69a30f8e7744ec4" /><Relationship Type="http://schemas.openxmlformats.org/officeDocument/2006/relationships/font" Target="/ppt/fonts/font17.dat" Id="R95d73b03593d4cb5" /><Relationship Type="http://schemas.openxmlformats.org/officeDocument/2006/relationships/font" Target="/ppt/fonts/font18.dat" Id="R71896a3cebde46ad" /><Relationship Type="http://schemas.openxmlformats.org/officeDocument/2006/relationships/font" Target="/ppt/fonts/font19.dat" Id="R4686af8f2a384a5d" /><Relationship Type="http://schemas.openxmlformats.org/officeDocument/2006/relationships/font" Target="/ppt/fonts/font20.dat" Id="R63b1a59bd6144a20" /><Relationship Type="http://schemas.openxmlformats.org/officeDocument/2006/relationships/font" Target="/ppt/fonts/font21.dat" Id="R9ba02898f1904b6d" /><Relationship Type="http://schemas.openxmlformats.org/officeDocument/2006/relationships/font" Target="/ppt/fonts/font22.dat" Id="R842d8c92da344336" /><Relationship Type="http://schemas.openxmlformats.org/officeDocument/2006/relationships/font" Target="/ppt/fonts/font23.dat" Id="Rf24c336927b24262" /><Relationship Type="http://schemas.openxmlformats.org/officeDocument/2006/relationships/font" Target="/ppt/fonts/font24.dat" Id="R2540ec9912c04c90" /><Relationship Type="http://schemas.openxmlformats.org/officeDocument/2006/relationships/slide" Target="/ppt/slides/slide1.xml" Id="Rbbf1d8867d0140bc" /><Relationship Type="http://schemas.openxmlformats.org/officeDocument/2006/relationships/slide" Target="/ppt/slides/slide2.xml" Id="R53f1ef017ba94122" /><Relationship Type="http://schemas.openxmlformats.org/officeDocument/2006/relationships/slide" Target="/ppt/slides/slide3.xml" Id="R8ecfa243c2374010" /><Relationship Type="http://schemas.openxmlformats.org/officeDocument/2006/relationships/slide" Target="/ppt/slides/slide4.xml" Id="R421405e689da4fa4" /><Relationship Type="http://schemas.openxmlformats.org/officeDocument/2006/relationships/slide" Target="/ppt/slides/slide5.xml" Id="R816b5f5ac8c94089" /><Relationship Type="http://schemas.openxmlformats.org/officeDocument/2006/relationships/slide" Target="/ppt/slides/slide6.xml" Id="R7c051183562c4558" /><Relationship Type="http://schemas.openxmlformats.org/officeDocument/2006/relationships/slide" Target="/ppt/slides/slide7.xml" Id="Rc7bd5a86de7d42ac" /><Relationship Type="http://schemas.openxmlformats.org/officeDocument/2006/relationships/slide" Target="/ppt/slides/slide8.xml" Id="Rad9273f1ddc24a70" /><Relationship Type="http://schemas.openxmlformats.org/officeDocument/2006/relationships/slide" Target="/ppt/slides/slide9.xml" Id="Raad6c24ba8374227" /><Relationship Type="http://schemas.openxmlformats.org/officeDocument/2006/relationships/slide" Target="/ppt/slides/slide10.xml" Id="R1607a0646e9b4184" /><Relationship Type="http://schemas.openxmlformats.org/officeDocument/2006/relationships/slide" Target="/ppt/slides/slide11.xml" Id="R24be18c256884544" /><Relationship Type="http://schemas.openxmlformats.org/officeDocument/2006/relationships/slide" Target="/ppt/slides/slide12.xml" Id="R8ce8d796c45c47dd" /><Relationship Type="http://schemas.openxmlformats.org/officeDocument/2006/relationships/slide" Target="/ppt/slides/slide13.xml" Id="R000c057cb053460f" /><Relationship Type="http://schemas.openxmlformats.org/officeDocument/2006/relationships/slide" Target="/ppt/slides/slide14.xml" Id="R2305f0a997fd4a20" /><Relationship Type="http://schemas.openxmlformats.org/officeDocument/2006/relationships/slide" Target="/ppt/slides/slide15.xml" Id="R74487eb532b64976" /><Relationship Type="http://schemas.openxmlformats.org/officeDocument/2006/relationships/slide" Target="/ppt/slides/slide16.xml" Id="Rc4499c549b43419e" /><Relationship Type="http://schemas.openxmlformats.org/officeDocument/2006/relationships/slide" Target="/ppt/slides/slide17.xml" Id="R5b73eb81975f40d9" /><Relationship Type="http://schemas.openxmlformats.org/officeDocument/2006/relationships/slide" Target="/ppt/slides/slide18.xml" Id="Ra803a3b4f8074831" /><Relationship Type="http://schemas.openxmlformats.org/officeDocument/2006/relationships/slide" Target="/ppt/slides/slide19.xml" Id="R03e04b7a37e842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246fe81eb041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465bff7fd649c6" /><Relationship Type="http://schemas.openxmlformats.org/officeDocument/2006/relationships/notesMaster" Target="/ppt/notesMasters/notesMaster1.xml" Id="Rfb80a96eb19d44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3869cb2b954bcf" /><Relationship Type="http://schemas.openxmlformats.org/officeDocument/2006/relationships/notesMaster" Target="/ppt/notesMasters/notesMaster1.xml" Id="R5018603e3d744a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1a655dccbb4a48" /><Relationship Type="http://schemas.openxmlformats.org/officeDocument/2006/relationships/notesMaster" Target="/ppt/notesMasters/notesMaster1.xml" Id="R878d1242332942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fdb293bfde4455" /><Relationship Type="http://schemas.openxmlformats.org/officeDocument/2006/relationships/notesMaster" Target="/ppt/notesMasters/notesMaster1.xml" Id="R8134faef1d8f43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5d326a4c8a42ec" /><Relationship Type="http://schemas.openxmlformats.org/officeDocument/2006/relationships/notesMaster" Target="/ppt/notesMasters/notesMaster1.xml" Id="R9f9e2c346a2e45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54f22c9a1b46a6" /><Relationship Type="http://schemas.openxmlformats.org/officeDocument/2006/relationships/notesMaster" Target="/ppt/notesMasters/notesMaster1.xml" Id="R352177eeed2146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ac341b2b9749c6" /><Relationship Type="http://schemas.openxmlformats.org/officeDocument/2006/relationships/notesMaster" Target="/ppt/notesMasters/notesMaster1.xml" Id="Rb4f944c103254e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87007ea8794aeb" /><Relationship Type="http://schemas.openxmlformats.org/officeDocument/2006/relationships/notesMaster" Target="/ppt/notesMasters/notesMaster1.xml" Id="R981cc51c17a144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59a95fb24e4f78" /><Relationship Type="http://schemas.openxmlformats.org/officeDocument/2006/relationships/notesMaster" Target="/ppt/notesMasters/notesMaster1.xml" Id="R2ad01a5823f546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9d94c1438c4339" /><Relationship Type="http://schemas.openxmlformats.org/officeDocument/2006/relationships/notesMaster" Target="/ppt/notesMasters/notesMaster1.xml" Id="Ra28981d9d68b4a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7e04a3946c54bc2" /><Relationship Type="http://schemas.openxmlformats.org/officeDocument/2006/relationships/notesMaster" Target="/ppt/notesMasters/notesMaster1.xml" Id="R92246bd933874a7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8806faebb9a4617" /><Relationship Type="http://schemas.openxmlformats.org/officeDocument/2006/relationships/notesMaster" Target="/ppt/notesMasters/notesMaster1.xml" Id="R0c3e2377e8eb4a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27e89051d96461a" /><Relationship Type="http://schemas.openxmlformats.org/officeDocument/2006/relationships/notesMaster" Target="/ppt/notesMasters/notesMaster1.xml" Id="R9116c2d805194a7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8b76b7852b4c3b" /><Relationship Type="http://schemas.openxmlformats.org/officeDocument/2006/relationships/notesMaster" Target="/ppt/notesMasters/notesMaster1.xml" Id="R6cc6f7248c734e0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bdb18c6328648a6" /><Relationship Type="http://schemas.openxmlformats.org/officeDocument/2006/relationships/notesMaster" Target="/ppt/notesMasters/notesMaster1.xml" Id="R95a3050c29f8412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fe186e8b654a6a" /><Relationship Type="http://schemas.openxmlformats.org/officeDocument/2006/relationships/notesMaster" Target="/ppt/notesMasters/notesMaster1.xml" Id="R568b391fbe64403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72dac854854ac4" /><Relationship Type="http://schemas.openxmlformats.org/officeDocument/2006/relationships/notesMaster" Target="/ppt/notesMasters/notesMaster1.xml" Id="Rf6147b75da8047d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050b7c48a824a98" /><Relationship Type="http://schemas.openxmlformats.org/officeDocument/2006/relationships/notesMaster" Target="/ppt/notesMasters/notesMaster1.xml" Id="Rbca10df68b754ba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40691c5f2e14549" /><Relationship Type="http://schemas.openxmlformats.org/officeDocument/2006/relationships/notesMaster" Target="/ppt/notesMasters/notesMaster1.xml" Id="Rda6fb636ccb645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Planning assumptions, not validated results. All financial figures are USD. Engineering targets require user testing and supplier quotations.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Planning assumptions, not validated results. All financial figures are USD. Engineering targets require user testing and supplier quotations.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User-supplied problem hypothesis. Test physical displacement against vibration for sustained cue recognition. Do not claim that all tactile adaptation disappears.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Planning assumptions, not validated results. All financial figures are USD. Engineering targets require user testing and supplier quotations.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https://pubmed.ncbi.nlm.nih.gov/22133988/ (2010 estimate). https://www.who.int/news-room/fact-sheets/detail/blindness-and-visual-impairment/ (current broader definition). TAM, MENA and Egypt figures supplied by founder, not independently verified. Three-year SOM is an illustrative planning target.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High-level concept: affordable visual-to-tactile spatial navigation support. Hands-free describes headset operation, not a recommendation to abandon a cane. At $399, the price is about 10% of the supplied $4,000 competitor benchmark.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Planning assumptions, not validated results. All financial figures are USD. Engineering targets require user testing and supplier quotations. Supplement established mobility techniques. Test depth sensing under sunlight, low light, motion and difficult surface conditions.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B2B2C distribution through blind welfare NGOs and rehabilitation centers. Banks and telecoms sponsor cohorts. Include extra field visits and intensive training in a separately priced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Planning assumptions, not validated results. All financial figures are USD. Engineering targets require user testing and supplier quotations. Core navigation remains available without subscription renewal. Maintenance covers calibration, remote support, firmware support and limited preventive servicing.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Planning assumptions, not validated results. All financial figures are USD. Engineering targets require user testing and supplier quotations. BOM ranges assume negotiated volume sourcing and a manufacturable custom design. Fixed cost includes R&amp;D, clinical and usability testing, staff, administration and partner development.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Planning assumptions, not validated results. All financial figures are USD. Engineering targets require user testing and supplier quotations. Blended mix is 80% at $299 and 20% at $399. Weighted deployment cost: 0.8×30 + 0.2×50 = $34. Contribution: 319−170−34 = $115.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Planning assumptions, not validated results. All financial figures are USD. Engineering targets require user testing and supplier quotations. Chart values are USD thousands. Contribution at 500, 1000, 2000 and 3000 annual units is 57.5, 115, 230 and 345. Annual fixed operating cost is 180. Excludes launch capex, financing, taxes and subscription contribution.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Planning assumptions, not validated results. All financial figures are USD. Engineering targets require user testing and supplier quotations. Chart is USD/device. Product cost = BOM + $60. Institutional contribution = $299 − product cost − $30. Cases are BOM $95, $110, $120 and $160.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Planning assumptions, not validated results. All financial figures are USD. Engineering targets require user testing and supplier quotations. Avoidance rate is a development milestone, not sufficient evidence for unrestricted navigation claims. Social impact: baseline-to-follow-up mobility confidence and participation, with consent.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https://7sense.ee/ describes physical pixels. https://www.silmalaegas.ee/telli/319 lists €5,995. Founder benchmark is $4,000+. No patent grant, exclusive supply agreement or established moat is asserted.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Planning assumptions, not validated results. All financial figures are USD. Engineering targets require user testing and supplier quotations. This is the standard Business Model Canvas. The preceding nine numbered sections constitute the Lean Canvas.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Illustrative relative timeline, not a committed delivery schedule. Month 0 begins after funding and partner access. Paid deployment depends on performance, comfort, service readiness and applicable market requirements.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Planning assumptions, not validated results. All financial figures are USD. Engineering targets require user testing and supplier quotations. Long-term value depends on a sustainable delivered cost, credible user outcomes and a support network that keeps devices in use.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model review, October 2026. Prepared from founder-provided product facts and explicitly labeled planning assumptions.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c611f7a0dd4f4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ee4f6405644b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63beaf16bb46c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446e6d9abc465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74655a73ecf4d7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3f762324aea422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fbec305e0c540f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3ed641965664460"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latin typeface="Lora SemiBold"/>
                <a:ea typeface="Lora SemiBold"/>
                <a:cs typeface="Lora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699" y="6279294"/>
            <a:ext cx="8129411"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294"/>
            <a:ext cx="87051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294"/>
            <a:ext cx="74930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699" y="6279294"/>
            <a:ext cx="846664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699" y="6279294"/>
            <a:ext cx="736176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294"/>
            <a:ext cx="75875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315c0d2dda45c3" /><Relationship Type="http://schemas.openxmlformats.org/officeDocument/2006/relationships/slideLayout" Target="/ppt/slideLayouts/slideLayout1.xml" Id="Rbc7ad4eaa3b943c9" /><Relationship Type="http://schemas.openxmlformats.org/officeDocument/2006/relationships/slideLayout" Target="/ppt/slideLayouts/slideLayout2.xml" Id="R5c7de844031c48a4" /><Relationship Type="http://schemas.openxmlformats.org/officeDocument/2006/relationships/slideLayout" Target="/ppt/slideLayouts/slideLayout3.xml" Id="Rc617efa8cf5e4742" /><Relationship Type="http://schemas.openxmlformats.org/officeDocument/2006/relationships/slideLayout" Target="/ppt/slideLayouts/slideLayout4.xml" Id="R43ba6bb077ba4e70" /><Relationship Type="http://schemas.openxmlformats.org/officeDocument/2006/relationships/slideLayout" Target="/ppt/slideLayouts/slideLayout5.xml" Id="R3cbc2057369a4a5e" /><Relationship Type="http://schemas.openxmlformats.org/officeDocument/2006/relationships/slideLayout" Target="/ppt/slideLayouts/slideLayout6.xml" Id="R96435dad2da64ea8" /><Relationship Type="http://schemas.openxmlformats.org/officeDocument/2006/relationships/slideLayout" Target="/ppt/slideLayouts/slideLayout7.xml" Id="Rcb9de9d0b76e40c1" /><Relationship Type="http://schemas.openxmlformats.org/officeDocument/2006/relationships/slideLayout" Target="/ppt/slideLayouts/slideLayout8.xml" Id="Rd8896d4fed8546c3" /></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294"/>
            <a:ext cx="75311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7ad4eaa3b943c9"/>
    <p:sldLayoutId xmlns:r="http://schemas.openxmlformats.org/officeDocument/2006/relationships" id="2147483650" r:id="R5c7de844031c48a4"/>
    <p:sldLayoutId xmlns:r="http://schemas.openxmlformats.org/officeDocument/2006/relationships" id="2147483651" r:id="Rc617efa8cf5e4742"/>
    <p:sldLayoutId xmlns:r="http://schemas.openxmlformats.org/officeDocument/2006/relationships" id="2147483652" r:id="R43ba6bb077ba4e70"/>
    <p:sldLayoutId xmlns:r="http://schemas.openxmlformats.org/officeDocument/2006/relationships" id="2147483653" r:id="R3cbc2057369a4a5e"/>
    <p:sldLayoutId xmlns:r="http://schemas.openxmlformats.org/officeDocument/2006/relationships" id="2147483654" r:id="R96435dad2da64ea8"/>
    <p:sldLayoutId xmlns:r="http://schemas.openxmlformats.org/officeDocument/2006/relationships" id="2147483655" r:id="Rcb9de9d0b76e40c1"/>
    <p:sldLayoutId xmlns:r="http://schemas.openxmlformats.org/officeDocument/2006/relationships" id="2147483656" r:id="Rd8896d4fed8546c3"/>
  </p:sldLayoutIdLst>
  <p:hf hdr="0" dt="0"/>
  <p:txStyles>
    <p:titleStyle>
      <a:lvl1pPr xmlns:a="http://schemas.openxmlformats.org/drawingml/2006/main" algn="l" defTabSz="914400">
        <a:lnSpc>
          <a:spcPct val="90000"/>
        </a:lnSpc>
        <a:spcBef>
          <a:spcPct val="0"/>
        </a:spcBef>
        <a:buNone/>
        <a:defRPr sz="2900" b="1" i="0" kern="1200">
          <a:solidFill>
            <a:schemeClr val="tx1"/>
          </a:solidFill>
          <a:latin typeface="Lora SemiBold"/>
          <a:ea typeface="Lora SemiBold"/>
          <a:cs typeface="Lora SemiBold"/>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520"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4685b97e304d44" /><Relationship Type="http://schemas.openxmlformats.org/officeDocument/2006/relationships/notesSlide" Target="/ppt/notesSlides/notesSlide1.xml" Id="Rd3c52500ee5d4d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184028087f4952" /><Relationship Type="http://schemas.openxmlformats.org/officeDocument/2006/relationships/notesSlide" Target="/ppt/notesSlides/notesSlide2.xml" Id="R29a4ab0ba07743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7ffaafe0a4747a2" /><Relationship Type="http://schemas.openxmlformats.org/officeDocument/2006/relationships/notesSlide" Target="/ppt/notesSlides/notesSlide3.xml" Id="R512d72ee02a647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329e1ffcd1c487d" /><Relationship Type="http://schemas.openxmlformats.org/officeDocument/2006/relationships/notesSlide" Target="/ppt/notesSlides/notesSlide4.xml" Id="R4931b396ced845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80d82cc5dbf4254" /><Relationship Type="http://schemas.openxmlformats.org/officeDocument/2006/relationships/notesSlide" Target="/ppt/notesSlides/notesSlide5.xml" Id="R079b812a995c4f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8ced98adf544ea7" /><Relationship Type="http://schemas.openxmlformats.org/officeDocument/2006/relationships/notesSlide" Target="/ppt/notesSlides/notesSlide6.xml" Id="R63f129c0a96d47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9a8f6825e514bee" /><Relationship Type="http://schemas.openxmlformats.org/officeDocument/2006/relationships/notesSlide" Target="/ppt/notesSlides/notesSlide7.xml" Id="R68ddac8c8a5b44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5.xml" Id="R7e87ff6e85914fc1" /><Relationship Type="http://schemas.openxmlformats.org/officeDocument/2006/relationships/notesSlide" Target="/ppt/notesSlides/notesSlide8.xml" Id="Rd76c10a708074c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c5a51c0d08b4337" /><Relationship Type="http://schemas.openxmlformats.org/officeDocument/2006/relationships/notesSlide" Target="/ppt/notesSlides/notesSlide9.xml" Id="R4b10c47005844d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ab1f95f15e04108" /><Relationship Type="http://schemas.openxmlformats.org/officeDocument/2006/relationships/notesSlide" Target="/ppt/notesSlides/notesSlide10.xml" Id="Rb99963bb07104d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c0db1a817f6484a" /><Relationship Type="http://schemas.openxmlformats.org/officeDocument/2006/relationships/notesSlide" Target="/ppt/notesSlides/notesSlide11.xml" Id="R039fc68cd44145a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a3ed31e8e434d9a" /><Relationship Type="http://schemas.openxmlformats.org/officeDocument/2006/relationships/chart" Target="/ppt/slides/charts/chart1.xml" Id="R04c33bba8dae4737" /><Relationship Type="http://schemas.openxmlformats.org/officeDocument/2006/relationships/notesSlide" Target="/ppt/notesSlides/notesSlide12.xml" Id="Re07278614d3c46c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410aa345cf94662" /><Relationship Type="http://schemas.openxmlformats.org/officeDocument/2006/relationships/chart" Target="/ppt/slides/charts/chart2.xml" Id="R4f7c888c32df443d" /><Relationship Type="http://schemas.openxmlformats.org/officeDocument/2006/relationships/notesSlide" Target="/ppt/notesSlides/notesSlide13.xml" Id="R6dc0e9ee121648f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104620ac34b4645" /><Relationship Type="http://schemas.openxmlformats.org/officeDocument/2006/relationships/notesSlide" Target="/ppt/notesSlides/notesSlide14.xml" Id="R6e131cc6a3084d6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78b66ff1e454d6b" /><Relationship Type="http://schemas.openxmlformats.org/officeDocument/2006/relationships/notesSlide" Target="/ppt/notesSlides/notesSlide15.xml" Id="Rd3a84a5c02d647b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6f807cd228304839" /><Relationship Type="http://schemas.openxmlformats.org/officeDocument/2006/relationships/notesSlide" Target="/ppt/notesSlides/notesSlide16.xml" Id="Rbd53f2cd591a479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619692870d4433c" /><Relationship Type="http://schemas.openxmlformats.org/officeDocument/2006/relationships/notesSlide" Target="/ppt/notesSlides/notesSlide17.xml" Id="R1dce6b0131fc4da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3af0116b7aca46b6" /><Relationship Type="http://schemas.openxmlformats.org/officeDocument/2006/relationships/notesSlide" Target="/ppt/notesSlides/notesSlide18.xml" Id="Raafea1e248244de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728199ce33b4af0" /><Relationship Type="http://schemas.openxmlformats.org/officeDocument/2006/relationships/notesSlide" Target="/ppt/notesSlides/notesSlide19.xml" Id="R897b2ab91c394422" /></Relationships>
</file>

<file path=ppt/slides/charts/chart1.xml><?xml version="1.0" encoding="utf-8"?>
<c:chartSpace xmlns:mc="http://schemas.openxmlformats.org/markup-compatibility/2006" xmlns:c14="http://schemas.microsoft.com/office/drawing/2007/8/2/chart" xmlns:c="http://schemas.openxmlformats.org/drawingml/2006/chart" mc:Ignorable="c14">
  <c:lang val="en-US"/>
  <c:roundedCorners val="0"/>
  <mc:AlternateContent>
    <mc:Choice Requires="c14">
      <c14:style val="102"/>
    </mc:Choice>
    <mc:Fallback>
      <c:style val="2"/>
    </mc:Fallback>
  </mc:AlternateContent>
  <c:chart>
    <c:autoTitleDeleted val="1"/>
    <c:plotArea>
      <c:layout>
        <c:manualLayout>
          <c:layoutTarget val="inner"/>
          <c:xMode val="edge"/>
          <c:yMode val="edge"/>
          <c:x val="0.08245552360503024"/>
          <c:y val="0.16727494328876974"/>
          <c:w val="0.8907956446698214"/>
          <c:h val="0.6966469621926458"/>
        </c:manualLayout>
      </c:layout>
      <c:barChart>
        <c:barDir val="col"/>
        <c:grouping val="clustered"/>
        <c:varyColors val="0"/>
        <c:ser>
          <c:idx val="0"/>
          <c:order val="0"/>
          <c:tx>
            <c:v>Contribution</c:v>
          </c:tx>
          <c:spPr>
            <a:solidFill xmlns:a="http://schemas.openxmlformats.org/drawingml/2006/main">
              <a:schemeClr val="accent1"/>
            </a:solidFill>
            <a:ln xmlns:a="http://schemas.openxmlformats.org/drawingml/2006/main">
              <a:noFill/>
            </a:ln>
          </c:spPr>
          <c:invertIfNegative val="0"/>
          <c:dLbls>
            <c:numFmt formatCode="General"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050" b="1" i="0" u="none" strike="noStrike" kern="1200" baseline="0">
                    <a:solidFill>
                      <a:schemeClr val="bg1"/>
                    </a:solidFill>
                    <a:latin typeface="+mn-lt"/>
                    <a:ea typeface="+mn-lt"/>
                    <a:cs typeface="+mn-lt"/>
                  </a:defRPr>
                </a:pPr>
              </a:p>
            </c:txPr>
            <c:dLblPos val="inEnd"/>
            <c:showLegendKey val="0"/>
            <c:showVal val="1"/>
            <c:showCatName val="0"/>
            <c:showSerName val="0"/>
            <c:showPercent val="0"/>
            <c:showBubbleSize val="0"/>
            <c:showLeaderLines val="0"/>
            <c:leaderLines>
              <c:spPr>
                <a:ln xmlns:a="http://schemas.openxmlformats.org/drawingml/2006/main" w="9525" cmpd="sng">
                  <a:solidFill>
                    <a:schemeClr val="tx1">
                      <a:lumMod val="35000"/>
                      <a:lumOff val="65000"/>
                    </a:schemeClr>
                  </a:solidFill>
                </a:ln>
              </c:spPr>
            </c:leaderLines>
          </c:dLbls>
          <c:cat>
            <c:strRef>
              <c:f>'Chart Data'!$A$2:$A$5</c:f>
              <c:strCache>
                <c:ptCount val="4"/>
                <c:pt idx="0">
                  <c:v>500</c:v>
                </c:pt>
                <c:pt idx="1">
                  <c:v>1,000</c:v>
                </c:pt>
                <c:pt idx="2">
                  <c:v>2,000</c:v>
                </c:pt>
                <c:pt idx="3">
                  <c:v>3,000</c:v>
                </c:pt>
              </c:strCache>
            </c:strRef>
          </c:cat>
          <c:val>
            <c:numRef>
              <c:f>'Chart Data'!$B$2:$B$5</c:f>
              <c:numCache>
                <c:formatCode>General</c:formatCode>
                <c:ptCount val="4"/>
                <c:pt idx="0">
                  <c:v>57.5</c:v>
                </c:pt>
                <c:pt idx="1">
                  <c:v>115</c:v>
                </c:pt>
                <c:pt idx="2">
                  <c:v>230</c:v>
                </c:pt>
                <c:pt idx="3">
                  <c:v>345</c:v>
                </c:pt>
              </c:numCache>
            </c:numRef>
          </c:val>
        </c:ser>
        <c:dLbls>
          <c:showLegendKey val="0"/>
          <c:showVal val="0"/>
          <c:showCatName val="0"/>
          <c:showSerName val="0"/>
          <c:showPercent val="0"/>
          <c:showBubbleSize val="0"/>
          <c:showLeaderLines val="0"/>
        </c:dLbls>
        <c:gapWidth val="83"/>
        <c:axId val="1785928255"/>
        <c:axId val="1769229823"/>
      </c:barChart>
      <c:lineChart>
        <c:grouping val="standard"/>
        <c:varyColors val="0"/>
        <c:ser>
          <c:idx val="1"/>
          <c:order val="1"/>
          <c:tx>
            <c:v>Fixed costs</c:v>
          </c:tx>
          <c:spPr>
            <a:ln xmlns:a="http://schemas.openxmlformats.org/drawingml/2006/main" w="28575">
              <a:solidFill>
                <a:schemeClr val="tx2">
                  <a:lumMod val="50000"/>
                  <a:lumOff val="50000"/>
                </a:schemeClr>
              </a:solidFill>
            </a:ln>
          </c:spPr>
          <c:marker>
            <c:symbol val="circle"/>
            <c:size val="6"/>
            <c:spPr>
              <a:solidFill xmlns:a="http://schemas.openxmlformats.org/drawingml/2006/main">
                <a:schemeClr val="tx2">
                  <a:lumMod val="50000"/>
                  <a:lumOff val="50000"/>
                </a:schemeClr>
              </a:solidFill>
              <a:ln xmlns:a="http://schemas.openxmlformats.org/drawingml/2006/main" w="9525">
                <a:solidFill>
                  <a:schemeClr val="tx2">
                    <a:lumMod val="50000"/>
                    <a:lumOff val="50000"/>
                  </a:schemeClr>
                </a:solidFill>
              </a:ln>
            </c:spPr>
          </c:marker>
          <c:dLbls>
            <c:numFmt formatCode="General"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050" b="1" i="0" u="none" strike="noStrike" kern="1200" baseline="0">
                    <a:solidFill>
                      <a:schemeClr val="tx1"/>
                    </a:solidFill>
                    <a:latin typeface="+mn-lt"/>
                    <a:ea typeface="+mn-lt"/>
                    <a:cs typeface="+mn-lt"/>
                  </a:defRPr>
                </a:pPr>
              </a:p>
            </c:txPr>
            <c:dLblPos val="t"/>
            <c:showLegendKey val="0"/>
            <c:showVal val="1"/>
            <c:showCatName val="0"/>
            <c:showSerName val="0"/>
            <c:showPercent val="0"/>
            <c:showBubbleSize val="0"/>
            <c:showLeaderLines val="0"/>
            <c:leaderLines>
              <c:spPr>
                <a:ln xmlns:a="http://schemas.openxmlformats.org/drawingml/2006/main" w="9525" cmpd="sng">
                  <a:solidFill>
                    <a:schemeClr val="tx1">
                      <a:lumMod val="35000"/>
                      <a:lumOff val="65000"/>
                    </a:schemeClr>
                  </a:solidFill>
                </a:ln>
              </c:spPr>
            </c:leaderLines>
          </c:dLbls>
          <c:cat>
            <c:strRef>
              <c:f>'Chart Data'!$C$2:$C$5</c:f>
              <c:strCache>
                <c:ptCount val="4"/>
                <c:pt idx="0">
                  <c:v>500</c:v>
                </c:pt>
                <c:pt idx="1">
                  <c:v>1,000</c:v>
                </c:pt>
                <c:pt idx="2">
                  <c:v>2,000</c:v>
                </c:pt>
                <c:pt idx="3">
                  <c:v>3,000</c:v>
                </c:pt>
              </c:strCache>
            </c:strRef>
          </c:cat>
          <c:val>
            <c:numRef>
              <c:f>'Chart Data'!$D$2:$D$5</c:f>
              <c:numCache>
                <c:formatCode>General</c:formatCode>
                <c:ptCount val="4"/>
                <c:pt idx="0">
                  <c:v>180</c:v>
                </c:pt>
                <c:pt idx="1">
                  <c:v>180</c:v>
                </c:pt>
                <c:pt idx="2">
                  <c:v>180</c:v>
                </c:pt>
                <c:pt idx="3">
                  <c:v>180</c:v>
                </c:pt>
              </c:numCache>
            </c:numRef>
          </c:val>
          <c:smooth val="0"/>
        </c:ser>
        <c:dLbls>
          <c:showLegendKey val="0"/>
          <c:showVal val="0"/>
          <c:showCatName val="0"/>
          <c:showSerName val="0"/>
          <c:showPercent val="0"/>
          <c:showBubbleSize val="0"/>
          <c:showLeaderLines val="0"/>
        </c:dLbls>
        <c:smooth val="0"/>
        <c:axId val="1785928255"/>
        <c:axId val="1769229823"/>
      </c:lineChart>
      <c:catAx>
        <c:axId val="1785928255"/>
        <c:scaling>
          <c:orientation val="minMax"/>
        </c:scaling>
        <c:delete val="0"/>
        <c:axPos val="b"/>
        <c:title>
          <c:tx>
            <c:rich>
              <a:bodyPr xmlns:a="http://schemas.openxmlformats.org/drawingml/2006/main"/>
              <a:lstStyle xmlns:a="http://schemas.openxmlformats.org/drawingml/2006/main"/>
              <a:p xmlns:a="http://schemas.openxmlformats.org/drawingml/2006/main">
                <a:r>
                  <a:t>Annual devices</a:t>
                </a:r>
              </a:p>
            </c:rich>
          </c:tx>
          <c:overlay val="0"/>
        </c:title>
        <c:numFmt formatCode="General" sourceLinked="1"/>
        <c:majorTickMark val="none"/>
        <c:minorTickMark val="none"/>
        <c:tickLblPos val="nextTo"/>
        <c:spPr>
          <a:ln xmlns:a="http://schemas.openxmlformats.org/drawingml/2006/main" w="9525" cmpd="sng">
            <a:solidFill>
              <a:schemeClr val="tx1"/>
            </a:solidFill>
          </a:ln>
        </c:spPr>
        <c:txPr>
          <a:bodyPr xmlns:a="http://schemas.openxmlformats.org/drawingml/2006/main" rot="-60000000" spcFirstLastPara="1" vert="horz" wrap="square" anchor="ctr" anchorCtr="1"/>
          <a:lstStyle xmlns:a="http://schemas.openxmlformats.org/drawingml/2006/main"/>
          <a:p xmlns:a="http://schemas.openxmlformats.org/drawingml/2006/main">
            <a:pPr>
              <a:defRPr sz="975" b="0" i="0" u="none" strike="noStrike" baseline="0">
                <a:solidFill>
                  <a:schemeClr val="tx1"/>
                </a:solidFill>
                <a:latin typeface="+mn-lt"/>
                <a:ea typeface="+mn-lt"/>
                <a:cs typeface="+mn-lt"/>
              </a:defRPr>
            </a:pPr>
          </a:p>
        </c:txPr>
        <c:crossAx val="1769229823"/>
        <c:crosses val="autoZero"/>
        <c:lblAlgn val="ctr"/>
        <c:noMultiLvlLbl val="0"/>
        <c:lblOffset val="100"/>
      </c:catAx>
      <c:valAx>
        <c:axId val="1769229823"/>
        <c:scaling>
          <c:orientation val="minMax"/>
          <c:min val="0"/>
        </c:scaling>
        <c:delete val="0"/>
        <c:axPos val="l"/>
        <c:majorGridlines>
          <c:spPr>
            <a:ln xmlns:a="http://schemas.openxmlformats.org/drawingml/2006/main" w="9525" cmpd="sng">
              <a:noFill/>
            </a:ln>
          </c:spPr>
        </c:majorGridlines>
        <c:title>
          <c:tx>
            <c:rich>
              <a:bodyPr xmlns:a="http://schemas.openxmlformats.org/drawingml/2006/main"/>
              <a:lstStyle xmlns:a="http://schemas.openxmlformats.org/drawingml/2006/main"/>
              <a:p xmlns:a="http://schemas.openxmlformats.org/drawingml/2006/main">
                <a:r>
                  <a:t>USD thousands</a:t>
                </a:r>
              </a:p>
            </c:rich>
          </c:tx>
          <c:overlay val="0"/>
        </c:title>
        <c:numFmt formatCode="0" sourceLinked="1"/>
        <c:majorTickMark val="none"/>
        <c:minorTickMark val="none"/>
        <c:tickLblPos val="nextTo"/>
        <c:spPr>
          <a:ln xmlns:a="http://schemas.openxmlformats.org/drawingml/2006/main">
            <a:noFill/>
          </a:ln>
        </c:spPr>
        <c:txPr>
          <a:bodyPr xmlns:a="http://schemas.openxmlformats.org/drawingml/2006/main" rot="-60000000" vert="horz" anchor="ctr" anchorCtr="1"/>
          <a:lstStyle xmlns:a="http://schemas.openxmlformats.org/drawingml/2006/main"/>
          <a:p xmlns:a="http://schemas.openxmlformats.org/drawingml/2006/main">
            <a:pPr>
              <a:defRPr sz="1050" b="0" i="0" u="none" strike="noStrike" baseline="0">
                <a:solidFill>
                  <a:schemeClr val="tx1"/>
                </a:solidFill>
                <a:latin typeface="Helvetica Neue Medium"/>
                <a:ea typeface="Helvetica Neue Medium"/>
                <a:cs typeface="Helvetica Neue Medium"/>
              </a:defRPr>
            </a:pPr>
          </a:p>
        </c:txPr>
        <c:crossAx val="1785928255"/>
        <c:crosses val="autoZero"/>
        <c:crossBetween val="between"/>
      </c:valAx>
      <c:spPr>
        <a:noFill xmlns:a="http://schemas.openxmlformats.org/drawingml/2006/main"/>
        <a:ln xmlns:a="http://schemas.openxmlformats.org/drawingml/2006/main">
          <a:noFill/>
        </a:ln>
      </c:spPr>
    </c:plotArea>
    <c:legend>
      <c:legendPos val="t"/>
      <c:layout>
        <c:manualLayout>
          <c:xMode val="edge"/>
          <c:yMode val="edge"/>
          <c:x val="0.5806745349794367"/>
          <c:y val="0.02738737462131148"/>
          <c:w val="0.3998733846690067"/>
          <c:h val="0.046123948895864915"/>
        </c:manualLayout>
      </c:layout>
      <c:overlay val="0"/>
      <c:spPr>
        <a:noFill xmlns:a="http://schemas.openxmlformats.org/drawingml/2006/main"/>
        <a:ln xmlns:a="http://schemas.openxmlformats.org/drawingml/2006/main">
          <a:noFill/>
        </a:ln>
      </c:spPr>
      <c:txPr>
        <a:bodyPr xmlns:a="http://schemas.openxmlformats.org/drawingml/2006/main" rot="0" vert="horz" anchor="ctr" anchorCtr="1"/>
        <a:lstStyle xmlns:a="http://schemas.openxmlformats.org/drawingml/2006/main"/>
        <a:p xmlns:a="http://schemas.openxmlformats.org/drawingml/2006/main">
          <a:pPr>
            <a:defRPr sz="1050" b="0" i="0" u="none" strike="noStrike" baseline="0">
              <a:solidFill>
                <a:schemeClr val="tx1">
                  <a:lumMod val="65000"/>
                  <a:lumOff val="35000"/>
                </a:schemeClr>
              </a:solidFill>
              <a:latin typeface="+mn-lt"/>
              <a:ea typeface="+mn-lt"/>
              <a:cs typeface="+mn-lt"/>
            </a:defRPr>
          </a:pPr>
        </a:p>
      </c:txPr>
    </c:legend>
    <c:plotVisOnly val="1"/>
    <c:dispBlanksAs val="gap"/>
  </c:chart>
  <c:spPr>
    <a:noFill xmlns:a="http://schemas.openxmlformats.org/drawingml/2006/main"/>
    <a:ln xmlns:a="http://schemas.openxmlformats.org/drawingml/2006/main">
      <a:noFill/>
    </a:ln>
  </c:spPr>
</c:chartSpace>
</file>

<file path=ppt/slides/charts/chart2.xml><?xml version="1.0" encoding="utf-8"?>
<c:chartSpace xmlns:mc="http://schemas.openxmlformats.org/markup-compatibility/2006" xmlns:c14="http://schemas.microsoft.com/office/drawing/2007/8/2/chart" xmlns:c="http://schemas.openxmlformats.org/drawingml/2006/chart" mc:Ignorable="c14">
  <c:lang val="en-US"/>
  <c:roundedCorners val="0"/>
  <mc:AlternateContent>
    <mc:Choice Requires="c14">
      <c14:style val="102"/>
    </mc:Choice>
    <mc:Fallback>
      <c:style val="2"/>
    </mc:Fallback>
  </mc:AlternateContent>
  <c:chart>
    <c:autoTitleDeleted val="1"/>
    <c:plotArea>
      <c:layout>
        <c:manualLayout>
          <c:layoutTarget val="inner"/>
          <c:xMode val="edge"/>
          <c:yMode val="edge"/>
          <c:x val="0.08245552360503024"/>
          <c:y val="0.16727494328876974"/>
          <c:w val="0.8907956446698214"/>
          <c:h val="0.6966469621926458"/>
        </c:manualLayout>
      </c:layout>
      <c:barChart>
        <c:barDir val="col"/>
        <c:grouping val="clustered"/>
        <c:varyColors val="0"/>
        <c:ser>
          <c:idx val="0"/>
          <c:order val="0"/>
          <c:tx>
            <c:v>Contribution</c:v>
          </c:tx>
          <c:spPr>
            <a:solidFill xmlns:a="http://schemas.openxmlformats.org/drawingml/2006/main">
              <a:schemeClr val="accent1"/>
            </a:solidFill>
            <a:ln xmlns:a="http://schemas.openxmlformats.org/drawingml/2006/main">
              <a:noFill/>
            </a:ln>
          </c:spPr>
          <c:invertIfNegative val="0"/>
          <c:dLbls>
            <c:numFmt formatCode="General"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050" b="1" i="0" u="none" strike="noStrike" kern="1200" baseline="0">
                    <a:solidFill>
                      <a:schemeClr val="bg1"/>
                    </a:solidFill>
                    <a:latin typeface="+mn-lt"/>
                    <a:ea typeface="+mn-lt"/>
                    <a:cs typeface="+mn-lt"/>
                  </a:defRPr>
                </a:pPr>
              </a:p>
            </c:txPr>
            <c:dLblPos val="inEnd"/>
            <c:showLegendKey val="0"/>
            <c:showVal val="1"/>
            <c:showCatName val="0"/>
            <c:showSerName val="0"/>
            <c:showPercent val="0"/>
            <c:showBubbleSize val="0"/>
            <c:showLeaderLines val="0"/>
            <c:leaderLines>
              <c:spPr>
                <a:ln xmlns:a="http://schemas.openxmlformats.org/drawingml/2006/main" w="9525" cmpd="sng">
                  <a:solidFill>
                    <a:schemeClr val="tx1">
                      <a:lumMod val="35000"/>
                      <a:lumOff val="65000"/>
                    </a:schemeClr>
                  </a:solidFill>
                </a:ln>
              </c:spPr>
            </c:leaderLines>
          </c:dLbls>
          <c:cat>
            <c:strRef>
              <c:f>'Chart Data'!$A$2:$A$5</c:f>
              <c:strCache>
                <c:ptCount val="4"/>
                <c:pt idx="0">
                  <c:v>$95</c:v>
                </c:pt>
                <c:pt idx="1">
                  <c:v>$110</c:v>
                </c:pt>
                <c:pt idx="2">
                  <c:v>$120</c:v>
                </c:pt>
                <c:pt idx="3">
                  <c:v>$160</c:v>
                </c:pt>
              </c:strCache>
            </c:strRef>
          </c:cat>
          <c:val>
            <c:numRef>
              <c:f>'Chart Data'!$B$2:$B$5</c:f>
              <c:numCache>
                <c:formatCode>General</c:formatCode>
                <c:ptCount val="4"/>
                <c:pt idx="0">
                  <c:v>114</c:v>
                </c:pt>
                <c:pt idx="1">
                  <c:v>99</c:v>
                </c:pt>
                <c:pt idx="2">
                  <c:v>89</c:v>
                </c:pt>
                <c:pt idx="3">
                  <c:v>49</c:v>
                </c:pt>
              </c:numCache>
            </c:numRef>
          </c:val>
        </c:ser>
        <c:dLbls>
          <c:showLegendKey val="0"/>
          <c:showVal val="0"/>
          <c:showCatName val="0"/>
          <c:showSerName val="0"/>
          <c:showPercent val="0"/>
          <c:showBubbleSize val="0"/>
          <c:showLeaderLines val="0"/>
        </c:dLbls>
        <c:gapWidth val="83"/>
        <c:axId val="1785928255"/>
        <c:axId val="1769229823"/>
      </c:barChart>
      <c:lineChart>
        <c:grouping val="standard"/>
        <c:varyColors val="0"/>
        <c:ser>
          <c:idx val="1"/>
          <c:order val="1"/>
          <c:tx>
            <c:v>Product cost</c:v>
          </c:tx>
          <c:spPr>
            <a:ln xmlns:a="http://schemas.openxmlformats.org/drawingml/2006/main" w="28575">
              <a:solidFill>
                <a:schemeClr val="tx2">
                  <a:lumMod val="50000"/>
                  <a:lumOff val="50000"/>
                </a:schemeClr>
              </a:solidFill>
            </a:ln>
          </c:spPr>
          <c:marker>
            <c:symbol val="circle"/>
            <c:size val="6"/>
            <c:spPr>
              <a:solidFill xmlns:a="http://schemas.openxmlformats.org/drawingml/2006/main">
                <a:schemeClr val="tx2">
                  <a:lumMod val="50000"/>
                  <a:lumOff val="50000"/>
                </a:schemeClr>
              </a:solidFill>
              <a:ln xmlns:a="http://schemas.openxmlformats.org/drawingml/2006/main" w="9525">
                <a:solidFill>
                  <a:schemeClr val="tx2">
                    <a:lumMod val="50000"/>
                    <a:lumOff val="50000"/>
                  </a:schemeClr>
                </a:solidFill>
              </a:ln>
            </c:spPr>
          </c:marker>
          <c:dLbls>
            <c:numFmt formatCode="General" sourceLinked="0"/>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050" b="1" i="0" u="none" strike="noStrike" kern="1200" baseline="0">
                    <a:solidFill>
                      <a:schemeClr val="tx1"/>
                    </a:solidFill>
                    <a:latin typeface="+mn-lt"/>
                    <a:ea typeface="+mn-lt"/>
                    <a:cs typeface="+mn-lt"/>
                  </a:defRPr>
                </a:pPr>
              </a:p>
            </c:txPr>
            <c:dLblPos val="t"/>
            <c:showLegendKey val="0"/>
            <c:showVal val="1"/>
            <c:showCatName val="0"/>
            <c:showSerName val="0"/>
            <c:showPercent val="0"/>
            <c:showBubbleSize val="0"/>
            <c:showLeaderLines val="0"/>
            <c:leaderLines>
              <c:spPr>
                <a:ln xmlns:a="http://schemas.openxmlformats.org/drawingml/2006/main" w="9525" cmpd="sng">
                  <a:solidFill>
                    <a:schemeClr val="tx1">
                      <a:lumMod val="35000"/>
                      <a:lumOff val="65000"/>
                    </a:schemeClr>
                  </a:solidFill>
                </a:ln>
              </c:spPr>
            </c:leaderLines>
          </c:dLbls>
          <c:cat>
            <c:strRef>
              <c:f>'Chart Data'!$C$2:$C$5</c:f>
              <c:strCache>
                <c:ptCount val="4"/>
                <c:pt idx="0">
                  <c:v>$95</c:v>
                </c:pt>
                <c:pt idx="1">
                  <c:v>$110</c:v>
                </c:pt>
                <c:pt idx="2">
                  <c:v>$120</c:v>
                </c:pt>
                <c:pt idx="3">
                  <c:v>$160</c:v>
                </c:pt>
              </c:strCache>
            </c:strRef>
          </c:cat>
          <c:val>
            <c:numRef>
              <c:f>'Chart Data'!$D$2:$D$5</c:f>
              <c:numCache>
                <c:formatCode>General</c:formatCode>
                <c:ptCount val="4"/>
                <c:pt idx="0">
                  <c:v>155</c:v>
                </c:pt>
                <c:pt idx="1">
                  <c:v>170</c:v>
                </c:pt>
                <c:pt idx="2">
                  <c:v>180</c:v>
                </c:pt>
                <c:pt idx="3">
                  <c:v>220</c:v>
                </c:pt>
              </c:numCache>
            </c:numRef>
          </c:val>
          <c:smooth val="0"/>
        </c:ser>
        <c:dLbls>
          <c:showLegendKey val="0"/>
          <c:showVal val="0"/>
          <c:showCatName val="0"/>
          <c:showSerName val="0"/>
          <c:showPercent val="0"/>
          <c:showBubbleSize val="0"/>
          <c:showLeaderLines val="0"/>
        </c:dLbls>
        <c:smooth val="0"/>
        <c:axId val="1785928255"/>
        <c:axId val="1769229823"/>
      </c:lineChart>
      <c:catAx>
        <c:axId val="1785928255"/>
        <c:scaling>
          <c:orientation val="minMax"/>
        </c:scaling>
        <c:delete val="0"/>
        <c:axPos val="b"/>
        <c:title>
          <c:tx>
            <c:rich>
              <a:bodyPr xmlns:a="http://schemas.openxmlformats.org/drawingml/2006/main"/>
              <a:lstStyle xmlns:a="http://schemas.openxmlformats.org/drawingml/2006/main"/>
              <a:p xmlns:a="http://schemas.openxmlformats.org/drawingml/2006/main">
                <a:r>
                  <a:t>BOM assumption</a:t>
                </a:r>
              </a:p>
            </c:rich>
          </c:tx>
          <c:overlay val="0"/>
        </c:title>
        <c:numFmt formatCode="General" sourceLinked="1"/>
        <c:majorTickMark val="none"/>
        <c:minorTickMark val="none"/>
        <c:tickLblPos val="nextTo"/>
        <c:spPr>
          <a:ln xmlns:a="http://schemas.openxmlformats.org/drawingml/2006/main" w="9525" cmpd="sng">
            <a:solidFill>
              <a:schemeClr val="tx1"/>
            </a:solidFill>
          </a:ln>
        </c:spPr>
        <c:txPr>
          <a:bodyPr xmlns:a="http://schemas.openxmlformats.org/drawingml/2006/main" rot="-60000000" spcFirstLastPara="1" vert="horz" wrap="square" anchor="ctr" anchorCtr="1"/>
          <a:lstStyle xmlns:a="http://schemas.openxmlformats.org/drawingml/2006/main"/>
          <a:p xmlns:a="http://schemas.openxmlformats.org/drawingml/2006/main">
            <a:pPr>
              <a:defRPr sz="975" b="0" i="0" u="none" strike="noStrike" baseline="0">
                <a:solidFill>
                  <a:schemeClr val="tx1"/>
                </a:solidFill>
                <a:latin typeface="+mn-lt"/>
                <a:ea typeface="+mn-lt"/>
                <a:cs typeface="+mn-lt"/>
              </a:defRPr>
            </a:pPr>
          </a:p>
        </c:txPr>
        <c:crossAx val="1769229823"/>
        <c:crosses val="autoZero"/>
        <c:lblAlgn val="ctr"/>
        <c:noMultiLvlLbl val="0"/>
        <c:lblOffset val="100"/>
      </c:catAx>
      <c:valAx>
        <c:axId val="1769229823"/>
        <c:scaling>
          <c:orientation val="minMax"/>
          <c:min val="0"/>
        </c:scaling>
        <c:delete val="0"/>
        <c:axPos val="l"/>
        <c:majorGridlines>
          <c:spPr>
            <a:ln xmlns:a="http://schemas.openxmlformats.org/drawingml/2006/main" w="9525" cmpd="sng">
              <a:noFill/>
            </a:ln>
          </c:spPr>
        </c:majorGridlines>
        <c:title>
          <c:tx>
            <c:rich>
              <a:bodyPr xmlns:a="http://schemas.openxmlformats.org/drawingml/2006/main"/>
              <a:lstStyle xmlns:a="http://schemas.openxmlformats.org/drawingml/2006/main"/>
              <a:p xmlns:a="http://schemas.openxmlformats.org/drawingml/2006/main">
                <a:r>
                  <a:t>USD per device</a:t>
                </a:r>
              </a:p>
            </c:rich>
          </c:tx>
          <c:overlay val="0"/>
        </c:title>
        <c:numFmt formatCode="0" sourceLinked="1"/>
        <c:majorTickMark val="none"/>
        <c:minorTickMark val="none"/>
        <c:tickLblPos val="nextTo"/>
        <c:spPr>
          <a:ln xmlns:a="http://schemas.openxmlformats.org/drawingml/2006/main">
            <a:noFill/>
          </a:ln>
        </c:spPr>
        <c:txPr>
          <a:bodyPr xmlns:a="http://schemas.openxmlformats.org/drawingml/2006/main" rot="-60000000" vert="horz" anchor="ctr" anchorCtr="1"/>
          <a:lstStyle xmlns:a="http://schemas.openxmlformats.org/drawingml/2006/main"/>
          <a:p xmlns:a="http://schemas.openxmlformats.org/drawingml/2006/main">
            <a:pPr>
              <a:defRPr sz="1050" b="0" i="0" u="none" strike="noStrike" baseline="0">
                <a:solidFill>
                  <a:schemeClr val="tx1"/>
                </a:solidFill>
                <a:latin typeface="Helvetica Neue Medium"/>
                <a:ea typeface="Helvetica Neue Medium"/>
                <a:cs typeface="Helvetica Neue Medium"/>
              </a:defRPr>
            </a:pPr>
          </a:p>
        </c:txPr>
        <c:crossAx val="1785928255"/>
        <c:crosses val="autoZero"/>
        <c:crossBetween val="between"/>
      </c:valAx>
      <c:spPr>
        <a:noFill xmlns:a="http://schemas.openxmlformats.org/drawingml/2006/main"/>
        <a:ln xmlns:a="http://schemas.openxmlformats.org/drawingml/2006/main">
          <a:noFill/>
        </a:ln>
      </c:spPr>
    </c:plotArea>
    <c:legend>
      <c:legendPos val="t"/>
      <c:layout>
        <c:manualLayout>
          <c:xMode val="edge"/>
          <c:yMode val="edge"/>
          <c:x val="0.5806745349794367"/>
          <c:y val="0.02738737462131148"/>
          <c:w val="0.3998733846690067"/>
          <c:h val="0.046123948895864915"/>
        </c:manualLayout>
      </c:layout>
      <c:overlay val="0"/>
      <c:spPr>
        <a:noFill xmlns:a="http://schemas.openxmlformats.org/drawingml/2006/main"/>
        <a:ln xmlns:a="http://schemas.openxmlformats.org/drawingml/2006/main">
          <a:noFill/>
        </a:ln>
      </c:spPr>
      <c:txPr>
        <a:bodyPr xmlns:a="http://schemas.openxmlformats.org/drawingml/2006/main" rot="0" vert="horz" anchor="ctr" anchorCtr="1"/>
        <a:lstStyle xmlns:a="http://schemas.openxmlformats.org/drawingml/2006/main"/>
        <a:p xmlns:a="http://schemas.openxmlformats.org/drawingml/2006/main">
          <a:pPr>
            <a:defRPr sz="1050" b="0" i="0" u="none" strike="noStrike" baseline="0">
              <a:solidFill>
                <a:schemeClr val="tx1">
                  <a:lumMod val="65000"/>
                  <a:lumOff val="35000"/>
                </a:schemeClr>
              </a:solidFill>
              <a:latin typeface="+mn-lt"/>
              <a:ea typeface="+mn-lt"/>
              <a:cs typeface="+mn-lt"/>
            </a:defRPr>
          </a:pPr>
        </a:p>
      </c:txPr>
    </c:legend>
    <c:plotVisOnly val="1"/>
    <c:dispBlanksAs val="gap"/>
  </c:chart>
  <c:spPr>
    <a:noFill xmlns:a="http://schemas.openxmlformats.org/drawingml/2006/main"/>
    <a:ln xmlns:a="http://schemas.openxmlformats.org/drawingml/2006/main">
      <a:noFill/>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706809B0-D483-45C1-B580-B57BB5CC520A}"/>
              </a:ext>
            </a:extLst>
          </p:cNvPr>
          <p:cNvSpPr>
            <a:spLocks xmlns:a="http://schemas.openxmlformats.org/drawingml/2006/main" noGrp="1"/>
          </p:cNvSpPr>
          <p:nvPr>
            <p:ph type="ctrTitle" idx="0"/>
          </p:nvPr>
        </p:nvSpPr>
        <p:spPr>
          <a:xfrm xmlns:a="http://schemas.openxmlformats.org/drawingml/2006/main">
            <a:off x="569969" y="1444887"/>
            <a:ext cx="9448800" cy="1726468"/>
          </a:xfrm>
        </p:spPr>
        <p:txBody>
          <a:bodyPr xmlns:a="http://schemas.openxmlformats.org/drawingml/2006/main" anchor="t">
            <a:noAutofit/>
          </a:bodyPr>
          <a:lstStyle xmlns:a="http://schemas.openxmlformats.org/drawingml/2006/main">
            <a:defPPr algn="l">
              <a:defRPr sz="5500" b="1">
                <a:solidFill>
                  <a:srgbClr val="3357B8"/>
                </a:solidFill>
                <a:latin typeface="Lora Medium"/>
                <a:ea typeface="Lora Medium"/>
                <a:cs typeface="Lora Medium"/>
              </a:defRPr>
            </a:defPPr>
            <a:lvl1pPr algn="l">
              <a:buNone/>
              <a:defRPr sz="5500" b="1">
                <a:solidFill>
                  <a:srgbClr val="3357B8"/>
                </a:solidFill>
                <a:latin typeface="Lora Medium"/>
                <a:ea typeface="Lora Medium"/>
                <a:cs typeface="Lora Medium"/>
              </a:defRPr>
            </a:lvl1pPr>
            <a:lvl2pPr algn="l">
              <a:buNone/>
              <a:defRPr sz="5500" b="1">
                <a:solidFill>
                  <a:srgbClr val="3357B8"/>
                </a:solidFill>
                <a:latin typeface="Lora Medium"/>
                <a:ea typeface="Lora Medium"/>
                <a:cs typeface="Lora Medium"/>
              </a:defRPr>
            </a:lvl2pPr>
            <a:lvl3pPr algn="l">
              <a:buNone/>
              <a:defRPr sz="5500" b="1">
                <a:solidFill>
                  <a:srgbClr val="3357B8"/>
                </a:solidFill>
                <a:latin typeface="Lora Medium"/>
                <a:ea typeface="Lora Medium"/>
                <a:cs typeface="Lora Medium"/>
              </a:defRPr>
            </a:lvl3pPr>
            <a:lvl4pPr algn="l">
              <a:buNone/>
              <a:defRPr sz="5500" b="1">
                <a:solidFill>
                  <a:srgbClr val="3357B8"/>
                </a:solidFill>
                <a:latin typeface="Lora Medium"/>
                <a:ea typeface="Lora Medium"/>
                <a:cs typeface="Lora Medium"/>
              </a:defRPr>
            </a:lvl4pPr>
            <a:lvl5pPr algn="l">
              <a:buNone/>
              <a:defRPr sz="5500" b="1">
                <a:solidFill>
                  <a:srgbClr val="3357B8"/>
                </a:solidFill>
                <a:latin typeface="Lora Medium"/>
                <a:ea typeface="Lora Medium"/>
                <a:cs typeface="Lora Medium"/>
              </a:defRPr>
            </a:lvl5pPr>
            <a:lvl6pPr algn="l">
              <a:buNone/>
              <a:defRPr sz="5500" b="1">
                <a:solidFill>
                  <a:srgbClr val="3357B8"/>
                </a:solidFill>
                <a:latin typeface="Lora Medium"/>
                <a:ea typeface="Lora Medium"/>
                <a:cs typeface="Lora Medium"/>
              </a:defRPr>
            </a:lvl6pPr>
            <a:lvl7pPr algn="l">
              <a:buNone/>
              <a:defRPr sz="5500" b="1">
                <a:solidFill>
                  <a:srgbClr val="3357B8"/>
                </a:solidFill>
                <a:latin typeface="Lora Medium"/>
                <a:ea typeface="Lora Medium"/>
                <a:cs typeface="Lora Medium"/>
              </a:defRPr>
            </a:lvl7pPr>
            <a:lvl8pPr algn="l">
              <a:buNone/>
              <a:defRPr sz="5500" b="1">
                <a:solidFill>
                  <a:srgbClr val="3357B8"/>
                </a:solidFill>
                <a:latin typeface="Lora Medium"/>
                <a:ea typeface="Lora Medium"/>
                <a:cs typeface="Lora Medium"/>
              </a:defRPr>
            </a:lvl8pPr>
            <a:lvl9pPr algn="l">
              <a:buNone/>
              <a:defRPr sz="5500" b="1">
                <a:solidFill>
                  <a:srgbClr val="3357B8"/>
                </a:solidFill>
                <a:latin typeface="Lora Medium"/>
                <a:ea typeface="Lora Medium"/>
                <a:cs typeface="Lora Medium"/>
              </a:defRPr>
            </a:lvl9pPr>
          </a:lstStyle>
          <a:p xmlns:a="http://schemas.openxmlformats.org/drawingml/2006/main">
            <a:pPr algn="l">
              <a:buNone/>
              <a:defRPr sz="5500" b="1">
                <a:solidFill>
                  <a:srgbClr val="3357B8"/>
                </a:solidFill>
                <a:latin typeface="Lora Medium"/>
                <a:ea typeface="Lora Medium"/>
                <a:cs typeface="Lora Medium"/>
              </a:defRPr>
            </a:pPr>
            <a:r>
              <a:rPr sz="5500" b="1">
                <a:solidFill>
                  <a:srgbClr val="3357B8"/>
                </a:solidFill>
                <a:latin typeface="Lora Medium"/>
                <a:ea typeface="Lora Medium"/>
                <a:cs typeface="Lora Medium"/>
              </a:rPr>
              <a:t>Ally Vision</a:t>
            </a:r>
          </a:p>
          <a:p xmlns:a="http://schemas.openxmlformats.org/drawingml/2006/main">
            <a:pPr algn="l">
              <a:buNone/>
              <a:defRPr sz="5500" b="1">
                <a:solidFill>
                  <a:srgbClr val="3357B8"/>
                </a:solidFill>
                <a:latin typeface="Lora Medium"/>
                <a:ea typeface="Lora Medium"/>
                <a:cs typeface="Lora Medium"/>
              </a:defRPr>
            </a:pPr>
            <a:r>
              <a:rPr sz="5500" b="1">
                <a:solidFill>
                  <a:srgbClr val="3357B8"/>
                </a:solidFill>
                <a:latin typeface="Lora Medium"/>
                <a:ea typeface="Lora Medium"/>
                <a:cs typeface="Lora Medium"/>
              </a:rPr>
              <a:t>Business Model Review</a:t>
            </a:r>
          </a:p>
        </p:txBody>
      </p:sp>
      <p:sp>
        <p:nvSpPr>
          <p:cNvPr id="5" name="Subtitle 4">
            <a:extLst xmlns:a="http://schemas.openxmlformats.org/drawingml/2006/main">
              <a:ext uri="{FF2B5EF4-FFF2-40B4-BE49-F238E27FC236}">
                <a16:creationId xmlns:a16="http://schemas.microsoft.com/office/drawing/2014/main" id="{7DD11E6E-01C0-D6E4-28D7-D7F6B94AF61C}"/>
              </a:ext>
            </a:extLst>
          </p:cNvPr>
          <p:cNvSpPr>
            <a:spLocks xmlns:a="http://schemas.openxmlformats.org/drawingml/2006/main" noGrp="1"/>
          </p:cNvSpPr>
          <p:nvPr>
            <p:ph type="subTitle" idx="1"/>
          </p:nvPr>
        </p:nvSpPr>
        <p:spPr>
          <a:xfrm xmlns:a="http://schemas.openxmlformats.org/drawingml/2006/main">
            <a:off x="603019" y="5077241"/>
            <a:ext cx="6304556" cy="1076208"/>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defPPr algn="l">
              <a:defRPr sz="1400">
                <a:solidFill>
                  <a:srgbClr val="5E6576"/>
                </a:solidFill>
                <a:latin typeface="Roboto"/>
                <a:ea typeface="Roboto"/>
                <a:cs typeface="Roboto"/>
              </a:defRPr>
            </a:defPPr>
            <a:lvl1pPr algn="l">
              <a:buNone/>
              <a:defRPr sz="1400">
                <a:solidFill>
                  <a:srgbClr val="5E6576"/>
                </a:solidFill>
                <a:latin typeface="Roboto"/>
                <a:ea typeface="Roboto"/>
                <a:cs typeface="Roboto"/>
              </a:defRPr>
            </a:lvl1pPr>
            <a:lvl2pPr algn="l">
              <a:buNone/>
              <a:defRPr sz="1400">
                <a:solidFill>
                  <a:srgbClr val="5E6576"/>
                </a:solidFill>
                <a:latin typeface="Roboto"/>
                <a:ea typeface="Roboto"/>
                <a:cs typeface="Roboto"/>
              </a:defRPr>
            </a:lvl2pPr>
            <a:lvl3pPr algn="l">
              <a:buNone/>
              <a:defRPr sz="1400">
                <a:solidFill>
                  <a:srgbClr val="5E6576"/>
                </a:solidFill>
                <a:latin typeface="Roboto"/>
                <a:ea typeface="Roboto"/>
                <a:cs typeface="Roboto"/>
              </a:defRPr>
            </a:lvl3pPr>
            <a:lvl4pPr algn="l">
              <a:buNone/>
              <a:defRPr sz="1400">
                <a:solidFill>
                  <a:srgbClr val="5E6576"/>
                </a:solidFill>
                <a:latin typeface="Roboto"/>
                <a:ea typeface="Roboto"/>
                <a:cs typeface="Roboto"/>
              </a:defRPr>
            </a:lvl4pPr>
            <a:lvl5pPr algn="l">
              <a:buNone/>
              <a:defRPr sz="1400">
                <a:solidFill>
                  <a:srgbClr val="5E6576"/>
                </a:solidFill>
                <a:latin typeface="Roboto"/>
                <a:ea typeface="Roboto"/>
                <a:cs typeface="Roboto"/>
              </a:defRPr>
            </a:lvl5pPr>
            <a:lvl6pPr algn="l">
              <a:buNone/>
              <a:defRPr sz="1400">
                <a:solidFill>
                  <a:srgbClr val="5E6576"/>
                </a:solidFill>
                <a:latin typeface="Roboto"/>
                <a:ea typeface="Roboto"/>
                <a:cs typeface="Roboto"/>
              </a:defRPr>
            </a:lvl6pPr>
            <a:lvl7pPr algn="l">
              <a:buNone/>
              <a:defRPr sz="1400">
                <a:solidFill>
                  <a:srgbClr val="5E6576"/>
                </a:solidFill>
                <a:latin typeface="Roboto"/>
                <a:ea typeface="Roboto"/>
                <a:cs typeface="Roboto"/>
              </a:defRPr>
            </a:lvl7pPr>
            <a:lvl8pPr algn="l">
              <a:buNone/>
              <a:defRPr sz="1400">
                <a:solidFill>
                  <a:srgbClr val="5E6576"/>
                </a:solidFill>
                <a:latin typeface="Roboto"/>
                <a:ea typeface="Roboto"/>
                <a:cs typeface="Roboto"/>
              </a:defRPr>
            </a:lvl8pPr>
            <a:lvl9pPr algn="l">
              <a:buNone/>
              <a:defRPr sz="1400">
                <a:solidFill>
                  <a:srgbClr val="5E6576"/>
                </a:solidFill>
                <a:latin typeface="Roboto"/>
                <a:ea typeface="Roboto"/>
                <a:cs typeface="Roboto"/>
              </a:defRPr>
            </a:lvl9pPr>
          </a:lstStyle>
          <a:p xmlns:a="http://schemas.openxmlformats.org/drawingml/2006/main">
            <a:pPr algn="l">
              <a:lnSpc>
                <a:spcPct val="120000"/>
              </a:lnSpc>
              <a:buNone/>
              <a:defRPr sz="1400">
                <a:solidFill>
                  <a:srgbClr val="5E6576"/>
                </a:solidFill>
                <a:latin typeface="Roboto"/>
                <a:ea typeface="Roboto"/>
                <a:cs typeface="Roboto"/>
              </a:defRPr>
            </a:pPr>
            <a:r>
              <a:rPr sz="1400">
                <a:solidFill>
                  <a:srgbClr val="5E6576"/>
                </a:solidFill>
                <a:latin typeface="Roboto"/>
                <a:ea typeface="Roboto"/>
                <a:cs typeface="Roboto"/>
              </a:rPr>
              <a:t>An affordable spatial navigation visor for blind users. Lean Canvas, Business Model Canvas, unit economics and an Egypt-first validation plan.</a:t>
            </a:r>
          </a:p>
        </p:txBody>
      </p:sp>
      <p:sp>
        <p:nvSpPr>
          <p:cNvPr id="6" name="Subtitle 4">
            <a:extLst xmlns:a="http://schemas.openxmlformats.org/drawingml/2006/main">
              <a:ext uri="{FF2B5EF4-FFF2-40B4-BE49-F238E27FC236}">
                <a16:creationId xmlns:a16="http://schemas.microsoft.com/office/drawing/2014/main" id="{C66AB198-0518-67DE-AB81-D65264FDA20F}"/>
              </a:ext>
            </a:extLst>
          </p:cNvPr>
          <p:cNvSpPr>
            <a:spLocks xmlns:a="http://schemas.openxmlformats.org/drawingml/2006/main" noGrp="1"/>
          </p:cNvSpPr>
          <p:nvPr/>
        </p:nvSpPr>
        <p:spPr>
          <a:xfrm xmlns:a="http://schemas.openxmlformats.org/drawingml/2006/main">
            <a:off x="603018" y="4606175"/>
            <a:ext cx="6304556" cy="320279"/>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defPPr algn="l">
              <a:defRPr sz="1600" b="1">
                <a:solidFill>
                  <a:srgbClr val="3357B8"/>
                </a:solidFill>
                <a:latin typeface="Roboto SemiBold"/>
                <a:ea typeface="Roboto SemiBold"/>
                <a:cs typeface="Roboto SemiBold"/>
              </a:defRPr>
            </a:defPPr>
            <a:lvl1pPr marL="0" indent="0" algn="l" defTabSz="914400">
              <a:lnSpc>
                <a:spcPct val="90000"/>
              </a:lnSpc>
              <a:spcBef>
                <a:spcPts val="1000"/>
              </a:spcBef>
              <a:buFont typeface="Arial"/>
              <a:buNone/>
              <a:defRPr sz="2400" b="1" kern="1200">
                <a:solidFill>
                  <a:schemeClr val="tx1"/>
                </a:solidFill>
                <a:latin typeface="+mn-lt"/>
                <a:ea typeface="+mn-lt"/>
                <a:cs typeface="+mn-lt"/>
              </a:defRPr>
            </a:lvl1pPr>
            <a:lvl2pPr marL="457200" indent="0" algn="ctr" defTabSz="914400">
              <a:lnSpc>
                <a:spcPct val="90000"/>
              </a:lnSpc>
              <a:spcBef>
                <a:spcPts val="500"/>
              </a:spcBef>
              <a:buFont typeface="Arial"/>
              <a:buNone/>
              <a:defRPr sz="2000" b="1" kern="1200">
                <a:solidFill>
                  <a:schemeClr val="tx1"/>
                </a:solidFill>
                <a:latin typeface="+mn-lt"/>
                <a:ea typeface="+mn-lt"/>
                <a:cs typeface="+mn-lt"/>
              </a:defRPr>
            </a:lvl2pPr>
            <a:lvl3pPr marL="914400" indent="0" algn="ctr" defTabSz="914400">
              <a:lnSpc>
                <a:spcPct val="90000"/>
              </a:lnSpc>
              <a:spcBef>
                <a:spcPts val="500"/>
              </a:spcBef>
              <a:buFont typeface="Arial"/>
              <a:buNone/>
              <a:defRPr sz="1800" b="1"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b="1"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b="1"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b="1"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b="1"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b="1"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b="1" kern="1200">
                <a:solidFill>
                  <a:schemeClr val="tx1"/>
                </a:solidFill>
                <a:latin typeface="+mn-lt"/>
                <a:ea typeface="+mn-lt"/>
                <a:cs typeface="+mn-lt"/>
              </a:defRPr>
            </a:lvl9pPr>
          </a:lstStyle>
          <a:p xmlns:a="http://schemas.openxmlformats.org/drawingml/2006/main">
            <a:pPr algn="l">
              <a:buNone/>
              <a:defRPr sz="1600" b="1">
                <a:solidFill>
                  <a:srgbClr val="3357B8"/>
                </a:solidFill>
                <a:latin typeface="Roboto SemiBold"/>
                <a:ea typeface="Roboto SemiBold"/>
                <a:cs typeface="Roboto SemiBold"/>
              </a:defRPr>
            </a:pPr>
            <a:r>
              <a:rPr sz="1600" b="1">
                <a:solidFill>
                  <a:srgbClr val="3357B8"/>
                </a:solidFill>
                <a:latin typeface="Roboto SemiBold"/>
                <a:ea typeface="Roboto SemiBold"/>
                <a:cs typeface="Roboto SemiBold"/>
              </a:rPr>
              <a:t>October 2026</a:t>
            </a:r>
          </a:p>
        </p:txBody>
      </p:sp>
      <p:sp>
        <p:nvSpPr>
          <p:cNvPr id="10" name="Subtitle 4">
            <a:extLst xmlns:a="http://schemas.openxmlformats.org/drawingml/2006/main">
              <a:ext uri="{FF2B5EF4-FFF2-40B4-BE49-F238E27FC236}">
                <a16:creationId xmlns:a16="http://schemas.microsoft.com/office/drawing/2014/main" id="{CC2E0538-5645-7BC8-CF3A-FDF31FD97820}"/>
              </a:ext>
            </a:extLst>
          </p:cNvPr>
          <p:cNvSpPr>
            <a:spLocks xmlns:a="http://schemas.openxmlformats.org/drawingml/2006/main" noGrp="1"/>
          </p:cNvSpPr>
          <p:nvPr/>
        </p:nvSpPr>
        <p:spPr>
          <a:xfrm xmlns:a="http://schemas.openxmlformats.org/drawingml/2006/main">
            <a:off x="603018" y="555606"/>
            <a:ext cx="3578411" cy="34517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800">
                <a:solidFill>
                  <a:srgbClr val="B7BCC6"/>
                </a:solidFill>
                <a:latin typeface="Roboto Medium"/>
                <a:ea typeface="Roboto Medium"/>
                <a:cs typeface="Roboto Medium"/>
              </a:defRPr>
            </a:defPPr>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l">
              <a:buNone/>
              <a:defRPr sz="1800">
                <a:solidFill>
                  <a:srgbClr val="B7BCC6"/>
                </a:solidFill>
                <a:latin typeface="Roboto Medium"/>
                <a:ea typeface="Roboto Medium"/>
                <a:cs typeface="Roboto Medium"/>
              </a:defRPr>
            </a:pPr>
            <a:r>
              <a:rPr sz="1800">
                <a:solidFill>
                  <a:srgbClr val="B7BCC6"/>
                </a:solidFill>
                <a:latin typeface="Roboto Medium"/>
                <a:ea typeface="Roboto Medium"/>
                <a:cs typeface="Roboto Medium"/>
              </a:rPr>
              <a:t>ALLY VISION</a:t>
            </a:r>
          </a:p>
        </p:txBody>
      </p:sp>
      <p:sp>
        <p:nvSpPr>
          <p:cNvPr id="7" name="Straight Connector 6">
            <a:extLst xmlns:a="http://schemas.openxmlformats.org/drawingml/2006/main">
              <a:ext uri="{FF2B5EF4-FFF2-40B4-BE49-F238E27FC236}">
                <a16:creationId xmlns:a16="http://schemas.microsoft.com/office/drawing/2014/main" id="{D56E6477-E8DD-41D1-8192-CFE61ECD7759}"/>
              </a:ext>
            </a:extLst>
          </p:cNvPr>
          <p:cNvSpPr>
            <a:spLocks xmlns:a="http://schemas.openxmlformats.org/drawingml/2006/main" noGrp="1"/>
          </p:cNvSpPr>
          <p:nvPr/>
        </p:nvSpPr>
        <p:spPr>
          <a:xfrm xmlns:a="http://schemas.openxmlformats.org/drawingml/2006/main">
            <a:off x="-183260" y="3934067"/>
            <a:ext cx="12558520" cy="0"/>
          </a:xfrm>
          <a:prstGeom xmlns:a="http://schemas.openxmlformats.org/drawingml/2006/main" prst="line">
            <a:avLst/>
          </a:prstGeom>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extLst>
      <p:ext uri="{BB962C8B-B14F-4D97-AF65-F5344CB8AC3E}">
        <p14:creationId xmlns:p14="http://schemas.microsoft.com/office/powerpoint/2010/main" val="168508855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3108432E-6CC9-7470-65A5-7F6A330EFB4F}"/>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00000000-1234-1234-1234-123412341234}" type="slidenum">
              <a:t>2</a:t>
            </a:fld>
            <a:endParaRPr/>
          </a:p>
        </p:txBody>
      </p:sp>
      <p:sp>
        <p:nvSpPr>
          <p:cNvPr id="3" name="Title 2">
            <a:extLst xmlns:a="http://schemas.openxmlformats.org/drawingml/2006/main">
              <a:ext uri="{FF2B5EF4-FFF2-40B4-BE49-F238E27FC236}">
                <a16:creationId xmlns:a16="http://schemas.microsoft.com/office/drawing/2014/main" id="{40BD946D-556A-ECA8-679C-19ABE963A4E5}"/>
              </a:ext>
            </a:extLst>
          </p:cNvPr>
          <p:cNvSpPr>
            <a:spLocks xmlns:a="http://schemas.openxmlformats.org/drawingml/2006/main" noGrp="1"/>
          </p:cNvSpPr>
          <p:nvPr>
            <p:ph type="title" idx="0"/>
          </p:nvPr>
        </p:nvSpPr>
        <p:spPr>
          <a:xfrm xmlns:a="http://schemas.openxmlformats.org/drawingml/2006/main">
            <a:off x="393699" y="1046195"/>
            <a:ext cx="9448800" cy="985805"/>
          </a:xfrm>
        </p:spPr>
        <p:txBody>
          <a:bodyPr xmlns:a="http://schemas.openxmlformats.org/drawingml/2006/main">
            <a:noAutofit/>
          </a:bodyPr>
          <a:lstStyle xmlns:a="http://schemas.openxmlformats.org/drawingml/2006/main">
            <a:defPPr algn="l">
              <a:defRPr sz="2900" b="1">
                <a:solidFill>
                  <a:srgbClr val="000000"/>
                </a:solidFill>
                <a:latin typeface="Lora SemiBold"/>
                <a:ea typeface="Lora SemiBold"/>
                <a:cs typeface="Lora SemiBold"/>
              </a:defRPr>
            </a:defPPr>
            <a:lvl1pPr algn="l">
              <a:buNone/>
              <a:defRPr sz="2900" b="1">
                <a:solidFill>
                  <a:srgbClr val="000000"/>
                </a:solidFill>
                <a:latin typeface="Lora SemiBold"/>
                <a:ea typeface="Lora SemiBold"/>
                <a:cs typeface="Lora SemiBold"/>
              </a:defRPr>
            </a:lvl1pPr>
            <a:lvl2pPr algn="l">
              <a:buNone/>
              <a:defRPr sz="2900" b="1">
                <a:solidFill>
                  <a:srgbClr val="000000"/>
                </a:solidFill>
                <a:latin typeface="Lora SemiBold"/>
                <a:ea typeface="Lora SemiBold"/>
                <a:cs typeface="Lora SemiBold"/>
              </a:defRPr>
            </a:lvl2pPr>
            <a:lvl3pPr algn="l">
              <a:buNone/>
              <a:defRPr sz="2900" b="1">
                <a:solidFill>
                  <a:srgbClr val="000000"/>
                </a:solidFill>
                <a:latin typeface="Lora SemiBold"/>
                <a:ea typeface="Lora SemiBold"/>
                <a:cs typeface="Lora SemiBold"/>
              </a:defRPr>
            </a:lvl3pPr>
            <a:lvl4pPr algn="l">
              <a:buNone/>
              <a:defRPr sz="2900" b="1">
                <a:solidFill>
                  <a:srgbClr val="000000"/>
                </a:solidFill>
                <a:latin typeface="Lora SemiBold"/>
                <a:ea typeface="Lora SemiBold"/>
                <a:cs typeface="Lora SemiBold"/>
              </a:defRPr>
            </a:lvl4pPr>
            <a:lvl5pPr algn="l">
              <a:buNone/>
              <a:defRPr sz="2900" b="1">
                <a:solidFill>
                  <a:srgbClr val="000000"/>
                </a:solidFill>
                <a:latin typeface="Lora SemiBold"/>
                <a:ea typeface="Lora SemiBold"/>
                <a:cs typeface="Lora SemiBold"/>
              </a:defRPr>
            </a:lvl5pPr>
            <a:lvl6pPr algn="l">
              <a:buNone/>
              <a:defRPr sz="2900" b="1">
                <a:solidFill>
                  <a:srgbClr val="000000"/>
                </a:solidFill>
                <a:latin typeface="Lora SemiBold"/>
                <a:ea typeface="Lora SemiBold"/>
                <a:cs typeface="Lora SemiBold"/>
              </a:defRPr>
            </a:lvl6pPr>
            <a:lvl7pPr algn="l">
              <a:buNone/>
              <a:defRPr sz="2900" b="1">
                <a:solidFill>
                  <a:srgbClr val="000000"/>
                </a:solidFill>
                <a:latin typeface="Lora SemiBold"/>
                <a:ea typeface="Lora SemiBold"/>
                <a:cs typeface="Lora SemiBold"/>
              </a:defRPr>
            </a:lvl7pPr>
            <a:lvl8pPr algn="l">
              <a:buNone/>
              <a:defRPr sz="2900" b="1">
                <a:solidFill>
                  <a:srgbClr val="000000"/>
                </a:solidFill>
                <a:latin typeface="Lora SemiBold"/>
                <a:ea typeface="Lora SemiBold"/>
                <a:cs typeface="Lora SemiBold"/>
              </a:defRPr>
            </a:lvl8pPr>
            <a:lvl9pPr algn="l">
              <a:buNone/>
              <a:defRPr sz="2900" b="1">
                <a:solidFill>
                  <a:srgbClr val="000000"/>
                </a:solidFill>
                <a:latin typeface="Lora SemiBold"/>
                <a:ea typeface="Lora SemiBold"/>
                <a:cs typeface="Lora SemiBold"/>
              </a:defRPr>
            </a:lvl9pPr>
          </a:lstStyle>
          <a:p xmlns:a="http://schemas.openxmlformats.org/drawingml/2006/main">
            <a:pPr algn="l">
              <a:buNone/>
              <a:defRPr sz="2900" b="1">
                <a:solidFill>
                  <a:srgbClr val="000000"/>
                </a:solidFill>
                <a:latin typeface="Lora SemiBold"/>
                <a:ea typeface="Lora SemiBold"/>
                <a:cs typeface="Lora SemiBold"/>
              </a:defRPr>
            </a:pPr>
            <a:r>
              <a:rPr sz="2900" b="1">
                <a:solidFill>
                  <a:srgbClr val="000000"/>
                </a:solidFill>
                <a:latin typeface="Lora SemiBold"/>
                <a:ea typeface="Lora SemiBold"/>
                <a:cs typeface="Lora SemiBold"/>
              </a:rPr>
              <a:t>Business model and validation priorities</a:t>
            </a:r>
          </a:p>
        </p:txBody>
      </p:sp>
      <p:sp>
        <p:nvSpPr>
          <p:cNvPr id="5" name="Subtitle 4">
            <a:extLst xmlns:a="http://schemas.openxmlformats.org/drawingml/2006/main">
              <a:ext uri="{FF2B5EF4-FFF2-40B4-BE49-F238E27FC236}">
                <a16:creationId xmlns:a16="http://schemas.microsoft.com/office/drawing/2014/main" id="{173F7058-30A0-0125-1A90-B808A012B5B4}"/>
              </a:ext>
            </a:extLst>
          </p:cNvPr>
          <p:cNvSpPr>
            <a:spLocks xmlns:a="http://schemas.openxmlformats.org/drawingml/2006/main" noGrp="1"/>
          </p:cNvSpPr>
          <p:nvPr/>
        </p:nvSpPr>
        <p:spPr>
          <a:xfrm xmlns:a="http://schemas.openxmlformats.org/drawingml/2006/main">
            <a:off x="393699" y="392242"/>
            <a:ext cx="3578411" cy="34517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800">
                <a:solidFill>
                  <a:srgbClr val="3357B8"/>
                </a:solidFill>
                <a:latin typeface="Roboto Medium"/>
                <a:ea typeface="Roboto Medium"/>
                <a:cs typeface="Roboto Medium"/>
              </a:defRPr>
            </a:defPPr>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l">
              <a:buNone/>
              <a:defRPr sz="1800">
                <a:solidFill>
                  <a:srgbClr val="3357B8"/>
                </a:solidFill>
                <a:latin typeface="Roboto Medium"/>
                <a:ea typeface="Roboto Medium"/>
                <a:cs typeface="Roboto Medium"/>
              </a:defRPr>
            </a:pPr>
            <a:r>
              <a:rPr sz="1800">
                <a:solidFill>
                  <a:srgbClr val="3357B8"/>
                </a:solidFill>
                <a:latin typeface="Roboto Medium"/>
                <a:ea typeface="Roboto Medium"/>
                <a:cs typeface="Roboto Medium"/>
              </a:rPr>
              <a:t>Review agenda</a:t>
            </a:r>
          </a:p>
        </p:txBody>
      </p:sp>
      <p:graphicFrame>
        <p:nvGraphicFramePr>
          <p:cNvPr id="7" name="Table 6">
            <a:extLst xmlns:a="http://schemas.openxmlformats.org/drawingml/2006/main">
              <a:ext uri="{FF2B5EF4-FFF2-40B4-BE49-F238E27FC236}">
                <a16:creationId xmlns:a16="http://schemas.microsoft.com/office/drawing/2014/main" id="{5336D414-EB75-4528-8C4F-EB35CD416E3C}"/>
              </a:ext>
            </a:extLst>
          </p:cNvPr>
          <p:cNvGraphicFramePr/>
          <p:nvPr/>
        </p:nvGraphicFramePr>
        <p:xfrm>
          <a:off xmlns:a="http://schemas.openxmlformats.org/drawingml/2006/main" x="393700" y="2573020"/>
          <a:ext xmlns:a="http://schemas.openxmlformats.org/drawingml/2006/main" cx="11404600" cy="3566160"/>
        </p:xfrm>
        <a:graphic xmlns:a="http://schemas.openxmlformats.org/drawingml/2006/main">
          <a:graphicData uri="http://schemas.openxmlformats.org/drawingml/2006/table">
            <a:tbl>
              <a:tblPr firstRow="1" bandRow="1">
                <a:tableStyleId>{5C22544A-7EE6-4342-B048-85BDC9FD1C3A}</a:tableStyleId>
              </a:tblPr>
              <a:tblGrid>
                <a:gridCol w="627578"/>
                <a:gridCol w="6875813"/>
                <a:gridCol w="3901209"/>
              </a:tblGrid>
              <a:tr h="594360">
                <a:tc>
                  <a:txBody>
                    <a:bodyPr/>
                    <a:lstStyle/>
                    <a:p>
                      <a:pPr marL="0" marR="0" lvl="0" indent="0" algn="l" defTabSz="914400">
                        <a:lnSpc>
                          <a:spcPct val="100000"/>
                        </a:lnSpc>
                        <a:spcBef>
                          <a:spcPts val="0"/>
                        </a:spcBef>
                        <a:spcAft>
                          <a:spcPts val="0"/>
                        </a:spcAft>
                        <a:buClrTx/>
                        <a:buSzTx/>
                        <a:buFontTx/>
                        <a:buNone/>
                      </a:pPr>
                      <a:r>
                        <a:rPr sz="2300" b="0" i="0" u="none" strike="noStrike" cap="none" spc="0" baseline="0">
                          <a:ln>
                            <a:noFill/>
                          </a:ln>
                          <a:solidFill>
                            <a:schemeClr val="accent2">
                              <a:lumMod val="75000"/>
                            </a:schemeClr>
                          </a:solidFill>
                          <a:latin typeface="+mn-lt"/>
                          <a:ea typeface="+mn-lt"/>
                          <a:cs typeface="+mn-lt"/>
                        </a:rPr>
                        <a:t>01</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300" b="0" i="0" u="none" strike="noStrike" cap="none" spc="0" baseline="0">
                          <a:ln>
                            <a:noFill/>
                          </a:ln>
                          <a:solidFill>
                            <a:prstClr val="black"/>
                          </a:solidFill>
                          <a:latin typeface="+mn-lt"/>
                          <a:ea typeface="+mn-lt"/>
                          <a:cs typeface="+mn-lt"/>
                        </a:rPr>
                        <a:t>User needs and market scope</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600" b="0" i="0" u="none" strike="noStrike" cap="none" spc="0" baseline="0">
                          <a:ln>
                            <a:noFill/>
                          </a:ln>
                          <a:solidFill>
                            <a:schemeClr val="accent1"/>
                          </a:solidFill>
                          <a:latin typeface="Roboto Medium"/>
                          <a:ea typeface="Roboto Medium"/>
                          <a:cs typeface="Roboto Medium"/>
                        </a:rPr>
                        <a:t>Pages 3–5</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594360">
                <a:tc>
                  <a:txBody>
                    <a:bodyPr/>
                    <a:lstStyle/>
                    <a:p>
                      <a:pPr marL="0" marR="0" lvl="0" indent="0" algn="l" defTabSz="914400">
                        <a:lnSpc>
                          <a:spcPct val="100000"/>
                        </a:lnSpc>
                        <a:spcBef>
                          <a:spcPts val="0"/>
                        </a:spcBef>
                        <a:spcAft>
                          <a:spcPts val="0"/>
                        </a:spcAft>
                        <a:buClrTx/>
                        <a:buSzTx/>
                        <a:buFontTx/>
                        <a:buNone/>
                      </a:pPr>
                      <a:r>
                        <a:rPr sz="2300" b="0" i="0" u="none" strike="noStrike" cap="none" spc="0" baseline="0">
                          <a:ln>
                            <a:noFill/>
                          </a:ln>
                          <a:solidFill>
                            <a:schemeClr val="accent2">
                              <a:lumMod val="75000"/>
                            </a:schemeClr>
                          </a:solidFill>
                          <a:latin typeface="+mn-lt"/>
                          <a:ea typeface="+mn-lt"/>
                          <a:cs typeface="+mn-lt"/>
                        </a:rPr>
                        <a:t>02</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300" b="0" i="0" u="none" strike="noStrike" cap="none" spc="0" baseline="0">
                          <a:ln>
                            <a:noFill/>
                          </a:ln>
                          <a:solidFill>
                            <a:prstClr val="black"/>
                          </a:solidFill>
                          <a:latin typeface="+mn-lt"/>
                          <a:ea typeface="+mn-lt"/>
                          <a:cs typeface="+mn-lt"/>
                        </a:rPr>
                        <a:t>Value proposition and product</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600" b="0" i="0" u="none" strike="noStrike" cap="none" spc="0" baseline="0">
                          <a:ln>
                            <a:noFill/>
                          </a:ln>
                          <a:solidFill>
                            <a:schemeClr val="accent1"/>
                          </a:solidFill>
                          <a:latin typeface="Roboto Medium"/>
                          <a:ea typeface="Roboto Medium"/>
                          <a:cs typeface="Roboto Medium"/>
                        </a:rPr>
                        <a:t>Pages 6–7</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594360">
                <a:tc>
                  <a:txBody>
                    <a:bodyPr/>
                    <a:lstStyle/>
                    <a:p>
                      <a:pPr marL="0" marR="0" lvl="0" indent="0" algn="l" defTabSz="914400">
                        <a:lnSpc>
                          <a:spcPct val="100000"/>
                        </a:lnSpc>
                        <a:spcBef>
                          <a:spcPts val="0"/>
                        </a:spcBef>
                        <a:spcAft>
                          <a:spcPts val="0"/>
                        </a:spcAft>
                        <a:buClrTx/>
                        <a:buSzTx/>
                        <a:buFontTx/>
                        <a:buNone/>
                      </a:pPr>
                      <a:r>
                        <a:rPr sz="2300" b="0" i="0" u="none" strike="noStrike" cap="none" spc="0" baseline="0">
                          <a:ln>
                            <a:noFill/>
                          </a:ln>
                          <a:solidFill>
                            <a:schemeClr val="accent2">
                              <a:lumMod val="75000"/>
                            </a:schemeClr>
                          </a:solidFill>
                          <a:latin typeface="+mn-lt"/>
                          <a:ea typeface="+mn-lt"/>
                          <a:cs typeface="+mn-lt"/>
                        </a:rPr>
                        <a:t>03</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300" b="0" i="0" u="none" strike="noStrike" cap="none" spc="0" baseline="0">
                          <a:ln>
                            <a:noFill/>
                          </a:ln>
                          <a:solidFill>
                            <a:prstClr val="black"/>
                          </a:solidFill>
                          <a:latin typeface="+mn-lt"/>
                          <a:ea typeface="+mn-lt"/>
                          <a:cs typeface="+mn-lt"/>
                        </a:rPr>
                        <a:t>Channels and revenue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600" b="0" i="0" u="none" strike="noStrike" cap="none" spc="0" baseline="0">
                          <a:ln>
                            <a:noFill/>
                          </a:ln>
                          <a:solidFill>
                            <a:schemeClr val="accent1"/>
                          </a:solidFill>
                          <a:latin typeface="Roboto Medium"/>
                          <a:ea typeface="Roboto Medium"/>
                          <a:cs typeface="Roboto Medium"/>
                        </a:rPr>
                        <a:t>Pages 8–9</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594360">
                <a:tc>
                  <a:txBody>
                    <a:bodyPr/>
                    <a:lstStyle/>
                    <a:p>
                      <a:pPr marL="0" marR="0" lvl="0" indent="0" algn="l" defTabSz="914400">
                        <a:lnSpc>
                          <a:spcPct val="100000"/>
                        </a:lnSpc>
                        <a:spcBef>
                          <a:spcPts val="0"/>
                        </a:spcBef>
                        <a:spcAft>
                          <a:spcPts val="0"/>
                        </a:spcAft>
                        <a:buClrTx/>
                        <a:buSzTx/>
                        <a:buFontTx/>
                        <a:buNone/>
                      </a:pPr>
                      <a:r>
                        <a:rPr sz="2300" b="0" i="0" u="none" strike="noStrike" cap="none" spc="0" baseline="0">
                          <a:ln>
                            <a:noFill/>
                          </a:ln>
                          <a:solidFill>
                            <a:schemeClr val="accent2">
                              <a:lumMod val="75000"/>
                            </a:schemeClr>
                          </a:solidFill>
                          <a:latin typeface="+mn-lt"/>
                          <a:ea typeface="+mn-lt"/>
                          <a:cs typeface="+mn-lt"/>
                        </a:rPr>
                        <a:t>04</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300" b="0" i="0" u="none" strike="noStrike" cap="none" spc="0" baseline="0">
                          <a:ln>
                            <a:noFill/>
                          </a:ln>
                          <a:solidFill>
                            <a:prstClr val="black"/>
                          </a:solidFill>
                          <a:latin typeface="+mn-lt"/>
                          <a:ea typeface="+mn-lt"/>
                          <a:cs typeface="+mn-lt"/>
                        </a:rPr>
                        <a:t>Costs and financial scenarios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600" b="0" i="0" u="none" strike="noStrike" cap="none" spc="0" baseline="0">
                          <a:ln>
                            <a:noFill/>
                          </a:ln>
                          <a:solidFill>
                            <a:schemeClr val="accent1"/>
                          </a:solidFill>
                          <a:latin typeface="Roboto Medium"/>
                          <a:ea typeface="Roboto Medium"/>
                          <a:cs typeface="Roboto Medium"/>
                        </a:rPr>
                        <a:t>Pages 10–13</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594360">
                <a:tc>
                  <a:txBody>
                    <a:bodyPr/>
                    <a:lstStyle/>
                    <a:p>
                      <a:pPr marL="0" marR="0" lvl="0" indent="0" algn="l" defTabSz="914400">
                        <a:lnSpc>
                          <a:spcPct val="100000"/>
                        </a:lnSpc>
                        <a:spcBef>
                          <a:spcPts val="0"/>
                        </a:spcBef>
                        <a:spcAft>
                          <a:spcPts val="0"/>
                        </a:spcAft>
                        <a:buClrTx/>
                        <a:buSzTx/>
                        <a:buFontTx/>
                        <a:buNone/>
                      </a:pPr>
                      <a:r>
                        <a:rPr sz="2300" b="0" i="0" u="none" strike="noStrike" cap="none" spc="0" baseline="0">
                          <a:ln>
                            <a:noFill/>
                          </a:ln>
                          <a:solidFill>
                            <a:schemeClr val="accent2">
                              <a:lumMod val="75000"/>
                            </a:schemeClr>
                          </a:solidFill>
                          <a:latin typeface="+mn-lt"/>
                          <a:ea typeface="+mn-lt"/>
                          <a:cs typeface="+mn-lt"/>
                        </a:rPr>
                        <a:t>05</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300" b="0" i="0" u="none" strike="noStrike" cap="none" spc="0" baseline="0">
                          <a:ln>
                            <a:noFill/>
                          </a:ln>
                          <a:solidFill>
                            <a:prstClr val="black"/>
                          </a:solidFill>
                          <a:latin typeface="+mn-lt"/>
                          <a:ea typeface="+mn-lt"/>
                          <a:cs typeface="+mn-lt"/>
                        </a:rPr>
                        <a:t>Metrics and defensibility</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600" b="0" i="0" u="none" strike="noStrike" cap="none" spc="0" baseline="0">
                          <a:ln>
                            <a:noFill/>
                          </a:ln>
                          <a:solidFill>
                            <a:schemeClr val="accent1"/>
                          </a:solidFill>
                          <a:latin typeface="Roboto Medium"/>
                          <a:ea typeface="Roboto Medium"/>
                          <a:cs typeface="Roboto Medium"/>
                        </a:rPr>
                        <a:t>Pages 14–15</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594360">
                <a:tc>
                  <a:txBody>
                    <a:bodyPr/>
                    <a:lstStyle/>
                    <a:p>
                      <a:pPr marL="0" marR="0" lvl="0" indent="0" algn="l" defTabSz="914400">
                        <a:lnSpc>
                          <a:spcPct val="100000"/>
                        </a:lnSpc>
                        <a:spcBef>
                          <a:spcPts val="0"/>
                        </a:spcBef>
                        <a:spcAft>
                          <a:spcPts val="0"/>
                        </a:spcAft>
                        <a:buClrTx/>
                        <a:buSzTx/>
                        <a:buFontTx/>
                        <a:buNone/>
                      </a:pPr>
                      <a:r>
                        <a:rPr sz="2300" b="0" i="0" u="none" strike="noStrike" cap="none" spc="0" baseline="0">
                          <a:ln>
                            <a:noFill/>
                          </a:ln>
                          <a:solidFill>
                            <a:schemeClr val="accent2">
                              <a:lumMod val="75000"/>
                            </a:schemeClr>
                          </a:solidFill>
                          <a:latin typeface="+mn-lt"/>
                          <a:ea typeface="+mn-lt"/>
                          <a:cs typeface="+mn-lt"/>
                        </a:rPr>
                        <a:t>06</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300" b="0" i="0" u="none" strike="noStrike" cap="none" spc="0" baseline="0">
                          <a:ln>
                            <a:noFill/>
                          </a:ln>
                          <a:solidFill>
                            <a:prstClr val="black"/>
                          </a:solidFill>
                          <a:latin typeface="+mn-lt"/>
                          <a:ea typeface="+mn-lt"/>
                          <a:cs typeface="+mn-lt"/>
                        </a:rPr>
                        <a:t>Canvas, roadmap and summary</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600" b="0" i="0" u="none" strike="noStrike" cap="none" spc="0" baseline="0">
                          <a:ln>
                            <a:noFill/>
                          </a:ln>
                          <a:solidFill>
                            <a:schemeClr val="accent1"/>
                          </a:solidFill>
                          <a:latin typeface="Roboto Medium"/>
                          <a:ea typeface="Roboto Medium"/>
                          <a:cs typeface="Roboto Medium"/>
                        </a:rPr>
                        <a:t>Pages 16–19</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bl>
          </a:graphicData>
        </a:graphic>
      </p:graphicFrame>
      <p:sp>
        <p:nvSpPr>
          <p:cNvPr id="4" name="Footer Placeholder 3">
            <a:extLst xmlns:a="http://schemas.openxmlformats.org/drawingml/2006/main">
              <a:ext uri="{FF2B5EF4-FFF2-40B4-BE49-F238E27FC236}">
                <a16:creationId xmlns:a16="http://schemas.microsoft.com/office/drawing/2014/main" id="{F810BED8-CB43-D17C-4D24-32A4B0893D63}"/>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336013370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6AD4425-62A5-20FE-DA81-DB0262F8E9D3}"/>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5</a:t>
            </a:fld>
            <a:endParaRPr/>
          </a:p>
        </p:txBody>
      </p:sp>
      <p:sp>
        <p:nvSpPr>
          <p:cNvPr id="533" name="Google Shape;533;p58">
            <a:extLst xmlns:a="http://schemas.openxmlformats.org/drawingml/2006/main">
              <a:ext uri="{FF2B5EF4-FFF2-40B4-BE49-F238E27FC236}">
                <a16:creationId xmlns:a16="http://schemas.microsoft.com/office/drawing/2014/main" id="{CCB3C549-3412-D9EC-FC96-8C0EA25A4312}"/>
              </a:ext>
            </a:extLst>
          </p:cNvPr>
          <p:cNvSpPr>
            <a:spLocks xmlns:a="http://schemas.openxmlformats.org/drawingml/2006/main" noGrp="1"/>
          </p:cNvSpPr>
          <p:nvPr>
            <p:ph type="title" idx="0"/>
          </p:nvPr>
        </p:nvSpPr>
        <p:spPr>
          <a:xfrm xmlns:a="http://schemas.openxmlformats.org/drawingml/2006/main">
            <a:off x="393699" y="344009"/>
            <a:ext cx="11404599" cy="5957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900" b="1">
                <a:solidFill>
                  <a:srgbClr val="3357B8"/>
                </a:solidFill>
                <a:latin typeface="Lora SemiBold"/>
                <a:ea typeface="Lora SemiBold"/>
                <a:cs typeface="Lora SemiBold"/>
              </a:defRPr>
            </a:defPPr>
            <a:lvl1pPr algn="l">
              <a:buNone/>
              <a:defRPr sz="2900" b="1">
                <a:solidFill>
                  <a:srgbClr val="3357B8"/>
                </a:solidFill>
                <a:latin typeface="Lora SemiBold"/>
                <a:ea typeface="Lora SemiBold"/>
                <a:cs typeface="Lora SemiBold"/>
              </a:defRPr>
            </a:lvl1pPr>
            <a:lvl2pPr algn="l">
              <a:buNone/>
              <a:defRPr sz="2900" b="1">
                <a:solidFill>
                  <a:srgbClr val="3357B8"/>
                </a:solidFill>
                <a:latin typeface="Lora SemiBold"/>
                <a:ea typeface="Lora SemiBold"/>
                <a:cs typeface="Lora SemiBold"/>
              </a:defRPr>
            </a:lvl2pPr>
            <a:lvl3pPr algn="l">
              <a:buNone/>
              <a:defRPr sz="2900" b="1">
                <a:solidFill>
                  <a:srgbClr val="3357B8"/>
                </a:solidFill>
                <a:latin typeface="Lora SemiBold"/>
                <a:ea typeface="Lora SemiBold"/>
                <a:cs typeface="Lora SemiBold"/>
              </a:defRPr>
            </a:lvl3pPr>
            <a:lvl4pPr algn="l">
              <a:buNone/>
              <a:defRPr sz="2900" b="1">
                <a:solidFill>
                  <a:srgbClr val="3357B8"/>
                </a:solidFill>
                <a:latin typeface="Lora SemiBold"/>
                <a:ea typeface="Lora SemiBold"/>
                <a:cs typeface="Lora SemiBold"/>
              </a:defRPr>
            </a:lvl4pPr>
            <a:lvl5pPr algn="l">
              <a:buNone/>
              <a:defRPr sz="2900" b="1">
                <a:solidFill>
                  <a:srgbClr val="3357B8"/>
                </a:solidFill>
                <a:latin typeface="Lora SemiBold"/>
                <a:ea typeface="Lora SemiBold"/>
                <a:cs typeface="Lora SemiBold"/>
              </a:defRPr>
            </a:lvl5pPr>
            <a:lvl6pPr algn="l">
              <a:buNone/>
              <a:defRPr sz="2900" b="1">
                <a:solidFill>
                  <a:srgbClr val="3357B8"/>
                </a:solidFill>
                <a:latin typeface="Lora SemiBold"/>
                <a:ea typeface="Lora SemiBold"/>
                <a:cs typeface="Lora SemiBold"/>
              </a:defRPr>
            </a:lvl6pPr>
            <a:lvl7pPr algn="l">
              <a:buNone/>
              <a:defRPr sz="2900" b="1">
                <a:solidFill>
                  <a:srgbClr val="3357B8"/>
                </a:solidFill>
                <a:latin typeface="Lora SemiBold"/>
                <a:ea typeface="Lora SemiBold"/>
                <a:cs typeface="Lora SemiBold"/>
              </a:defRPr>
            </a:lvl7pPr>
            <a:lvl8pPr algn="l">
              <a:buNone/>
              <a:defRPr sz="2900" b="1">
                <a:solidFill>
                  <a:srgbClr val="3357B8"/>
                </a:solidFill>
                <a:latin typeface="Lora SemiBold"/>
                <a:ea typeface="Lora SemiBold"/>
                <a:cs typeface="Lora SemiBold"/>
              </a:defRPr>
            </a:lvl8pPr>
            <a:lvl9pPr algn="l">
              <a:buNone/>
              <a:defRPr sz="2900" b="1">
                <a:solidFill>
                  <a:srgbClr val="3357B8"/>
                </a:solidFill>
                <a:latin typeface="Lora SemiBold"/>
                <a:ea typeface="Lora SemiBold"/>
                <a:cs typeface="Lora SemiBold"/>
              </a:defRPr>
            </a:lvl9pPr>
          </a:lstStyle>
          <a:p xmlns:a="http://schemas.openxmlformats.org/drawingml/2006/main">
            <a:pPr algn="l">
              <a:buNone/>
              <a:defRPr sz="2900" b="1">
                <a:solidFill>
                  <a:srgbClr val="3357B8"/>
                </a:solidFill>
                <a:latin typeface="Lora SemiBold"/>
                <a:ea typeface="Lora SemiBold"/>
                <a:cs typeface="Lora SemiBold"/>
              </a:defRPr>
            </a:pPr>
            <a:r>
              <a:rPr sz="2900" b="1">
                <a:solidFill>
                  <a:srgbClr val="3357B8"/>
                </a:solidFill>
                <a:latin typeface="Lora SemiBold"/>
                <a:ea typeface="Lora SemiBold"/>
                <a:cs typeface="Lora SemiBold"/>
              </a:rPr>
              <a:t>1. Problem</a:t>
            </a:r>
            <a:endParaRPr>
              <a:solidFill>
                <a:schemeClr val="accent1"/>
              </a:solidFill>
            </a:endParaRPr>
          </a:p>
        </p:txBody>
      </p:sp>
      <p:sp>
        <p:nvSpPr>
          <p:cNvPr id="11" name="Footer Placeholder 10">
            <a:extLst xmlns:a="http://schemas.openxmlformats.org/drawingml/2006/main">
              <a:ext uri="{FF2B5EF4-FFF2-40B4-BE49-F238E27FC236}">
                <a16:creationId xmlns:a16="http://schemas.microsoft.com/office/drawing/2014/main" id="{BD5D3365-630B-7DA2-6578-D2DE7ACBBC07}"/>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3" name="Google Shape;534;p58">
            <a:extLst xmlns:a="http://schemas.openxmlformats.org/drawingml/2006/main">
              <a:ext uri="{FF2B5EF4-FFF2-40B4-BE49-F238E27FC236}">
                <a16:creationId xmlns:a16="http://schemas.microsoft.com/office/drawing/2014/main" id="{076E58D8-94E3-59EF-6F5D-94479531D945}"/>
              </a:ext>
            </a:extLst>
          </p:cNvPr>
          <p:cNvSpPr>
            <a:spLocks xmlns:a="http://schemas.openxmlformats.org/drawingml/2006/main" noGrp="1"/>
          </p:cNvSpPr>
          <p:nvPr/>
        </p:nvSpPr>
        <p:spPr>
          <a:xfrm xmlns:a="http://schemas.openxmlformats.org/drawingml/2006/main">
            <a:off x="393700" y="2374900"/>
            <a:ext cx="55372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165100" indent="-88900" algn="l">
              <a:spcAft>
                <a:spcPts val="800"/>
              </a:spcAft>
              <a:buChar char="•"/>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Blind travelers need timely information about obstacles and available walking corridors.</a:t>
            </a:r>
          </a:p>
          <a:p xmlns:a="http://schemas.openxmlformats.org/drawingml/2006/main">
            <a:pPr marL="165100" indent="-88900" algn="l">
              <a:spcAft>
                <a:spcPts val="800"/>
              </a:spcAft>
              <a:buChar char="•"/>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White canes remain essential but offer limited remote and overhead coverage.</a:t>
            </a:r>
          </a:p>
          <a:p xmlns:a="http://schemas.openxmlformats.org/drawingml/2006/main">
            <a:pPr marL="165100" indent="-88900" algn="l">
              <a:spcAft>
                <a:spcPts val="800"/>
              </a:spcAft>
              <a:buChar char="•"/>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Audio guidance competes with environmental listening. Handheld tools occupy a hand.</a:t>
            </a:r>
          </a:p>
          <a:p xmlns:a="http://schemas.openxmlformats.org/drawingml/2006/main">
            <a:pPr marL="165100" indent="-88900" algn="l">
              <a:spcAft>
                <a:spcPts val="800"/>
              </a:spcAft>
              <a:buChar char="•"/>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Guide dogs require extensive training and care. Imported wearables add cost and repair barriers.</a:t>
            </a:r>
          </a:p>
        </p:txBody>
      </p:sp>
      <p:sp>
        <p:nvSpPr>
          <p:cNvPr id="5" name="Google Shape;534;p58">
            <a:extLst xmlns:a="http://schemas.openxmlformats.org/drawingml/2006/main">
              <a:ext uri="{FF2B5EF4-FFF2-40B4-BE49-F238E27FC236}">
                <a16:creationId xmlns:a16="http://schemas.microsoft.com/office/drawing/2014/main" id="{EC39CC4A-7702-F34C-BFC1-C34643FFFDEE}"/>
              </a:ext>
            </a:extLst>
          </p:cNvPr>
          <p:cNvSpPr>
            <a:spLocks xmlns:a="http://schemas.openxmlformats.org/drawingml/2006/main" noGrp="1"/>
          </p:cNvSpPr>
          <p:nvPr/>
        </p:nvSpPr>
        <p:spPr>
          <a:xfrm xmlns:a="http://schemas.openxmlformats.org/drawingml/2006/main">
            <a:off x="393700" y="1436666"/>
            <a:ext cx="5537200" cy="719318"/>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000">
                <a:solidFill>
                  <a:srgbClr val="000000"/>
                </a:solidFill>
                <a:latin typeface="Lora"/>
                <a:ea typeface="Lora"/>
                <a:cs typeface="Lora"/>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2000">
                <a:solidFill>
                  <a:srgbClr val="000000"/>
                </a:solidFill>
                <a:latin typeface="Lora"/>
                <a:ea typeface="Lora"/>
                <a:cs typeface="Lora"/>
              </a:defRPr>
            </a:pPr>
            <a:r>
              <a:rPr sz="2000">
                <a:solidFill>
                  <a:srgbClr val="000000"/>
                </a:solidFill>
                <a:latin typeface="Lora"/>
                <a:ea typeface="Lora"/>
                <a:cs typeface="Lora"/>
              </a:rPr>
              <a:t>Spatial information must remain affordable and usable</a:t>
            </a:r>
          </a:p>
        </p:txBody>
      </p:sp>
      <p:sp>
        <p:nvSpPr>
          <p:cNvPr id="27" name="Content Placeholder 10">
            <a:extLst xmlns:a="http://schemas.openxmlformats.org/drawingml/2006/main">
              <a:ext uri="{FF2B5EF4-FFF2-40B4-BE49-F238E27FC236}">
                <a16:creationId xmlns:a16="http://schemas.microsoft.com/office/drawing/2014/main" id="{B4FA777D-1E43-2118-018B-D684DB7EFEF1}"/>
              </a:ext>
            </a:extLst>
          </p:cNvPr>
          <p:cNvSpPr>
            <a:spLocks xmlns:a="http://schemas.openxmlformats.org/drawingml/2006/main" noGrp="1"/>
          </p:cNvSpPr>
          <p:nvPr/>
        </p:nvSpPr>
        <p:spPr>
          <a:xfrm xmlns:a="http://schemas.openxmlformats.org/drawingml/2006/main">
            <a:off x="6648104" y="2184252"/>
            <a:ext cx="5014766" cy="59753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4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defRPr sz="1400">
                <a:solidFill>
                  <a:srgbClr val="000000"/>
                </a:solidFill>
                <a:latin typeface="Helvetica Neue"/>
                <a:ea typeface="Helvetica Neue"/>
                <a:cs typeface="Helvetica Neue"/>
              </a:defRPr>
            </a:pPr>
            <a:r>
              <a:rPr sz="1400" b="0" i="0" u="none" strike="noStrike" cap="none" spc="0" baseline="0">
                <a:ln>
                  <a:noFill/>
                </a:ln>
                <a:solidFill>
                  <a:srgbClr val="000000"/>
                </a:solidFill>
                <a:latin typeface="Helvetica Neue"/>
                <a:ea typeface="Helvetica Neue"/>
                <a:cs typeface="Helvetica Neue"/>
              </a:rPr>
              <a:t>Nearby obstacles and overhead hazards can fall beyond the reach of contact-based mobility aids.</a:t>
            </a:r>
          </a:p>
        </p:txBody>
      </p:sp>
      <p:sp>
        <p:nvSpPr>
          <p:cNvPr id="28" name="TextBox 27">
            <a:extLst xmlns:a="http://schemas.openxmlformats.org/drawingml/2006/main">
              <a:ext uri="{FF2B5EF4-FFF2-40B4-BE49-F238E27FC236}">
                <a16:creationId xmlns:a16="http://schemas.microsoft.com/office/drawing/2014/main" id="{F2F01BD9-1359-C69B-3F1A-A36534227FFE}"/>
              </a:ext>
            </a:extLst>
          </p:cNvPr>
          <p:cNvSpPr>
            <a:spLocks xmlns:a="http://schemas.openxmlformats.org/drawingml/2006/main" noGrp="1"/>
          </p:cNvSpPr>
          <p:nvPr/>
        </p:nvSpPr>
        <p:spPr>
          <a:xfrm xmlns:a="http://schemas.openxmlformats.org/drawingml/2006/main">
            <a:off x="6644793" y="1813255"/>
            <a:ext cx="5014766" cy="24323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lgn="l">
              <a:defRPr sz="1400">
                <a:solidFill>
                  <a:srgbClr val="3357B8"/>
                </a:solidFill>
                <a:latin typeface="Helvetica Neue Medium"/>
                <a:ea typeface="Helvetica Neue Medium"/>
                <a:cs typeface="Helvetica Neue Medium"/>
              </a:defRPr>
            </a:defPPr>
            <a:lvl1pPr algn="l">
              <a:buNone/>
              <a:defRPr sz="1400">
                <a:solidFill>
                  <a:srgbClr val="3357B8"/>
                </a:solidFill>
                <a:latin typeface="Helvetica Neue Medium"/>
                <a:ea typeface="Helvetica Neue Medium"/>
                <a:cs typeface="Helvetica Neue Medium"/>
              </a:defRPr>
            </a:lvl1pPr>
            <a:lvl2pPr algn="l">
              <a:buNone/>
              <a:defRPr sz="1400">
                <a:solidFill>
                  <a:srgbClr val="3357B8"/>
                </a:solidFill>
                <a:latin typeface="Helvetica Neue Medium"/>
                <a:ea typeface="Helvetica Neue Medium"/>
                <a:cs typeface="Helvetica Neue Medium"/>
              </a:defRPr>
            </a:lvl2pPr>
            <a:lvl3pPr algn="l">
              <a:buNone/>
              <a:defRPr sz="1400">
                <a:solidFill>
                  <a:srgbClr val="3357B8"/>
                </a:solidFill>
                <a:latin typeface="Helvetica Neue Medium"/>
                <a:ea typeface="Helvetica Neue Medium"/>
                <a:cs typeface="Helvetica Neue Medium"/>
              </a:defRPr>
            </a:lvl3pPr>
            <a:lvl4pPr algn="l">
              <a:buNone/>
              <a:defRPr sz="1400">
                <a:solidFill>
                  <a:srgbClr val="3357B8"/>
                </a:solidFill>
                <a:latin typeface="Helvetica Neue Medium"/>
                <a:ea typeface="Helvetica Neue Medium"/>
                <a:cs typeface="Helvetica Neue Medium"/>
              </a:defRPr>
            </a:lvl4pPr>
            <a:lvl5pPr algn="l">
              <a:buNone/>
              <a:defRPr sz="1400">
                <a:solidFill>
                  <a:srgbClr val="3357B8"/>
                </a:solidFill>
                <a:latin typeface="Helvetica Neue Medium"/>
                <a:ea typeface="Helvetica Neue Medium"/>
                <a:cs typeface="Helvetica Neue Medium"/>
              </a:defRPr>
            </a:lvl5pPr>
            <a:lvl6pPr algn="l">
              <a:buNone/>
              <a:defRPr sz="1400">
                <a:solidFill>
                  <a:srgbClr val="3357B8"/>
                </a:solidFill>
                <a:latin typeface="Helvetica Neue Medium"/>
                <a:ea typeface="Helvetica Neue Medium"/>
                <a:cs typeface="Helvetica Neue Medium"/>
              </a:defRPr>
            </a:lvl6pPr>
            <a:lvl7pPr algn="l">
              <a:buNone/>
              <a:defRPr sz="1400">
                <a:solidFill>
                  <a:srgbClr val="3357B8"/>
                </a:solidFill>
                <a:latin typeface="Helvetica Neue Medium"/>
                <a:ea typeface="Helvetica Neue Medium"/>
                <a:cs typeface="Helvetica Neue Medium"/>
              </a:defRPr>
            </a:lvl7pPr>
            <a:lvl8pPr algn="l">
              <a:buNone/>
              <a:defRPr sz="1400">
                <a:solidFill>
                  <a:srgbClr val="3357B8"/>
                </a:solidFill>
                <a:latin typeface="Helvetica Neue Medium"/>
                <a:ea typeface="Helvetica Neue Medium"/>
                <a:cs typeface="Helvetica Neue Medium"/>
              </a:defRPr>
            </a:lvl8pPr>
            <a:lvl9pPr algn="l">
              <a:buNone/>
              <a:defRPr sz="1400">
                <a:solidFill>
                  <a:srgbClr val="3357B8"/>
                </a:solidFill>
                <a:latin typeface="Helvetica Neue Medium"/>
                <a:ea typeface="Helvetica Neue Medium"/>
                <a:cs typeface="Helvetica Neue Medium"/>
              </a:defRPr>
            </a:lvl9pPr>
          </a:lstStyle>
          <a:p xmlns:a="http://schemas.openxmlformats.org/drawingml/2006/main">
            <a:pPr marL="0" marR="0" lvl="0" indent="0" algn="l" defTabSz="914400">
              <a:lnSpc>
                <a:spcPct val="114000"/>
              </a:lnSpc>
              <a:spcBef>
                <a:spcPts val="0"/>
              </a:spcBef>
              <a:spcAft>
                <a:spcPts val="800"/>
              </a:spcAft>
              <a:buClrTx/>
              <a:buSzTx/>
              <a:buFontTx/>
              <a:buNone/>
              <a:defRPr sz="1400">
                <a:solidFill>
                  <a:srgbClr val="3357B8"/>
                </a:solidFill>
                <a:latin typeface="Helvetica Neue Medium"/>
                <a:ea typeface="Helvetica Neue Medium"/>
                <a:cs typeface="Helvetica Neue Medium"/>
              </a:defRPr>
            </a:pPr>
            <a:r>
              <a:rPr sz="1400" b="0" i="0" u="none" strike="noStrike" cap="none" spc="0" baseline="0">
                <a:ln>
                  <a:noFill/>
                </a:ln>
                <a:solidFill>
                  <a:srgbClr val="3357B8"/>
                </a:solidFill>
                <a:latin typeface="Helvetica Neue Medium"/>
                <a:ea typeface="Helvetica Neue Medium"/>
                <a:cs typeface="Helvetica Neue Medium"/>
              </a:rPr>
              <a:t>Limited spatial awareness</a:t>
            </a:r>
          </a:p>
        </p:txBody>
      </p:sp>
      <p:sp>
        <p:nvSpPr>
          <p:cNvPr id="2" name="Rounded Rectangle 1">
            <a:extLst xmlns:a="http://schemas.openxmlformats.org/drawingml/2006/main">
              <a:ext uri="{FF2B5EF4-FFF2-40B4-BE49-F238E27FC236}">
                <a16:creationId xmlns:a16="http://schemas.microsoft.com/office/drawing/2014/main" id="{3C99D68F-34ED-A722-D7DB-03942B0B77DB}"/>
              </a:ext>
            </a:extLst>
          </p:cNvPr>
          <p:cNvSpPr>
            <a:spLocks xmlns:a="http://schemas.openxmlformats.org/drawingml/2006/main" noGrp="1"/>
          </p:cNvSpPr>
          <p:nvPr/>
        </p:nvSpPr>
        <p:spPr>
          <a:xfrm xmlns:a="http://schemas.openxmlformats.org/drawingml/2006/main">
            <a:off x="6405842" y="1521935"/>
            <a:ext cx="5394187" cy="1393857"/>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4" name="Content Placeholder 10">
            <a:extLst xmlns:a="http://schemas.openxmlformats.org/drawingml/2006/main">
              <a:ext uri="{FF2B5EF4-FFF2-40B4-BE49-F238E27FC236}">
                <a16:creationId xmlns:a16="http://schemas.microsoft.com/office/drawing/2014/main" id="{32674159-B6E6-B9EF-D753-5EF1E687140B}"/>
              </a:ext>
            </a:extLst>
          </p:cNvPr>
          <p:cNvSpPr>
            <a:spLocks xmlns:a="http://schemas.openxmlformats.org/drawingml/2006/main" noGrp="1"/>
          </p:cNvSpPr>
          <p:nvPr/>
        </p:nvSpPr>
        <p:spPr>
          <a:xfrm xmlns:a="http://schemas.openxmlformats.org/drawingml/2006/main">
            <a:off x="6648104" y="3693012"/>
            <a:ext cx="5014766" cy="59753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4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defRPr sz="1400">
                <a:solidFill>
                  <a:srgbClr val="000000"/>
                </a:solidFill>
                <a:latin typeface="Helvetica Neue"/>
                <a:ea typeface="Helvetica Neue"/>
                <a:cs typeface="Helvetica Neue"/>
              </a:defRPr>
            </a:pPr>
            <a:r>
              <a:rPr sz="1400" b="0" i="0" u="none" strike="noStrike" cap="none" spc="0" baseline="0">
                <a:ln>
                  <a:noFill/>
                </a:ln>
                <a:solidFill>
                  <a:srgbClr val="000000"/>
                </a:solidFill>
                <a:latin typeface="Helvetica Neue"/>
                <a:ea typeface="Helvetica Neue"/>
                <a:cs typeface="Helvetica Neue"/>
              </a:rPr>
              <a:t>Audio can distract from ambient sounds. Repeated vibration cues may become ambiguous or less noticeable.</a:t>
            </a:r>
          </a:p>
        </p:txBody>
      </p:sp>
      <p:sp>
        <p:nvSpPr>
          <p:cNvPr id="6" name="TextBox 5">
            <a:extLst xmlns:a="http://schemas.openxmlformats.org/drawingml/2006/main">
              <a:ext uri="{FF2B5EF4-FFF2-40B4-BE49-F238E27FC236}">
                <a16:creationId xmlns:a16="http://schemas.microsoft.com/office/drawing/2014/main" id="{57D84212-7716-6AFC-2CCA-1118E41834EC}"/>
              </a:ext>
            </a:extLst>
          </p:cNvPr>
          <p:cNvSpPr>
            <a:spLocks xmlns:a="http://schemas.openxmlformats.org/drawingml/2006/main" noGrp="1"/>
          </p:cNvSpPr>
          <p:nvPr/>
        </p:nvSpPr>
        <p:spPr>
          <a:xfrm xmlns:a="http://schemas.openxmlformats.org/drawingml/2006/main">
            <a:off x="6644793" y="3322015"/>
            <a:ext cx="5014766" cy="24323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lgn="l">
              <a:defRPr sz="1400">
                <a:solidFill>
                  <a:srgbClr val="3357B8"/>
                </a:solidFill>
                <a:latin typeface="Helvetica Neue Medium"/>
                <a:ea typeface="Helvetica Neue Medium"/>
                <a:cs typeface="Helvetica Neue Medium"/>
              </a:defRPr>
            </a:defPPr>
            <a:lvl1pPr algn="l">
              <a:buNone/>
              <a:defRPr sz="1400">
                <a:solidFill>
                  <a:srgbClr val="3357B8"/>
                </a:solidFill>
                <a:latin typeface="Helvetica Neue Medium"/>
                <a:ea typeface="Helvetica Neue Medium"/>
                <a:cs typeface="Helvetica Neue Medium"/>
              </a:defRPr>
            </a:lvl1pPr>
            <a:lvl2pPr algn="l">
              <a:buNone/>
              <a:defRPr sz="1400">
                <a:solidFill>
                  <a:srgbClr val="3357B8"/>
                </a:solidFill>
                <a:latin typeface="Helvetica Neue Medium"/>
                <a:ea typeface="Helvetica Neue Medium"/>
                <a:cs typeface="Helvetica Neue Medium"/>
              </a:defRPr>
            </a:lvl2pPr>
            <a:lvl3pPr algn="l">
              <a:buNone/>
              <a:defRPr sz="1400">
                <a:solidFill>
                  <a:srgbClr val="3357B8"/>
                </a:solidFill>
                <a:latin typeface="Helvetica Neue Medium"/>
                <a:ea typeface="Helvetica Neue Medium"/>
                <a:cs typeface="Helvetica Neue Medium"/>
              </a:defRPr>
            </a:lvl3pPr>
            <a:lvl4pPr algn="l">
              <a:buNone/>
              <a:defRPr sz="1400">
                <a:solidFill>
                  <a:srgbClr val="3357B8"/>
                </a:solidFill>
                <a:latin typeface="Helvetica Neue Medium"/>
                <a:ea typeface="Helvetica Neue Medium"/>
                <a:cs typeface="Helvetica Neue Medium"/>
              </a:defRPr>
            </a:lvl4pPr>
            <a:lvl5pPr algn="l">
              <a:buNone/>
              <a:defRPr sz="1400">
                <a:solidFill>
                  <a:srgbClr val="3357B8"/>
                </a:solidFill>
                <a:latin typeface="Helvetica Neue Medium"/>
                <a:ea typeface="Helvetica Neue Medium"/>
                <a:cs typeface="Helvetica Neue Medium"/>
              </a:defRPr>
            </a:lvl5pPr>
            <a:lvl6pPr algn="l">
              <a:buNone/>
              <a:defRPr sz="1400">
                <a:solidFill>
                  <a:srgbClr val="3357B8"/>
                </a:solidFill>
                <a:latin typeface="Helvetica Neue Medium"/>
                <a:ea typeface="Helvetica Neue Medium"/>
                <a:cs typeface="Helvetica Neue Medium"/>
              </a:defRPr>
            </a:lvl6pPr>
            <a:lvl7pPr algn="l">
              <a:buNone/>
              <a:defRPr sz="1400">
                <a:solidFill>
                  <a:srgbClr val="3357B8"/>
                </a:solidFill>
                <a:latin typeface="Helvetica Neue Medium"/>
                <a:ea typeface="Helvetica Neue Medium"/>
                <a:cs typeface="Helvetica Neue Medium"/>
              </a:defRPr>
            </a:lvl7pPr>
            <a:lvl8pPr algn="l">
              <a:buNone/>
              <a:defRPr sz="1400">
                <a:solidFill>
                  <a:srgbClr val="3357B8"/>
                </a:solidFill>
                <a:latin typeface="Helvetica Neue Medium"/>
                <a:ea typeface="Helvetica Neue Medium"/>
                <a:cs typeface="Helvetica Neue Medium"/>
              </a:defRPr>
            </a:lvl8pPr>
            <a:lvl9pPr algn="l">
              <a:buNone/>
              <a:defRPr sz="1400">
                <a:solidFill>
                  <a:srgbClr val="3357B8"/>
                </a:solidFill>
                <a:latin typeface="Helvetica Neue Medium"/>
                <a:ea typeface="Helvetica Neue Medium"/>
                <a:cs typeface="Helvetica Neue Medium"/>
              </a:defRPr>
            </a:lvl9pPr>
          </a:lstStyle>
          <a:p xmlns:a="http://schemas.openxmlformats.org/drawingml/2006/main">
            <a:pPr marL="0" marR="0" lvl="0" indent="0" algn="l" defTabSz="914400">
              <a:lnSpc>
                <a:spcPct val="114000"/>
              </a:lnSpc>
              <a:spcBef>
                <a:spcPts val="0"/>
              </a:spcBef>
              <a:spcAft>
                <a:spcPts val="800"/>
              </a:spcAft>
              <a:buClrTx/>
              <a:buSzTx/>
              <a:buFontTx/>
              <a:buNone/>
              <a:defRPr sz="1400">
                <a:solidFill>
                  <a:srgbClr val="3357B8"/>
                </a:solidFill>
                <a:latin typeface="Helvetica Neue Medium"/>
                <a:ea typeface="Helvetica Neue Medium"/>
                <a:cs typeface="Helvetica Neue Medium"/>
              </a:defRPr>
            </a:pPr>
            <a:r>
              <a:rPr sz="1400" b="0" i="0" u="none" strike="noStrike" cap="none" spc="0" baseline="0">
                <a:ln>
                  <a:noFill/>
                </a:ln>
                <a:solidFill>
                  <a:srgbClr val="3357B8"/>
                </a:solidFill>
                <a:latin typeface="Helvetica Neue Medium"/>
                <a:ea typeface="Helvetica Neue Medium"/>
                <a:cs typeface="Helvetica Neue Medium"/>
              </a:rPr>
              <a:t>Competing sensory demands</a:t>
            </a:r>
          </a:p>
        </p:txBody>
      </p:sp>
      <p:sp>
        <p:nvSpPr>
          <p:cNvPr id="7" name="Rounded Rectangle 6">
            <a:extLst xmlns:a="http://schemas.openxmlformats.org/drawingml/2006/main">
              <a:ext uri="{FF2B5EF4-FFF2-40B4-BE49-F238E27FC236}">
                <a16:creationId xmlns:a16="http://schemas.microsoft.com/office/drawing/2014/main" id="{520BED9B-3AD0-B986-23FF-346EFF8EE6FA}"/>
              </a:ext>
            </a:extLst>
          </p:cNvPr>
          <p:cNvSpPr>
            <a:spLocks xmlns:a="http://schemas.openxmlformats.org/drawingml/2006/main" noGrp="1"/>
          </p:cNvSpPr>
          <p:nvPr/>
        </p:nvSpPr>
        <p:spPr>
          <a:xfrm xmlns:a="http://schemas.openxmlformats.org/drawingml/2006/main">
            <a:off x="6405842" y="3030695"/>
            <a:ext cx="5394187" cy="1393857"/>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8" name="Content Placeholder 10">
            <a:extLst xmlns:a="http://schemas.openxmlformats.org/drawingml/2006/main">
              <a:ext uri="{FF2B5EF4-FFF2-40B4-BE49-F238E27FC236}">
                <a16:creationId xmlns:a16="http://schemas.microsoft.com/office/drawing/2014/main" id="{58865802-6967-7210-3371-DEA6828B57A2}"/>
              </a:ext>
            </a:extLst>
          </p:cNvPr>
          <p:cNvSpPr>
            <a:spLocks xmlns:a="http://schemas.openxmlformats.org/drawingml/2006/main" noGrp="1"/>
          </p:cNvSpPr>
          <p:nvPr/>
        </p:nvSpPr>
        <p:spPr>
          <a:xfrm xmlns:a="http://schemas.openxmlformats.org/drawingml/2006/main">
            <a:off x="6648105" y="5201772"/>
            <a:ext cx="5014766" cy="59753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4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defRPr sz="1400">
                <a:solidFill>
                  <a:srgbClr val="000000"/>
                </a:solidFill>
                <a:latin typeface="Helvetica Neue"/>
                <a:ea typeface="Helvetica Neue"/>
                <a:cs typeface="Helvetica Neue"/>
              </a:defRPr>
            </a:pPr>
            <a:r>
              <a:rPr sz="1400" b="0" i="0" u="none" strike="noStrike" cap="none" spc="0" baseline="0">
                <a:ln>
                  <a:noFill/>
                </a:ln>
                <a:solidFill>
                  <a:srgbClr val="000000"/>
                </a:solidFill>
                <a:latin typeface="Helvetica Neue"/>
                <a:ea typeface="Helvetica Neue"/>
                <a:cs typeface="Helvetica Neue"/>
              </a:rPr>
              <a:t>Premium hardware, imports and specialist repairs limit access in price-sensitive markets.</a:t>
            </a:r>
          </a:p>
        </p:txBody>
      </p:sp>
      <p:sp>
        <p:nvSpPr>
          <p:cNvPr id="9" name="TextBox 8">
            <a:extLst xmlns:a="http://schemas.openxmlformats.org/drawingml/2006/main">
              <a:ext uri="{FF2B5EF4-FFF2-40B4-BE49-F238E27FC236}">
                <a16:creationId xmlns:a16="http://schemas.microsoft.com/office/drawing/2014/main" id="{DD2FEB2E-B2D7-376B-AFC1-B25E2E37C15B}"/>
              </a:ext>
            </a:extLst>
          </p:cNvPr>
          <p:cNvSpPr>
            <a:spLocks xmlns:a="http://schemas.openxmlformats.org/drawingml/2006/main" noGrp="1"/>
          </p:cNvSpPr>
          <p:nvPr/>
        </p:nvSpPr>
        <p:spPr>
          <a:xfrm xmlns:a="http://schemas.openxmlformats.org/drawingml/2006/main">
            <a:off x="6644794" y="4830775"/>
            <a:ext cx="5014766" cy="24323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lgn="l">
              <a:defRPr sz="1400">
                <a:solidFill>
                  <a:srgbClr val="3357B8"/>
                </a:solidFill>
                <a:latin typeface="Helvetica Neue Medium"/>
                <a:ea typeface="Helvetica Neue Medium"/>
                <a:cs typeface="Helvetica Neue Medium"/>
              </a:defRPr>
            </a:defPPr>
            <a:lvl1pPr algn="l">
              <a:buNone/>
              <a:defRPr sz="1400">
                <a:solidFill>
                  <a:srgbClr val="3357B8"/>
                </a:solidFill>
                <a:latin typeface="Helvetica Neue Medium"/>
                <a:ea typeface="Helvetica Neue Medium"/>
                <a:cs typeface="Helvetica Neue Medium"/>
              </a:defRPr>
            </a:lvl1pPr>
            <a:lvl2pPr algn="l">
              <a:buNone/>
              <a:defRPr sz="1400">
                <a:solidFill>
                  <a:srgbClr val="3357B8"/>
                </a:solidFill>
                <a:latin typeface="Helvetica Neue Medium"/>
                <a:ea typeface="Helvetica Neue Medium"/>
                <a:cs typeface="Helvetica Neue Medium"/>
              </a:defRPr>
            </a:lvl2pPr>
            <a:lvl3pPr algn="l">
              <a:buNone/>
              <a:defRPr sz="1400">
                <a:solidFill>
                  <a:srgbClr val="3357B8"/>
                </a:solidFill>
                <a:latin typeface="Helvetica Neue Medium"/>
                <a:ea typeface="Helvetica Neue Medium"/>
                <a:cs typeface="Helvetica Neue Medium"/>
              </a:defRPr>
            </a:lvl3pPr>
            <a:lvl4pPr algn="l">
              <a:buNone/>
              <a:defRPr sz="1400">
                <a:solidFill>
                  <a:srgbClr val="3357B8"/>
                </a:solidFill>
                <a:latin typeface="Helvetica Neue Medium"/>
                <a:ea typeface="Helvetica Neue Medium"/>
                <a:cs typeface="Helvetica Neue Medium"/>
              </a:defRPr>
            </a:lvl4pPr>
            <a:lvl5pPr algn="l">
              <a:buNone/>
              <a:defRPr sz="1400">
                <a:solidFill>
                  <a:srgbClr val="3357B8"/>
                </a:solidFill>
                <a:latin typeface="Helvetica Neue Medium"/>
                <a:ea typeface="Helvetica Neue Medium"/>
                <a:cs typeface="Helvetica Neue Medium"/>
              </a:defRPr>
            </a:lvl5pPr>
            <a:lvl6pPr algn="l">
              <a:buNone/>
              <a:defRPr sz="1400">
                <a:solidFill>
                  <a:srgbClr val="3357B8"/>
                </a:solidFill>
                <a:latin typeface="Helvetica Neue Medium"/>
                <a:ea typeface="Helvetica Neue Medium"/>
                <a:cs typeface="Helvetica Neue Medium"/>
              </a:defRPr>
            </a:lvl6pPr>
            <a:lvl7pPr algn="l">
              <a:buNone/>
              <a:defRPr sz="1400">
                <a:solidFill>
                  <a:srgbClr val="3357B8"/>
                </a:solidFill>
                <a:latin typeface="Helvetica Neue Medium"/>
                <a:ea typeface="Helvetica Neue Medium"/>
                <a:cs typeface="Helvetica Neue Medium"/>
              </a:defRPr>
            </a:lvl7pPr>
            <a:lvl8pPr algn="l">
              <a:buNone/>
              <a:defRPr sz="1400">
                <a:solidFill>
                  <a:srgbClr val="3357B8"/>
                </a:solidFill>
                <a:latin typeface="Helvetica Neue Medium"/>
                <a:ea typeface="Helvetica Neue Medium"/>
                <a:cs typeface="Helvetica Neue Medium"/>
              </a:defRPr>
            </a:lvl8pPr>
            <a:lvl9pPr algn="l">
              <a:buNone/>
              <a:defRPr sz="1400">
                <a:solidFill>
                  <a:srgbClr val="3357B8"/>
                </a:solidFill>
                <a:latin typeface="Helvetica Neue Medium"/>
                <a:ea typeface="Helvetica Neue Medium"/>
                <a:cs typeface="Helvetica Neue Medium"/>
              </a:defRPr>
            </a:lvl9pPr>
          </a:lstStyle>
          <a:p xmlns:a="http://schemas.openxmlformats.org/drawingml/2006/main">
            <a:pPr marL="0" marR="0" lvl="0" indent="0" algn="l" defTabSz="914400">
              <a:lnSpc>
                <a:spcPct val="114000"/>
              </a:lnSpc>
              <a:spcBef>
                <a:spcPts val="0"/>
              </a:spcBef>
              <a:spcAft>
                <a:spcPts val="800"/>
              </a:spcAft>
              <a:buClrTx/>
              <a:buSzTx/>
              <a:buFontTx/>
              <a:buNone/>
              <a:defRPr sz="1400">
                <a:solidFill>
                  <a:srgbClr val="3357B8"/>
                </a:solidFill>
                <a:latin typeface="Helvetica Neue Medium"/>
                <a:ea typeface="Helvetica Neue Medium"/>
                <a:cs typeface="Helvetica Neue Medium"/>
              </a:defRPr>
            </a:pPr>
            <a:r>
              <a:rPr sz="1400" b="0" i="0" u="none" strike="noStrike" cap="none" spc="0" baseline="0">
                <a:ln>
                  <a:noFill/>
                </a:ln>
                <a:solidFill>
                  <a:srgbClr val="3357B8"/>
                </a:solidFill>
                <a:latin typeface="Helvetica Neue Medium"/>
                <a:ea typeface="Helvetica Neue Medium"/>
                <a:cs typeface="Helvetica Neue Medium"/>
              </a:rPr>
              <a:t>Affordability and service</a:t>
            </a:r>
          </a:p>
        </p:txBody>
      </p:sp>
      <p:sp>
        <p:nvSpPr>
          <p:cNvPr id="10" name="Rounded Rectangle 9">
            <a:extLst xmlns:a="http://schemas.openxmlformats.org/drawingml/2006/main">
              <a:ext uri="{FF2B5EF4-FFF2-40B4-BE49-F238E27FC236}">
                <a16:creationId xmlns:a16="http://schemas.microsoft.com/office/drawing/2014/main" id="{F95C5540-5014-B354-3651-51BA127570AA}"/>
              </a:ext>
            </a:extLst>
          </p:cNvPr>
          <p:cNvSpPr>
            <a:spLocks xmlns:a="http://schemas.openxmlformats.org/drawingml/2006/main" noGrp="1"/>
          </p:cNvSpPr>
          <p:nvPr/>
        </p:nvSpPr>
        <p:spPr>
          <a:xfrm xmlns:a="http://schemas.openxmlformats.org/drawingml/2006/main">
            <a:off x="6405843" y="4539455"/>
            <a:ext cx="5394187" cy="1393857"/>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Tree>
    <p:extLst>
      <p:ext uri="{BB962C8B-B14F-4D97-AF65-F5344CB8AC3E}">
        <p14:creationId xmlns:p14="http://schemas.microsoft.com/office/powerpoint/2010/main" val="336614037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AD38C25-48AC-5A29-D53A-82080FAF926E}"/>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4</a:t>
            </a:fld>
            <a:endParaRPr/>
          </a:p>
        </p:txBody>
      </p:sp>
      <p:sp>
        <p:nvSpPr>
          <p:cNvPr id="533" name="Google Shape;533;p58">
            <a:extLst xmlns:a="http://schemas.openxmlformats.org/drawingml/2006/main">
              <a:ext uri="{FF2B5EF4-FFF2-40B4-BE49-F238E27FC236}">
                <a16:creationId xmlns:a16="http://schemas.microsoft.com/office/drawing/2014/main" id="{33E8FE18-95DE-C7EA-9E95-10B82189367E}"/>
              </a:ext>
            </a:extLst>
          </p:cNvPr>
          <p:cNvSpPr>
            <a:spLocks xmlns:a="http://schemas.openxmlformats.org/drawingml/2006/main" noGrp="1"/>
          </p:cNvSpPr>
          <p:nvPr>
            <p:ph type="title" idx="0"/>
          </p:nvPr>
        </p:nvSpPr>
        <p:spPr>
          <a:xfrm xmlns:a="http://schemas.openxmlformats.org/drawingml/2006/main">
            <a:off x="393699" y="344009"/>
            <a:ext cx="11404599" cy="5957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900" b="1">
                <a:solidFill>
                  <a:srgbClr val="3357B8"/>
                </a:solidFill>
                <a:latin typeface="Lora SemiBold"/>
                <a:ea typeface="Lora SemiBold"/>
                <a:cs typeface="Lora SemiBold"/>
              </a:defRPr>
            </a:defPPr>
            <a:lvl1pPr algn="l">
              <a:buNone/>
              <a:defRPr sz="2900" b="1">
                <a:solidFill>
                  <a:srgbClr val="3357B8"/>
                </a:solidFill>
                <a:latin typeface="Lora SemiBold"/>
                <a:ea typeface="Lora SemiBold"/>
                <a:cs typeface="Lora SemiBold"/>
              </a:defRPr>
            </a:lvl1pPr>
            <a:lvl2pPr algn="l">
              <a:buNone/>
              <a:defRPr sz="2900" b="1">
                <a:solidFill>
                  <a:srgbClr val="3357B8"/>
                </a:solidFill>
                <a:latin typeface="Lora SemiBold"/>
                <a:ea typeface="Lora SemiBold"/>
                <a:cs typeface="Lora SemiBold"/>
              </a:defRPr>
            </a:lvl2pPr>
            <a:lvl3pPr algn="l">
              <a:buNone/>
              <a:defRPr sz="2900" b="1">
                <a:solidFill>
                  <a:srgbClr val="3357B8"/>
                </a:solidFill>
                <a:latin typeface="Lora SemiBold"/>
                <a:ea typeface="Lora SemiBold"/>
                <a:cs typeface="Lora SemiBold"/>
              </a:defRPr>
            </a:lvl3pPr>
            <a:lvl4pPr algn="l">
              <a:buNone/>
              <a:defRPr sz="2900" b="1">
                <a:solidFill>
                  <a:srgbClr val="3357B8"/>
                </a:solidFill>
                <a:latin typeface="Lora SemiBold"/>
                <a:ea typeface="Lora SemiBold"/>
                <a:cs typeface="Lora SemiBold"/>
              </a:defRPr>
            </a:lvl4pPr>
            <a:lvl5pPr algn="l">
              <a:buNone/>
              <a:defRPr sz="2900" b="1">
                <a:solidFill>
                  <a:srgbClr val="3357B8"/>
                </a:solidFill>
                <a:latin typeface="Lora SemiBold"/>
                <a:ea typeface="Lora SemiBold"/>
                <a:cs typeface="Lora SemiBold"/>
              </a:defRPr>
            </a:lvl5pPr>
            <a:lvl6pPr algn="l">
              <a:buNone/>
              <a:defRPr sz="2900" b="1">
                <a:solidFill>
                  <a:srgbClr val="3357B8"/>
                </a:solidFill>
                <a:latin typeface="Lora SemiBold"/>
                <a:ea typeface="Lora SemiBold"/>
                <a:cs typeface="Lora SemiBold"/>
              </a:defRPr>
            </a:lvl6pPr>
            <a:lvl7pPr algn="l">
              <a:buNone/>
              <a:defRPr sz="2900" b="1">
                <a:solidFill>
                  <a:srgbClr val="3357B8"/>
                </a:solidFill>
                <a:latin typeface="Lora SemiBold"/>
                <a:ea typeface="Lora SemiBold"/>
                <a:cs typeface="Lora SemiBold"/>
              </a:defRPr>
            </a:lvl7pPr>
            <a:lvl8pPr algn="l">
              <a:buNone/>
              <a:defRPr sz="2900" b="1">
                <a:solidFill>
                  <a:srgbClr val="3357B8"/>
                </a:solidFill>
                <a:latin typeface="Lora SemiBold"/>
                <a:ea typeface="Lora SemiBold"/>
                <a:cs typeface="Lora SemiBold"/>
              </a:defRPr>
            </a:lvl8pPr>
            <a:lvl9pPr algn="l">
              <a:buNone/>
              <a:defRPr sz="2900" b="1">
                <a:solidFill>
                  <a:srgbClr val="3357B8"/>
                </a:solidFill>
                <a:latin typeface="Lora SemiBold"/>
                <a:ea typeface="Lora SemiBold"/>
                <a:cs typeface="Lora SemiBold"/>
              </a:defRPr>
            </a:lvl9pPr>
          </a:lstStyle>
          <a:p xmlns:a="http://schemas.openxmlformats.org/drawingml/2006/main">
            <a:pPr algn="l">
              <a:buNone/>
              <a:defRPr sz="2900" b="1">
                <a:solidFill>
                  <a:srgbClr val="3357B8"/>
                </a:solidFill>
                <a:latin typeface="Lora SemiBold"/>
                <a:ea typeface="Lora SemiBold"/>
                <a:cs typeface="Lora SemiBold"/>
              </a:defRPr>
            </a:pPr>
            <a:r>
              <a:rPr sz="2900" b="1">
                <a:solidFill>
                  <a:srgbClr val="3357B8"/>
                </a:solidFill>
                <a:latin typeface="Lora SemiBold"/>
                <a:ea typeface="Lora SemiBold"/>
                <a:cs typeface="Lora SemiBold"/>
              </a:rPr>
              <a:t>2. Customer segments</a:t>
            </a:r>
            <a:endParaRPr>
              <a:solidFill>
                <a:schemeClr val="accent1"/>
              </a:solidFill>
            </a:endParaRPr>
          </a:p>
        </p:txBody>
      </p:sp>
      <p:sp>
        <p:nvSpPr>
          <p:cNvPr id="7" name="Rounded Rectangle 6">
            <a:extLst xmlns:a="http://schemas.openxmlformats.org/drawingml/2006/main">
              <a:ext uri="{FF2B5EF4-FFF2-40B4-BE49-F238E27FC236}">
                <a16:creationId xmlns:a16="http://schemas.microsoft.com/office/drawing/2014/main" id="{9E3149F3-A7D7-BC8F-C84C-4A4E60EA2799}"/>
              </a:ext>
            </a:extLst>
          </p:cNvPr>
          <p:cNvSpPr>
            <a:spLocks xmlns:a="http://schemas.openxmlformats.org/drawingml/2006/main" noGrp="1"/>
          </p:cNvSpPr>
          <p:nvPr/>
        </p:nvSpPr>
        <p:spPr>
          <a:xfrm xmlns:a="http://schemas.openxmlformats.org/drawingml/2006/main">
            <a:off x="6264412" y="253749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9" name="Rounded Rectangle 8">
            <a:extLst xmlns:a="http://schemas.openxmlformats.org/drawingml/2006/main">
              <a:ext uri="{FF2B5EF4-FFF2-40B4-BE49-F238E27FC236}">
                <a16:creationId xmlns:a16="http://schemas.microsoft.com/office/drawing/2014/main" id="{5CD1077A-BBDF-3B07-D940-FA5482CB0124}"/>
              </a:ext>
            </a:extLst>
          </p:cNvPr>
          <p:cNvSpPr>
            <a:spLocks xmlns:a="http://schemas.openxmlformats.org/drawingml/2006/main" noGrp="1"/>
          </p:cNvSpPr>
          <p:nvPr/>
        </p:nvSpPr>
        <p:spPr>
          <a:xfrm xmlns:a="http://schemas.openxmlformats.org/drawingml/2006/main">
            <a:off x="409043" y="253749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0" name="Content Placeholder 10">
            <a:extLst xmlns:a="http://schemas.openxmlformats.org/drawingml/2006/main">
              <a:ext uri="{FF2B5EF4-FFF2-40B4-BE49-F238E27FC236}">
                <a16:creationId xmlns:a16="http://schemas.microsoft.com/office/drawing/2014/main" id="{B54A841D-1EA0-6181-C778-7C851CA6E64E}"/>
              </a:ext>
            </a:extLst>
          </p:cNvPr>
          <p:cNvSpPr>
            <a:spLocks xmlns:a="http://schemas.openxmlformats.org/drawingml/2006/main" noGrp="1"/>
          </p:cNvSpPr>
          <p:nvPr/>
        </p:nvSpPr>
        <p:spPr>
          <a:xfrm xmlns:a="http://schemas.openxmlformats.org/drawingml/2006/main">
            <a:off x="706278" y="3250891"/>
            <a:ext cx="4986886" cy="59753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defRPr sz="1600">
                <a:solidFill>
                  <a:srgbClr val="000000"/>
                </a:solidFill>
                <a:latin typeface="Helvetica Neue"/>
                <a:ea typeface="Helvetica Neue"/>
                <a:cs typeface="Helvetica Neue"/>
              </a:defRPr>
            </a:pPr>
            <a:r>
              <a:rPr sz="1600" b="0" i="0" u="none" strike="noStrike" cap="none" spc="0" baseline="0">
                <a:ln>
                  <a:noFill/>
                </a:ln>
                <a:solidFill>
                  <a:srgbClr val="000000"/>
                </a:solidFill>
                <a:latin typeface="Helvetica Neue"/>
                <a:ea typeface="Helvetica Neue"/>
                <a:cs typeface="Helvetica Neue"/>
              </a:rPr>
              <a:t>Blind and severely visually impaired adults who travel regularly, including students and workers.</a:t>
            </a:r>
          </a:p>
        </p:txBody>
      </p:sp>
      <p:sp>
        <p:nvSpPr>
          <p:cNvPr id="2" name="Rounded Rectangle 1">
            <a:extLst xmlns:a="http://schemas.openxmlformats.org/drawingml/2006/main">
              <a:ext uri="{FF2B5EF4-FFF2-40B4-BE49-F238E27FC236}">
                <a16:creationId xmlns:a16="http://schemas.microsoft.com/office/drawing/2014/main" id="{B4E203EC-EB81-96EF-66AB-3B6012B4B3EF}"/>
              </a:ext>
            </a:extLst>
          </p:cNvPr>
          <p:cNvSpPr>
            <a:spLocks xmlns:a="http://schemas.openxmlformats.org/drawingml/2006/main" noGrp="1"/>
          </p:cNvSpPr>
          <p:nvPr/>
        </p:nvSpPr>
        <p:spPr>
          <a:xfrm xmlns:a="http://schemas.openxmlformats.org/drawingml/2006/main">
            <a:off x="6264412" y="437010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4" name="Rounded Rectangle 3">
            <a:extLst xmlns:a="http://schemas.openxmlformats.org/drawingml/2006/main">
              <a:ext uri="{FF2B5EF4-FFF2-40B4-BE49-F238E27FC236}">
                <a16:creationId xmlns:a16="http://schemas.microsoft.com/office/drawing/2014/main" id="{2000F722-C0CE-FDAF-EAFE-20BC4A7F4118}"/>
              </a:ext>
            </a:extLst>
          </p:cNvPr>
          <p:cNvSpPr>
            <a:spLocks xmlns:a="http://schemas.openxmlformats.org/drawingml/2006/main" noGrp="1"/>
          </p:cNvSpPr>
          <p:nvPr/>
        </p:nvSpPr>
        <p:spPr>
          <a:xfrm xmlns:a="http://schemas.openxmlformats.org/drawingml/2006/main">
            <a:off x="409043" y="437010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1" name="Footer Placeholder 10">
            <a:extLst xmlns:a="http://schemas.openxmlformats.org/drawingml/2006/main">
              <a:ext uri="{FF2B5EF4-FFF2-40B4-BE49-F238E27FC236}">
                <a16:creationId xmlns:a16="http://schemas.microsoft.com/office/drawing/2014/main" id="{A4694142-7504-448C-B110-ABCB1A6DD41E}"/>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12" name="Google Shape;534;p58">
            <a:extLst xmlns:a="http://schemas.openxmlformats.org/drawingml/2006/main">
              <a:ext uri="{FF2B5EF4-FFF2-40B4-BE49-F238E27FC236}">
                <a16:creationId xmlns:a16="http://schemas.microsoft.com/office/drawing/2014/main" id="{F393FB38-1005-6250-1642-93C1A76E0B77}"/>
              </a:ext>
            </a:extLst>
          </p:cNvPr>
          <p:cNvSpPr>
            <a:spLocks xmlns:a="http://schemas.openxmlformats.org/drawingml/2006/main" noGrp="1"/>
          </p:cNvSpPr>
          <p:nvPr/>
        </p:nvSpPr>
        <p:spPr>
          <a:xfrm xmlns:a="http://schemas.openxmlformats.org/drawingml/2006/main">
            <a:off x="393700" y="1649094"/>
            <a:ext cx="11404600" cy="63404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Start with Egyptian rehabilitation partners and adults with established orientation and mobility skills. Procurement must include suitable users and enough training capacity.</a:t>
            </a:r>
          </a:p>
        </p:txBody>
      </p:sp>
      <p:sp>
        <p:nvSpPr>
          <p:cNvPr id="13" name="Google Shape;534;p58">
            <a:extLst xmlns:a="http://schemas.openxmlformats.org/drawingml/2006/main">
              <a:ext uri="{FF2B5EF4-FFF2-40B4-BE49-F238E27FC236}">
                <a16:creationId xmlns:a16="http://schemas.microsoft.com/office/drawing/2014/main" id="{A0F4C075-109A-7DDE-18C9-18F128552C24}"/>
              </a:ext>
            </a:extLst>
          </p:cNvPr>
          <p:cNvSpPr>
            <a:spLocks xmlns:a="http://schemas.openxmlformats.org/drawingml/2006/main" noGrp="1"/>
          </p:cNvSpPr>
          <p:nvPr/>
        </p:nvSpPr>
        <p:spPr>
          <a:xfrm xmlns:a="http://schemas.openxmlformats.org/drawingml/2006/main">
            <a:off x="393699" y="1146566"/>
            <a:ext cx="11404599"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000">
                <a:solidFill>
                  <a:srgbClr val="000000"/>
                </a:solidFill>
                <a:latin typeface="Lora"/>
                <a:ea typeface="Lora"/>
                <a:cs typeface="Lora"/>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2000">
                <a:solidFill>
                  <a:srgbClr val="000000"/>
                </a:solidFill>
                <a:latin typeface="Lora"/>
                <a:ea typeface="Lora"/>
                <a:cs typeface="Lora"/>
              </a:defRPr>
            </a:pPr>
            <a:r>
              <a:rPr sz="2000">
                <a:solidFill>
                  <a:srgbClr val="000000"/>
                </a:solidFill>
                <a:latin typeface="Lora"/>
                <a:ea typeface="Lora"/>
                <a:cs typeface="Lora"/>
              </a:rPr>
              <a:t>The wearer, buyer and funder have different needs</a:t>
            </a:r>
            <a:endParaRPr sz="2000">
              <a:latin typeface="+mj-lt"/>
              <a:ea typeface="+mj-lt"/>
              <a:cs typeface="+mj-lt"/>
            </a:endParaRPr>
          </a:p>
        </p:txBody>
      </p:sp>
      <p:sp>
        <p:nvSpPr>
          <p:cNvPr id="14" name="TextBox 13">
            <a:extLst xmlns:a="http://schemas.openxmlformats.org/drawingml/2006/main">
              <a:ext uri="{FF2B5EF4-FFF2-40B4-BE49-F238E27FC236}">
                <a16:creationId xmlns:a16="http://schemas.microsoft.com/office/drawing/2014/main" id="{49DCE927-F1A4-A9ED-C839-844BB688547F}"/>
              </a:ext>
            </a:extLst>
          </p:cNvPr>
          <p:cNvSpPr>
            <a:spLocks xmlns:a="http://schemas.openxmlformats.org/drawingml/2006/main" noGrp="1"/>
          </p:cNvSpPr>
          <p:nvPr/>
        </p:nvSpPr>
        <p:spPr>
          <a:xfrm xmlns:a="http://schemas.openxmlformats.org/drawingml/2006/main">
            <a:off x="702967" y="2793808"/>
            <a:ext cx="4986886" cy="312725"/>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lgn="l">
              <a:defRPr sz="1800">
                <a:solidFill>
                  <a:srgbClr val="3357B8"/>
                </a:solidFill>
                <a:latin typeface="Helvetica Neue Medium"/>
                <a:ea typeface="Helvetica Neue Medium"/>
                <a:cs typeface="Helvetica Neue Medium"/>
              </a:defRPr>
            </a:defPPr>
            <a:lvl1pPr algn="l">
              <a:buNone/>
              <a:defRPr sz="1800">
                <a:solidFill>
                  <a:srgbClr val="3357B8"/>
                </a:solidFill>
                <a:latin typeface="Helvetica Neue Medium"/>
                <a:ea typeface="Helvetica Neue Medium"/>
                <a:cs typeface="Helvetica Neue Medium"/>
              </a:defRPr>
            </a:lvl1pPr>
            <a:lvl2pPr algn="l">
              <a:buNone/>
              <a:defRPr sz="1800">
                <a:solidFill>
                  <a:srgbClr val="3357B8"/>
                </a:solidFill>
                <a:latin typeface="Helvetica Neue Medium"/>
                <a:ea typeface="Helvetica Neue Medium"/>
                <a:cs typeface="Helvetica Neue Medium"/>
              </a:defRPr>
            </a:lvl2pPr>
            <a:lvl3pPr algn="l">
              <a:buNone/>
              <a:defRPr sz="1800">
                <a:solidFill>
                  <a:srgbClr val="3357B8"/>
                </a:solidFill>
                <a:latin typeface="Helvetica Neue Medium"/>
                <a:ea typeface="Helvetica Neue Medium"/>
                <a:cs typeface="Helvetica Neue Medium"/>
              </a:defRPr>
            </a:lvl3pPr>
            <a:lvl4pPr algn="l">
              <a:buNone/>
              <a:defRPr sz="1800">
                <a:solidFill>
                  <a:srgbClr val="3357B8"/>
                </a:solidFill>
                <a:latin typeface="Helvetica Neue Medium"/>
                <a:ea typeface="Helvetica Neue Medium"/>
                <a:cs typeface="Helvetica Neue Medium"/>
              </a:defRPr>
            </a:lvl4pPr>
            <a:lvl5pPr algn="l">
              <a:buNone/>
              <a:defRPr sz="1800">
                <a:solidFill>
                  <a:srgbClr val="3357B8"/>
                </a:solidFill>
                <a:latin typeface="Helvetica Neue Medium"/>
                <a:ea typeface="Helvetica Neue Medium"/>
                <a:cs typeface="Helvetica Neue Medium"/>
              </a:defRPr>
            </a:lvl5pPr>
            <a:lvl6pPr algn="l">
              <a:buNone/>
              <a:defRPr sz="1800">
                <a:solidFill>
                  <a:srgbClr val="3357B8"/>
                </a:solidFill>
                <a:latin typeface="Helvetica Neue Medium"/>
                <a:ea typeface="Helvetica Neue Medium"/>
                <a:cs typeface="Helvetica Neue Medium"/>
              </a:defRPr>
            </a:lvl6pPr>
            <a:lvl7pPr algn="l">
              <a:buNone/>
              <a:defRPr sz="1800">
                <a:solidFill>
                  <a:srgbClr val="3357B8"/>
                </a:solidFill>
                <a:latin typeface="Helvetica Neue Medium"/>
                <a:ea typeface="Helvetica Neue Medium"/>
                <a:cs typeface="Helvetica Neue Medium"/>
              </a:defRPr>
            </a:lvl7pPr>
            <a:lvl8pPr algn="l">
              <a:buNone/>
              <a:defRPr sz="1800">
                <a:solidFill>
                  <a:srgbClr val="3357B8"/>
                </a:solidFill>
                <a:latin typeface="Helvetica Neue Medium"/>
                <a:ea typeface="Helvetica Neue Medium"/>
                <a:cs typeface="Helvetica Neue Medium"/>
              </a:defRPr>
            </a:lvl8pPr>
            <a:lvl9pPr algn="l">
              <a:buNone/>
              <a:defRPr sz="1800">
                <a:solidFill>
                  <a:srgbClr val="3357B8"/>
                </a:solidFill>
                <a:latin typeface="Helvetica Neue Medium"/>
                <a:ea typeface="Helvetica Neue Medium"/>
                <a:cs typeface="Helvetica Neue Medium"/>
              </a:defRPr>
            </a:lvl9pPr>
          </a:lstStyle>
          <a:p xmlns:a="http://schemas.openxmlformats.org/drawingml/2006/main">
            <a:pPr marL="0" marR="0" lvl="0" indent="0" algn="l" defTabSz="914400">
              <a:lnSpc>
                <a:spcPct val="114000"/>
              </a:lnSpc>
              <a:spcBef>
                <a:spcPts val="0"/>
              </a:spcBef>
              <a:spcAft>
                <a:spcPts val="800"/>
              </a:spcAft>
              <a:buClrTx/>
              <a:buSzTx/>
              <a:buFontTx/>
              <a:buNone/>
              <a:defRPr sz="1800">
                <a:solidFill>
                  <a:srgbClr val="3357B8"/>
                </a:solidFill>
                <a:latin typeface="Helvetica Neue Medium"/>
                <a:ea typeface="Helvetica Neue Medium"/>
                <a:cs typeface="Helvetica Neue Medium"/>
              </a:defRPr>
            </a:pPr>
            <a:r>
              <a:rPr sz="1800" b="0" i="0" u="none" strike="noStrike" cap="none" spc="0" baseline="0">
                <a:ln>
                  <a:noFill/>
                </a:ln>
                <a:solidFill>
                  <a:srgbClr val="3357B8"/>
                </a:solidFill>
                <a:latin typeface="Helvetica Neue Medium"/>
                <a:ea typeface="Helvetica Neue Medium"/>
                <a:cs typeface="Helvetica Neue Medium"/>
              </a:rPr>
              <a:t>Primary B2C users</a:t>
            </a:r>
          </a:p>
        </p:txBody>
      </p:sp>
      <p:sp>
        <p:nvSpPr>
          <p:cNvPr id="16" name="Content Placeholder 10">
            <a:extLst xmlns:a="http://schemas.openxmlformats.org/drawingml/2006/main">
              <a:ext uri="{FF2B5EF4-FFF2-40B4-BE49-F238E27FC236}">
                <a16:creationId xmlns:a16="http://schemas.microsoft.com/office/drawing/2014/main" id="{B71DDDF3-A6F6-A2D9-7F68-A246AE82F73A}"/>
              </a:ext>
            </a:extLst>
          </p:cNvPr>
          <p:cNvSpPr>
            <a:spLocks xmlns:a="http://schemas.openxmlformats.org/drawingml/2006/main" noGrp="1"/>
          </p:cNvSpPr>
          <p:nvPr/>
        </p:nvSpPr>
        <p:spPr>
          <a:xfrm xmlns:a="http://schemas.openxmlformats.org/drawingml/2006/main">
            <a:off x="6558438" y="3250891"/>
            <a:ext cx="4986886" cy="59753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defRPr sz="1600">
                <a:solidFill>
                  <a:srgbClr val="000000"/>
                </a:solidFill>
                <a:latin typeface="Helvetica Neue"/>
                <a:ea typeface="Helvetica Neue"/>
                <a:cs typeface="Helvetica Neue"/>
              </a:defRPr>
            </a:pPr>
            <a:r>
              <a:rPr sz="1600" b="0" i="0" u="none" strike="noStrike" cap="none" spc="0" baseline="0">
                <a:ln>
                  <a:noFill/>
                </a:ln>
                <a:solidFill>
                  <a:srgbClr val="000000"/>
                </a:solidFill>
                <a:latin typeface="Helvetica Neue"/>
                <a:ea typeface="Helvetica Neue"/>
                <a:cs typeface="Helvetica Neue"/>
              </a:rPr>
              <a:t>NGOs, rehabilitation centers, universities and public disability programs purchasing devices.</a:t>
            </a:r>
          </a:p>
        </p:txBody>
      </p:sp>
      <p:sp>
        <p:nvSpPr>
          <p:cNvPr id="17" name="TextBox 16">
            <a:extLst xmlns:a="http://schemas.openxmlformats.org/drawingml/2006/main">
              <a:ext uri="{FF2B5EF4-FFF2-40B4-BE49-F238E27FC236}">
                <a16:creationId xmlns:a16="http://schemas.microsoft.com/office/drawing/2014/main" id="{BAD06467-8163-39A0-0B9A-1A98533B6978}"/>
              </a:ext>
            </a:extLst>
          </p:cNvPr>
          <p:cNvSpPr>
            <a:spLocks xmlns:a="http://schemas.openxmlformats.org/drawingml/2006/main" noGrp="1"/>
          </p:cNvSpPr>
          <p:nvPr/>
        </p:nvSpPr>
        <p:spPr>
          <a:xfrm xmlns:a="http://schemas.openxmlformats.org/drawingml/2006/main">
            <a:off x="6555127" y="2793808"/>
            <a:ext cx="4986886" cy="312725"/>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lgn="l">
              <a:defRPr sz="1800">
                <a:solidFill>
                  <a:srgbClr val="3357B8"/>
                </a:solidFill>
                <a:latin typeface="Helvetica Neue Medium"/>
                <a:ea typeface="Helvetica Neue Medium"/>
                <a:cs typeface="Helvetica Neue Medium"/>
              </a:defRPr>
            </a:defPPr>
            <a:lvl1pPr algn="l">
              <a:buNone/>
              <a:defRPr sz="1800">
                <a:solidFill>
                  <a:srgbClr val="3357B8"/>
                </a:solidFill>
                <a:latin typeface="Helvetica Neue Medium"/>
                <a:ea typeface="Helvetica Neue Medium"/>
                <a:cs typeface="Helvetica Neue Medium"/>
              </a:defRPr>
            </a:lvl1pPr>
            <a:lvl2pPr algn="l">
              <a:buNone/>
              <a:defRPr sz="1800">
                <a:solidFill>
                  <a:srgbClr val="3357B8"/>
                </a:solidFill>
                <a:latin typeface="Helvetica Neue Medium"/>
                <a:ea typeface="Helvetica Neue Medium"/>
                <a:cs typeface="Helvetica Neue Medium"/>
              </a:defRPr>
            </a:lvl2pPr>
            <a:lvl3pPr algn="l">
              <a:buNone/>
              <a:defRPr sz="1800">
                <a:solidFill>
                  <a:srgbClr val="3357B8"/>
                </a:solidFill>
                <a:latin typeface="Helvetica Neue Medium"/>
                <a:ea typeface="Helvetica Neue Medium"/>
                <a:cs typeface="Helvetica Neue Medium"/>
              </a:defRPr>
            </a:lvl3pPr>
            <a:lvl4pPr algn="l">
              <a:buNone/>
              <a:defRPr sz="1800">
                <a:solidFill>
                  <a:srgbClr val="3357B8"/>
                </a:solidFill>
                <a:latin typeface="Helvetica Neue Medium"/>
                <a:ea typeface="Helvetica Neue Medium"/>
                <a:cs typeface="Helvetica Neue Medium"/>
              </a:defRPr>
            </a:lvl4pPr>
            <a:lvl5pPr algn="l">
              <a:buNone/>
              <a:defRPr sz="1800">
                <a:solidFill>
                  <a:srgbClr val="3357B8"/>
                </a:solidFill>
                <a:latin typeface="Helvetica Neue Medium"/>
                <a:ea typeface="Helvetica Neue Medium"/>
                <a:cs typeface="Helvetica Neue Medium"/>
              </a:defRPr>
            </a:lvl5pPr>
            <a:lvl6pPr algn="l">
              <a:buNone/>
              <a:defRPr sz="1800">
                <a:solidFill>
                  <a:srgbClr val="3357B8"/>
                </a:solidFill>
                <a:latin typeface="Helvetica Neue Medium"/>
                <a:ea typeface="Helvetica Neue Medium"/>
                <a:cs typeface="Helvetica Neue Medium"/>
              </a:defRPr>
            </a:lvl6pPr>
            <a:lvl7pPr algn="l">
              <a:buNone/>
              <a:defRPr sz="1800">
                <a:solidFill>
                  <a:srgbClr val="3357B8"/>
                </a:solidFill>
                <a:latin typeface="Helvetica Neue Medium"/>
                <a:ea typeface="Helvetica Neue Medium"/>
                <a:cs typeface="Helvetica Neue Medium"/>
              </a:defRPr>
            </a:lvl7pPr>
            <a:lvl8pPr algn="l">
              <a:buNone/>
              <a:defRPr sz="1800">
                <a:solidFill>
                  <a:srgbClr val="3357B8"/>
                </a:solidFill>
                <a:latin typeface="Helvetica Neue Medium"/>
                <a:ea typeface="Helvetica Neue Medium"/>
                <a:cs typeface="Helvetica Neue Medium"/>
              </a:defRPr>
            </a:lvl8pPr>
            <a:lvl9pPr algn="l">
              <a:buNone/>
              <a:defRPr sz="1800">
                <a:solidFill>
                  <a:srgbClr val="3357B8"/>
                </a:solidFill>
                <a:latin typeface="Helvetica Neue Medium"/>
                <a:ea typeface="Helvetica Neue Medium"/>
                <a:cs typeface="Helvetica Neue Medium"/>
              </a:defRPr>
            </a:lvl9pPr>
          </a:lstStyle>
          <a:p xmlns:a="http://schemas.openxmlformats.org/drawingml/2006/main">
            <a:pPr marL="0" marR="0" lvl="0" indent="0" algn="l" defTabSz="914400">
              <a:lnSpc>
                <a:spcPct val="114000"/>
              </a:lnSpc>
              <a:spcBef>
                <a:spcPts val="0"/>
              </a:spcBef>
              <a:spcAft>
                <a:spcPts val="800"/>
              </a:spcAft>
              <a:buClrTx/>
              <a:buSzTx/>
              <a:buFontTx/>
              <a:buNone/>
              <a:defRPr sz="1800">
                <a:solidFill>
                  <a:srgbClr val="3357B8"/>
                </a:solidFill>
                <a:latin typeface="Helvetica Neue Medium"/>
                <a:ea typeface="Helvetica Neue Medium"/>
                <a:cs typeface="Helvetica Neue Medium"/>
              </a:defRPr>
            </a:pPr>
            <a:r>
              <a:rPr sz="1800" b="0" i="0" u="none" strike="noStrike" cap="none" spc="0" baseline="0">
                <a:ln>
                  <a:noFill/>
                </a:ln>
                <a:solidFill>
                  <a:srgbClr val="3357B8"/>
                </a:solidFill>
                <a:latin typeface="Helvetica Neue Medium"/>
                <a:ea typeface="Helvetica Neue Medium"/>
                <a:cs typeface="Helvetica Neue Medium"/>
              </a:rPr>
              <a:t>Institutional B2B / B2G</a:t>
            </a:r>
          </a:p>
        </p:txBody>
      </p:sp>
      <p:sp>
        <p:nvSpPr>
          <p:cNvPr id="18" name="Content Placeholder 10">
            <a:extLst xmlns:a="http://schemas.openxmlformats.org/drawingml/2006/main">
              <a:ext uri="{FF2B5EF4-FFF2-40B4-BE49-F238E27FC236}">
                <a16:creationId xmlns:a16="http://schemas.microsoft.com/office/drawing/2014/main" id="{E61F5831-A6CA-0036-3E5C-283D4EBAFE55}"/>
              </a:ext>
            </a:extLst>
          </p:cNvPr>
          <p:cNvSpPr>
            <a:spLocks xmlns:a="http://schemas.openxmlformats.org/drawingml/2006/main" noGrp="1"/>
          </p:cNvSpPr>
          <p:nvPr/>
        </p:nvSpPr>
        <p:spPr>
          <a:xfrm xmlns:a="http://schemas.openxmlformats.org/drawingml/2006/main">
            <a:off x="706278" y="5094931"/>
            <a:ext cx="4986886" cy="59753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defRPr sz="1600">
                <a:solidFill>
                  <a:srgbClr val="000000"/>
                </a:solidFill>
                <a:latin typeface="Helvetica Neue"/>
                <a:ea typeface="Helvetica Neue"/>
                <a:cs typeface="Helvetica Neue"/>
              </a:defRPr>
            </a:pPr>
            <a:r>
              <a:rPr sz="1600" b="0" i="0" u="none" strike="noStrike" cap="none" spc="0" baseline="0">
                <a:ln>
                  <a:noFill/>
                </a:ln>
                <a:solidFill>
                  <a:srgbClr val="000000"/>
                </a:solidFill>
                <a:latin typeface="Helvetica Neue"/>
                <a:ea typeface="Helvetica Neue"/>
                <a:cs typeface="Helvetica Neue"/>
              </a:rPr>
              <a:t>Banks and telecoms financing beneficiary cohorts, onboarding and ongoing maintenance.</a:t>
            </a:r>
          </a:p>
        </p:txBody>
      </p:sp>
      <p:sp>
        <p:nvSpPr>
          <p:cNvPr id="19" name="TextBox 18">
            <a:extLst xmlns:a="http://schemas.openxmlformats.org/drawingml/2006/main">
              <a:ext uri="{FF2B5EF4-FFF2-40B4-BE49-F238E27FC236}">
                <a16:creationId xmlns:a16="http://schemas.microsoft.com/office/drawing/2014/main" id="{1283300B-2E76-54E3-B3E8-C4CE0DA323BE}"/>
              </a:ext>
            </a:extLst>
          </p:cNvPr>
          <p:cNvSpPr>
            <a:spLocks xmlns:a="http://schemas.openxmlformats.org/drawingml/2006/main" noGrp="1"/>
          </p:cNvSpPr>
          <p:nvPr/>
        </p:nvSpPr>
        <p:spPr>
          <a:xfrm xmlns:a="http://schemas.openxmlformats.org/drawingml/2006/main">
            <a:off x="702967" y="4637848"/>
            <a:ext cx="4986886" cy="312725"/>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lgn="l">
              <a:defRPr sz="1800">
                <a:solidFill>
                  <a:srgbClr val="3357B8"/>
                </a:solidFill>
                <a:latin typeface="Helvetica Neue Medium"/>
                <a:ea typeface="Helvetica Neue Medium"/>
                <a:cs typeface="Helvetica Neue Medium"/>
              </a:defRPr>
            </a:defPPr>
            <a:lvl1pPr algn="l">
              <a:buNone/>
              <a:defRPr sz="1800">
                <a:solidFill>
                  <a:srgbClr val="3357B8"/>
                </a:solidFill>
                <a:latin typeface="Helvetica Neue Medium"/>
                <a:ea typeface="Helvetica Neue Medium"/>
                <a:cs typeface="Helvetica Neue Medium"/>
              </a:defRPr>
            </a:lvl1pPr>
            <a:lvl2pPr algn="l">
              <a:buNone/>
              <a:defRPr sz="1800">
                <a:solidFill>
                  <a:srgbClr val="3357B8"/>
                </a:solidFill>
                <a:latin typeface="Helvetica Neue Medium"/>
                <a:ea typeface="Helvetica Neue Medium"/>
                <a:cs typeface="Helvetica Neue Medium"/>
              </a:defRPr>
            </a:lvl2pPr>
            <a:lvl3pPr algn="l">
              <a:buNone/>
              <a:defRPr sz="1800">
                <a:solidFill>
                  <a:srgbClr val="3357B8"/>
                </a:solidFill>
                <a:latin typeface="Helvetica Neue Medium"/>
                <a:ea typeface="Helvetica Neue Medium"/>
                <a:cs typeface="Helvetica Neue Medium"/>
              </a:defRPr>
            </a:lvl3pPr>
            <a:lvl4pPr algn="l">
              <a:buNone/>
              <a:defRPr sz="1800">
                <a:solidFill>
                  <a:srgbClr val="3357B8"/>
                </a:solidFill>
                <a:latin typeface="Helvetica Neue Medium"/>
                <a:ea typeface="Helvetica Neue Medium"/>
                <a:cs typeface="Helvetica Neue Medium"/>
              </a:defRPr>
            </a:lvl4pPr>
            <a:lvl5pPr algn="l">
              <a:buNone/>
              <a:defRPr sz="1800">
                <a:solidFill>
                  <a:srgbClr val="3357B8"/>
                </a:solidFill>
                <a:latin typeface="Helvetica Neue Medium"/>
                <a:ea typeface="Helvetica Neue Medium"/>
                <a:cs typeface="Helvetica Neue Medium"/>
              </a:defRPr>
            </a:lvl5pPr>
            <a:lvl6pPr algn="l">
              <a:buNone/>
              <a:defRPr sz="1800">
                <a:solidFill>
                  <a:srgbClr val="3357B8"/>
                </a:solidFill>
                <a:latin typeface="Helvetica Neue Medium"/>
                <a:ea typeface="Helvetica Neue Medium"/>
                <a:cs typeface="Helvetica Neue Medium"/>
              </a:defRPr>
            </a:lvl6pPr>
            <a:lvl7pPr algn="l">
              <a:buNone/>
              <a:defRPr sz="1800">
                <a:solidFill>
                  <a:srgbClr val="3357B8"/>
                </a:solidFill>
                <a:latin typeface="Helvetica Neue Medium"/>
                <a:ea typeface="Helvetica Neue Medium"/>
                <a:cs typeface="Helvetica Neue Medium"/>
              </a:defRPr>
            </a:lvl7pPr>
            <a:lvl8pPr algn="l">
              <a:buNone/>
              <a:defRPr sz="1800">
                <a:solidFill>
                  <a:srgbClr val="3357B8"/>
                </a:solidFill>
                <a:latin typeface="Helvetica Neue Medium"/>
                <a:ea typeface="Helvetica Neue Medium"/>
                <a:cs typeface="Helvetica Neue Medium"/>
              </a:defRPr>
            </a:lvl8pPr>
            <a:lvl9pPr algn="l">
              <a:buNone/>
              <a:defRPr sz="1800">
                <a:solidFill>
                  <a:srgbClr val="3357B8"/>
                </a:solidFill>
                <a:latin typeface="Helvetica Neue Medium"/>
                <a:ea typeface="Helvetica Neue Medium"/>
                <a:cs typeface="Helvetica Neue Medium"/>
              </a:defRPr>
            </a:lvl9pPr>
          </a:lstStyle>
          <a:p xmlns:a="http://schemas.openxmlformats.org/drawingml/2006/main">
            <a:pPr marL="0" marR="0" lvl="0" indent="0" algn="l" defTabSz="914400">
              <a:lnSpc>
                <a:spcPct val="114000"/>
              </a:lnSpc>
              <a:spcBef>
                <a:spcPts val="0"/>
              </a:spcBef>
              <a:spcAft>
                <a:spcPts val="800"/>
              </a:spcAft>
              <a:buClrTx/>
              <a:buSzTx/>
              <a:buFontTx/>
              <a:buNone/>
              <a:defRPr sz="1800">
                <a:solidFill>
                  <a:srgbClr val="3357B8"/>
                </a:solidFill>
                <a:latin typeface="Helvetica Neue Medium"/>
                <a:ea typeface="Helvetica Neue Medium"/>
                <a:cs typeface="Helvetica Neue Medium"/>
              </a:defRPr>
            </a:pPr>
            <a:r>
              <a:rPr sz="1800" b="0" i="0" u="none" strike="noStrike" cap="none" spc="0" baseline="0">
                <a:ln>
                  <a:noFill/>
                </a:ln>
                <a:solidFill>
                  <a:srgbClr val="3357B8"/>
                </a:solidFill>
                <a:latin typeface="Helvetica Neue Medium"/>
                <a:ea typeface="Helvetica Neue Medium"/>
                <a:cs typeface="Helvetica Neue Medium"/>
              </a:rPr>
              <a:t>CSR sponsors</a:t>
            </a:r>
          </a:p>
        </p:txBody>
      </p:sp>
      <p:sp>
        <p:nvSpPr>
          <p:cNvPr id="20" name="Content Placeholder 10">
            <a:extLst xmlns:a="http://schemas.openxmlformats.org/drawingml/2006/main">
              <a:ext uri="{FF2B5EF4-FFF2-40B4-BE49-F238E27FC236}">
                <a16:creationId xmlns:a16="http://schemas.microsoft.com/office/drawing/2014/main" id="{91E87E4E-34C4-73A3-D9B4-5528035E3F32}"/>
              </a:ext>
            </a:extLst>
          </p:cNvPr>
          <p:cNvSpPr>
            <a:spLocks xmlns:a="http://schemas.openxmlformats.org/drawingml/2006/main" noGrp="1"/>
          </p:cNvSpPr>
          <p:nvPr/>
        </p:nvSpPr>
        <p:spPr>
          <a:xfrm xmlns:a="http://schemas.openxmlformats.org/drawingml/2006/main">
            <a:off x="6558438" y="5094931"/>
            <a:ext cx="4986886" cy="59753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defRPr sz="1600">
                <a:solidFill>
                  <a:srgbClr val="000000"/>
                </a:solidFill>
                <a:latin typeface="Helvetica Neue"/>
                <a:ea typeface="Helvetica Neue"/>
                <a:cs typeface="Helvetica Neue"/>
              </a:defRPr>
            </a:pPr>
            <a:r>
              <a:rPr sz="1600" b="0" i="0" u="none" strike="noStrike" cap="none" spc="0" baseline="0">
                <a:ln>
                  <a:noFill/>
                </a:ln>
                <a:solidFill>
                  <a:srgbClr val="000000"/>
                </a:solidFill>
                <a:latin typeface="Helvetica Neue"/>
                <a:ea typeface="Helvetica Neue"/>
                <a:cs typeface="Helvetica Neue"/>
              </a:rPr>
              <a:t>Adults willing to complete supervised trials, learn tactile cues and provide structured feedback.</a:t>
            </a:r>
          </a:p>
        </p:txBody>
      </p:sp>
      <p:sp>
        <p:nvSpPr>
          <p:cNvPr id="21" name="TextBox 20">
            <a:extLst xmlns:a="http://schemas.openxmlformats.org/drawingml/2006/main">
              <a:ext uri="{FF2B5EF4-FFF2-40B4-BE49-F238E27FC236}">
                <a16:creationId xmlns:a16="http://schemas.microsoft.com/office/drawing/2014/main" id="{4BBBD727-79F1-2502-A083-A18F5A754163}"/>
              </a:ext>
            </a:extLst>
          </p:cNvPr>
          <p:cNvSpPr>
            <a:spLocks xmlns:a="http://schemas.openxmlformats.org/drawingml/2006/main" noGrp="1"/>
          </p:cNvSpPr>
          <p:nvPr/>
        </p:nvSpPr>
        <p:spPr>
          <a:xfrm xmlns:a="http://schemas.openxmlformats.org/drawingml/2006/main">
            <a:off x="6555127" y="4637848"/>
            <a:ext cx="4986886" cy="312725"/>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lgn="l">
              <a:defRPr sz="1800">
                <a:solidFill>
                  <a:srgbClr val="3357B8"/>
                </a:solidFill>
                <a:latin typeface="Helvetica Neue Medium"/>
                <a:ea typeface="Helvetica Neue Medium"/>
                <a:cs typeface="Helvetica Neue Medium"/>
              </a:defRPr>
            </a:defPPr>
            <a:lvl1pPr algn="l">
              <a:buNone/>
              <a:defRPr sz="1800">
                <a:solidFill>
                  <a:srgbClr val="3357B8"/>
                </a:solidFill>
                <a:latin typeface="Helvetica Neue Medium"/>
                <a:ea typeface="Helvetica Neue Medium"/>
                <a:cs typeface="Helvetica Neue Medium"/>
              </a:defRPr>
            </a:lvl1pPr>
            <a:lvl2pPr algn="l">
              <a:buNone/>
              <a:defRPr sz="1800">
                <a:solidFill>
                  <a:srgbClr val="3357B8"/>
                </a:solidFill>
                <a:latin typeface="Helvetica Neue Medium"/>
                <a:ea typeface="Helvetica Neue Medium"/>
                <a:cs typeface="Helvetica Neue Medium"/>
              </a:defRPr>
            </a:lvl2pPr>
            <a:lvl3pPr algn="l">
              <a:buNone/>
              <a:defRPr sz="1800">
                <a:solidFill>
                  <a:srgbClr val="3357B8"/>
                </a:solidFill>
                <a:latin typeface="Helvetica Neue Medium"/>
                <a:ea typeface="Helvetica Neue Medium"/>
                <a:cs typeface="Helvetica Neue Medium"/>
              </a:defRPr>
            </a:lvl3pPr>
            <a:lvl4pPr algn="l">
              <a:buNone/>
              <a:defRPr sz="1800">
                <a:solidFill>
                  <a:srgbClr val="3357B8"/>
                </a:solidFill>
                <a:latin typeface="Helvetica Neue Medium"/>
                <a:ea typeface="Helvetica Neue Medium"/>
                <a:cs typeface="Helvetica Neue Medium"/>
              </a:defRPr>
            </a:lvl4pPr>
            <a:lvl5pPr algn="l">
              <a:buNone/>
              <a:defRPr sz="1800">
                <a:solidFill>
                  <a:srgbClr val="3357B8"/>
                </a:solidFill>
                <a:latin typeface="Helvetica Neue Medium"/>
                <a:ea typeface="Helvetica Neue Medium"/>
                <a:cs typeface="Helvetica Neue Medium"/>
              </a:defRPr>
            </a:lvl5pPr>
            <a:lvl6pPr algn="l">
              <a:buNone/>
              <a:defRPr sz="1800">
                <a:solidFill>
                  <a:srgbClr val="3357B8"/>
                </a:solidFill>
                <a:latin typeface="Helvetica Neue Medium"/>
                <a:ea typeface="Helvetica Neue Medium"/>
                <a:cs typeface="Helvetica Neue Medium"/>
              </a:defRPr>
            </a:lvl6pPr>
            <a:lvl7pPr algn="l">
              <a:buNone/>
              <a:defRPr sz="1800">
                <a:solidFill>
                  <a:srgbClr val="3357B8"/>
                </a:solidFill>
                <a:latin typeface="Helvetica Neue Medium"/>
                <a:ea typeface="Helvetica Neue Medium"/>
                <a:cs typeface="Helvetica Neue Medium"/>
              </a:defRPr>
            </a:lvl7pPr>
            <a:lvl8pPr algn="l">
              <a:buNone/>
              <a:defRPr sz="1800">
                <a:solidFill>
                  <a:srgbClr val="3357B8"/>
                </a:solidFill>
                <a:latin typeface="Helvetica Neue Medium"/>
                <a:ea typeface="Helvetica Neue Medium"/>
                <a:cs typeface="Helvetica Neue Medium"/>
              </a:defRPr>
            </a:lvl8pPr>
            <a:lvl9pPr algn="l">
              <a:buNone/>
              <a:defRPr sz="1800">
                <a:solidFill>
                  <a:srgbClr val="3357B8"/>
                </a:solidFill>
                <a:latin typeface="Helvetica Neue Medium"/>
                <a:ea typeface="Helvetica Neue Medium"/>
                <a:cs typeface="Helvetica Neue Medium"/>
              </a:defRPr>
            </a:lvl9pPr>
          </a:lstStyle>
          <a:p xmlns:a="http://schemas.openxmlformats.org/drawingml/2006/main">
            <a:pPr marL="0" marR="0" lvl="0" indent="0" algn="l" defTabSz="914400">
              <a:lnSpc>
                <a:spcPct val="114000"/>
              </a:lnSpc>
              <a:spcBef>
                <a:spcPts val="0"/>
              </a:spcBef>
              <a:spcAft>
                <a:spcPts val="800"/>
              </a:spcAft>
              <a:buClrTx/>
              <a:buSzTx/>
              <a:buFontTx/>
              <a:buNone/>
              <a:defRPr sz="1800">
                <a:solidFill>
                  <a:srgbClr val="3357B8"/>
                </a:solidFill>
                <a:latin typeface="Helvetica Neue Medium"/>
                <a:ea typeface="Helvetica Neue Medium"/>
                <a:cs typeface="Helvetica Neue Medium"/>
              </a:defRPr>
            </a:pPr>
            <a:r>
              <a:rPr sz="1800" b="0" i="0" u="none" strike="noStrike" cap="none" spc="0" baseline="0">
                <a:ln>
                  <a:noFill/>
                </a:ln>
                <a:solidFill>
                  <a:srgbClr val="3357B8"/>
                </a:solidFill>
                <a:latin typeface="Helvetica Neue Medium"/>
                <a:ea typeface="Helvetica Neue Medium"/>
                <a:cs typeface="Helvetica Neue Medium"/>
              </a:rPr>
              <a:t>Early adopters</a:t>
            </a:r>
          </a:p>
        </p:txBody>
      </p:sp>
    </p:spTree>
    <p:extLst>
      <p:ext uri="{BB962C8B-B14F-4D97-AF65-F5344CB8AC3E}">
        <p14:creationId xmlns:p14="http://schemas.microsoft.com/office/powerpoint/2010/main" val="217953532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C936F667-D10C-5292-AA3B-96BE2CAC84D9}"/>
              </a:ext>
            </a:extLst>
          </p:cNvPr>
          <p:cNvSpPr>
            <a:spLocks xmlns:a="http://schemas.openxmlformats.org/drawingml/2006/main" noGrp="1"/>
          </p:cNvSpPr>
          <p:nvPr>
            <p:ph idx="1"/>
          </p:nvPr>
        </p:nvSpPr>
        <p:spPr>
          <a:xfrm xmlns:a="http://schemas.openxmlformats.org/drawingml/2006/main">
            <a:off x="393700" y="2192694"/>
            <a:ext cx="5537200" cy="380170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400">
                <a:solidFill>
                  <a:srgbClr val="000000"/>
                </a:solidFill>
                <a:latin typeface="Roboto"/>
                <a:ea typeface="Roboto"/>
                <a:cs typeface="Roboto"/>
              </a:defRPr>
            </a:defPPr>
            <a:lvl1pPr algn="l">
              <a:buNone/>
              <a:defRPr sz="1400">
                <a:solidFill>
                  <a:srgbClr val="000000"/>
                </a:solidFill>
                <a:latin typeface="Roboto"/>
                <a:ea typeface="Roboto"/>
                <a:cs typeface="Roboto"/>
              </a:defRPr>
            </a:lvl1pPr>
            <a:lvl2pPr algn="l">
              <a:buNone/>
              <a:defRPr sz="1400">
                <a:solidFill>
                  <a:srgbClr val="000000"/>
                </a:solidFill>
                <a:latin typeface="Roboto"/>
                <a:ea typeface="Roboto"/>
                <a:cs typeface="Roboto"/>
              </a:defRPr>
            </a:lvl2pPr>
            <a:lvl3pPr algn="l">
              <a:buNone/>
              <a:defRPr sz="1400">
                <a:solidFill>
                  <a:srgbClr val="000000"/>
                </a:solidFill>
                <a:latin typeface="Roboto"/>
                <a:ea typeface="Roboto"/>
                <a:cs typeface="Roboto"/>
              </a:defRPr>
            </a:lvl3pPr>
            <a:lvl4pPr algn="l">
              <a:buNone/>
              <a:defRPr sz="1400">
                <a:solidFill>
                  <a:srgbClr val="000000"/>
                </a:solidFill>
                <a:latin typeface="Roboto"/>
                <a:ea typeface="Roboto"/>
                <a:cs typeface="Roboto"/>
              </a:defRPr>
            </a:lvl4pPr>
            <a:lvl5pPr algn="l">
              <a:buNone/>
              <a:defRPr sz="1400">
                <a:solidFill>
                  <a:srgbClr val="000000"/>
                </a:solidFill>
                <a:latin typeface="Roboto"/>
                <a:ea typeface="Roboto"/>
                <a:cs typeface="Roboto"/>
              </a:defRPr>
            </a:lvl5pPr>
            <a:lvl6pPr algn="l">
              <a:buNone/>
              <a:defRPr sz="1400">
                <a:solidFill>
                  <a:srgbClr val="000000"/>
                </a:solidFill>
                <a:latin typeface="Roboto"/>
                <a:ea typeface="Roboto"/>
                <a:cs typeface="Roboto"/>
              </a:defRPr>
            </a:lvl6pPr>
            <a:lvl7pPr algn="l">
              <a:buNone/>
              <a:defRPr sz="1400">
                <a:solidFill>
                  <a:srgbClr val="000000"/>
                </a:solidFill>
                <a:latin typeface="Roboto"/>
                <a:ea typeface="Roboto"/>
                <a:cs typeface="Roboto"/>
              </a:defRPr>
            </a:lvl7pPr>
            <a:lvl8pPr algn="l">
              <a:buNone/>
              <a:defRPr sz="1400">
                <a:solidFill>
                  <a:srgbClr val="000000"/>
                </a:solidFill>
                <a:latin typeface="Roboto"/>
                <a:ea typeface="Roboto"/>
                <a:cs typeface="Roboto"/>
              </a:defRPr>
            </a:lvl8pPr>
            <a:lvl9pPr algn="l">
              <a:buNone/>
              <a:defRPr sz="1400">
                <a:solidFill>
                  <a:srgbClr val="000000"/>
                </a:solidFill>
                <a:latin typeface="Roboto"/>
                <a:ea typeface="Roboto"/>
                <a:cs typeface="Roboto"/>
              </a:defRPr>
            </a:lvl9pPr>
          </a:lstStyle>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Global: $31.4B TAM is a founder-supplied hypothesis. Confirm its category, source and year.</a:t>
            </a:r>
          </a:p>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285M visually impaired people is a historical 2010 estimate, not current headset demand.</a:t>
            </a:r>
          </a:p>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WHO now reports at least 2.2B people with near or distance vision impairment, a broader definition.</a:t>
            </a:r>
          </a:p>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MENA: 40M is the supplied regional population assumption. Product eligibility and purchasing access narrow SAM.</a:t>
            </a: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7</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55026"/>
            <a:ext cx="7835900" cy="102927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900" b="1">
                <a:solidFill>
                  <a:srgbClr val="3357B8"/>
                </a:solidFill>
                <a:latin typeface="Lora SemiBold"/>
                <a:ea typeface="Lora SemiBold"/>
                <a:cs typeface="Lora SemiBold"/>
              </a:defRPr>
            </a:defPPr>
            <a:lvl1pPr algn="l">
              <a:buNone/>
              <a:defRPr sz="2900" b="1">
                <a:solidFill>
                  <a:srgbClr val="3357B8"/>
                </a:solidFill>
                <a:latin typeface="Lora SemiBold"/>
                <a:ea typeface="Lora SemiBold"/>
                <a:cs typeface="Lora SemiBold"/>
              </a:defRPr>
            </a:lvl1pPr>
            <a:lvl2pPr algn="l">
              <a:buNone/>
              <a:defRPr sz="2900" b="1">
                <a:solidFill>
                  <a:srgbClr val="3357B8"/>
                </a:solidFill>
                <a:latin typeface="Lora SemiBold"/>
                <a:ea typeface="Lora SemiBold"/>
                <a:cs typeface="Lora SemiBold"/>
              </a:defRPr>
            </a:lvl2pPr>
            <a:lvl3pPr algn="l">
              <a:buNone/>
              <a:defRPr sz="2900" b="1">
                <a:solidFill>
                  <a:srgbClr val="3357B8"/>
                </a:solidFill>
                <a:latin typeface="Lora SemiBold"/>
                <a:ea typeface="Lora SemiBold"/>
                <a:cs typeface="Lora SemiBold"/>
              </a:defRPr>
            </a:lvl3pPr>
            <a:lvl4pPr algn="l">
              <a:buNone/>
              <a:defRPr sz="2900" b="1">
                <a:solidFill>
                  <a:srgbClr val="3357B8"/>
                </a:solidFill>
                <a:latin typeface="Lora SemiBold"/>
                <a:ea typeface="Lora SemiBold"/>
                <a:cs typeface="Lora SemiBold"/>
              </a:defRPr>
            </a:lvl4pPr>
            <a:lvl5pPr algn="l">
              <a:buNone/>
              <a:defRPr sz="2900" b="1">
                <a:solidFill>
                  <a:srgbClr val="3357B8"/>
                </a:solidFill>
                <a:latin typeface="Lora SemiBold"/>
                <a:ea typeface="Lora SemiBold"/>
                <a:cs typeface="Lora SemiBold"/>
              </a:defRPr>
            </a:lvl5pPr>
            <a:lvl6pPr algn="l">
              <a:buNone/>
              <a:defRPr sz="2900" b="1">
                <a:solidFill>
                  <a:srgbClr val="3357B8"/>
                </a:solidFill>
                <a:latin typeface="Lora SemiBold"/>
                <a:ea typeface="Lora SemiBold"/>
                <a:cs typeface="Lora SemiBold"/>
              </a:defRPr>
            </a:lvl6pPr>
            <a:lvl7pPr algn="l">
              <a:buNone/>
              <a:defRPr sz="2900" b="1">
                <a:solidFill>
                  <a:srgbClr val="3357B8"/>
                </a:solidFill>
                <a:latin typeface="Lora SemiBold"/>
                <a:ea typeface="Lora SemiBold"/>
                <a:cs typeface="Lora SemiBold"/>
              </a:defRPr>
            </a:lvl7pPr>
            <a:lvl8pPr algn="l">
              <a:buNone/>
              <a:defRPr sz="2900" b="1">
                <a:solidFill>
                  <a:srgbClr val="3357B8"/>
                </a:solidFill>
                <a:latin typeface="Lora SemiBold"/>
                <a:ea typeface="Lora SemiBold"/>
                <a:cs typeface="Lora SemiBold"/>
              </a:defRPr>
            </a:lvl8pPr>
            <a:lvl9pPr algn="l">
              <a:buNone/>
              <a:defRPr sz="2900" b="1">
                <a:solidFill>
                  <a:srgbClr val="3357B8"/>
                </a:solidFill>
                <a:latin typeface="Lora SemiBold"/>
                <a:ea typeface="Lora SemiBold"/>
                <a:cs typeface="Lora SemiBold"/>
              </a:defRPr>
            </a:lvl9pPr>
          </a:lstStyle>
          <a:p xmlns:a="http://schemas.openxmlformats.org/drawingml/2006/main">
            <a:pPr algn="l">
              <a:buNone/>
              <a:defRPr sz="2900" b="1">
                <a:solidFill>
                  <a:srgbClr val="3357B8"/>
                </a:solidFill>
                <a:latin typeface="Lora SemiBold"/>
                <a:ea typeface="Lora SemiBold"/>
                <a:cs typeface="Lora SemiBold"/>
              </a:defRPr>
            </a:pPr>
            <a:r>
              <a:rPr sz="2900" b="1">
                <a:solidFill>
                  <a:srgbClr val="3357B8"/>
                </a:solidFill>
                <a:latin typeface="Lora SemiBold"/>
                <a:ea typeface="Lora SemiBold"/>
                <a:cs typeface="Lora SemiBold"/>
              </a:rPr>
              <a:t>Market scope and launch assumptions</a:t>
            </a:r>
          </a:p>
        </p:txBody>
      </p:sp>
      <p:sp>
        <p:nvSpPr>
          <p:cNvPr id="2" name="Google Shape;534;p58">
            <a:extLst xmlns:a="http://schemas.openxmlformats.org/drawingml/2006/main">
              <a:ext uri="{FF2B5EF4-FFF2-40B4-BE49-F238E27FC236}">
                <a16:creationId xmlns:a16="http://schemas.microsoft.com/office/drawing/2014/main" id="{A4A94F3C-B1B2-7289-7098-7C66C8A291D6}"/>
              </a:ext>
            </a:extLst>
          </p:cNvPr>
          <p:cNvSpPr>
            <a:spLocks xmlns:a="http://schemas.openxmlformats.org/drawingml/2006/main" noGrp="1"/>
          </p:cNvSpPr>
          <p:nvPr/>
        </p:nvSpPr>
        <p:spPr>
          <a:xfrm xmlns:a="http://schemas.openxmlformats.org/drawingml/2006/main">
            <a:off x="6265111" y="2192694"/>
            <a:ext cx="5537200" cy="380170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400">
                <a:solidFill>
                  <a:srgbClr val="000000"/>
                </a:solidFill>
                <a:latin typeface="Roboto"/>
                <a:ea typeface="Roboto"/>
                <a:cs typeface="Roboto"/>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Egypt: 1.5M is the supplied population assumption. It is not the obtainable market.</a:t>
            </a:r>
          </a:p>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Illustrative three-year SOM: 3,000 cumulative devices, or 0.2% of that population.</a:t>
            </a:r>
          </a:p>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Build demand estimates from funded partner cohorts, training capacity and demonstrated retention.</a:t>
            </a:r>
          </a:p>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Expand across MENA after repeat Egyptian orders and reliable local repair operations.</a:t>
            </a:r>
          </a:p>
        </p:txBody>
      </p:sp>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3700" y="1310936"/>
            <a:ext cx="5537200" cy="719318"/>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000">
                <a:solidFill>
                  <a:srgbClr val="000000"/>
                </a:solidFill>
                <a:latin typeface="Lora"/>
                <a:ea typeface="Lora"/>
                <a:cs typeface="Lora"/>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2000">
                <a:solidFill>
                  <a:srgbClr val="000000"/>
                </a:solidFill>
                <a:latin typeface="Lora"/>
                <a:ea typeface="Lora"/>
                <a:cs typeface="Lora"/>
              </a:defRPr>
            </a:pPr>
            <a:r>
              <a:rPr sz="2000">
                <a:solidFill>
                  <a:srgbClr val="000000"/>
                </a:solidFill>
                <a:latin typeface="Lora"/>
                <a:ea typeface="Lora"/>
                <a:cs typeface="Lora"/>
              </a:rPr>
              <a:t>Egypt is the validation launchpad</a:t>
            </a:r>
          </a:p>
        </p:txBody>
      </p:sp>
    </p:spTree>
    <p:extLst>
      <p:ext uri="{BB962C8B-B14F-4D97-AF65-F5344CB8AC3E}">
        <p14:creationId xmlns:p14="http://schemas.microsoft.com/office/powerpoint/2010/main" val="54622172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F5D028D-B73B-5BFF-0AA5-65F94FB570F9}"/>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8</a:t>
            </a:fld>
            <a:endParaRPr/>
          </a:p>
        </p:txBody>
      </p:sp>
      <p:sp>
        <p:nvSpPr>
          <p:cNvPr id="533" name="Google Shape;533;p58">
            <a:extLst xmlns:a="http://schemas.openxmlformats.org/drawingml/2006/main">
              <a:ext uri="{FF2B5EF4-FFF2-40B4-BE49-F238E27FC236}">
                <a16:creationId xmlns:a16="http://schemas.microsoft.com/office/drawing/2014/main" id="{D035ED81-B82C-6CFE-FAA7-0911E05CDEB2}"/>
              </a:ext>
            </a:extLst>
          </p:cNvPr>
          <p:cNvSpPr>
            <a:spLocks xmlns:a="http://schemas.openxmlformats.org/drawingml/2006/main" noGrp="1"/>
          </p:cNvSpPr>
          <p:nvPr>
            <p:ph type="title" idx="0"/>
          </p:nvPr>
        </p:nvSpPr>
        <p:spPr>
          <a:xfrm xmlns:a="http://schemas.openxmlformats.org/drawingml/2006/main">
            <a:off x="393700" y="1170935"/>
            <a:ext cx="11404600" cy="1797958"/>
          </a:xfrm>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defPPr algn="ctr">
              <a:defRPr sz="4200" b="1">
                <a:solidFill>
                  <a:srgbClr val="3357B8"/>
                </a:solidFill>
                <a:latin typeface="Lora SemiBold"/>
                <a:ea typeface="Lora SemiBold"/>
                <a:cs typeface="Lora SemiBold"/>
              </a:defRPr>
            </a:defPPr>
            <a:lvl1pPr algn="ctr">
              <a:buNone/>
              <a:defRPr sz="4200" b="1">
                <a:solidFill>
                  <a:srgbClr val="3357B8"/>
                </a:solidFill>
                <a:latin typeface="Lora SemiBold"/>
                <a:ea typeface="Lora SemiBold"/>
                <a:cs typeface="Lora SemiBold"/>
              </a:defRPr>
            </a:lvl1pPr>
            <a:lvl2pPr algn="ctr">
              <a:buNone/>
              <a:defRPr sz="4200" b="1">
                <a:solidFill>
                  <a:srgbClr val="3357B8"/>
                </a:solidFill>
                <a:latin typeface="Lora SemiBold"/>
                <a:ea typeface="Lora SemiBold"/>
                <a:cs typeface="Lora SemiBold"/>
              </a:defRPr>
            </a:lvl2pPr>
            <a:lvl3pPr algn="ctr">
              <a:buNone/>
              <a:defRPr sz="4200" b="1">
                <a:solidFill>
                  <a:srgbClr val="3357B8"/>
                </a:solidFill>
                <a:latin typeface="Lora SemiBold"/>
                <a:ea typeface="Lora SemiBold"/>
                <a:cs typeface="Lora SemiBold"/>
              </a:defRPr>
            </a:lvl3pPr>
            <a:lvl4pPr algn="ctr">
              <a:buNone/>
              <a:defRPr sz="4200" b="1">
                <a:solidFill>
                  <a:srgbClr val="3357B8"/>
                </a:solidFill>
                <a:latin typeface="Lora SemiBold"/>
                <a:ea typeface="Lora SemiBold"/>
                <a:cs typeface="Lora SemiBold"/>
              </a:defRPr>
            </a:lvl4pPr>
            <a:lvl5pPr algn="ctr">
              <a:buNone/>
              <a:defRPr sz="4200" b="1">
                <a:solidFill>
                  <a:srgbClr val="3357B8"/>
                </a:solidFill>
                <a:latin typeface="Lora SemiBold"/>
                <a:ea typeface="Lora SemiBold"/>
                <a:cs typeface="Lora SemiBold"/>
              </a:defRPr>
            </a:lvl5pPr>
            <a:lvl6pPr algn="ctr">
              <a:buNone/>
              <a:defRPr sz="4200" b="1">
                <a:solidFill>
                  <a:srgbClr val="3357B8"/>
                </a:solidFill>
                <a:latin typeface="Lora SemiBold"/>
                <a:ea typeface="Lora SemiBold"/>
                <a:cs typeface="Lora SemiBold"/>
              </a:defRPr>
            </a:lvl6pPr>
            <a:lvl7pPr algn="ctr">
              <a:buNone/>
              <a:defRPr sz="4200" b="1">
                <a:solidFill>
                  <a:srgbClr val="3357B8"/>
                </a:solidFill>
                <a:latin typeface="Lora SemiBold"/>
                <a:ea typeface="Lora SemiBold"/>
                <a:cs typeface="Lora SemiBold"/>
              </a:defRPr>
            </a:lvl7pPr>
            <a:lvl8pPr algn="ctr">
              <a:buNone/>
              <a:defRPr sz="4200" b="1">
                <a:solidFill>
                  <a:srgbClr val="3357B8"/>
                </a:solidFill>
                <a:latin typeface="Lora SemiBold"/>
                <a:ea typeface="Lora SemiBold"/>
                <a:cs typeface="Lora SemiBold"/>
              </a:defRPr>
            </a:lvl8pPr>
            <a:lvl9pPr algn="ctr">
              <a:buNone/>
              <a:defRPr sz="4200" b="1">
                <a:solidFill>
                  <a:srgbClr val="3357B8"/>
                </a:solidFill>
                <a:latin typeface="Lora SemiBold"/>
                <a:ea typeface="Lora SemiBold"/>
                <a:cs typeface="Lora SemiBold"/>
              </a:defRPr>
            </a:lvl9pPr>
          </a:lstStyle>
          <a:p xmlns:a="http://schemas.openxmlformats.org/drawingml/2006/main">
            <a:pPr algn="ctr">
              <a:buNone/>
              <a:defRPr sz="4200" b="1">
                <a:solidFill>
                  <a:srgbClr val="3357B8"/>
                </a:solidFill>
                <a:latin typeface="Lora SemiBold"/>
                <a:ea typeface="Lora SemiBold"/>
                <a:cs typeface="Lora SemiBold"/>
              </a:defRPr>
            </a:pPr>
            <a:r>
              <a:rPr sz="4200" b="1">
                <a:solidFill>
                  <a:srgbClr val="3357B8"/>
                </a:solidFill>
                <a:latin typeface="Lora SemiBold"/>
                <a:ea typeface="Lora SemiBold"/>
                <a:cs typeface="Lora SemiBold"/>
              </a:rPr>
              <a:t>3. Unique value proposition</a:t>
            </a:r>
            <a:endParaRPr sz="4200">
              <a:solidFill>
                <a:schemeClr val="accent1"/>
              </a:solidFill>
            </a:endParaRPr>
          </a:p>
          <a:p xmlns:a="http://schemas.openxmlformats.org/drawingml/2006/main">
            <a:pPr algn="ctr">
              <a:buNone/>
              <a:defRPr sz="4200" b="1">
                <a:solidFill>
                  <a:srgbClr val="3357B8"/>
                </a:solidFill>
                <a:latin typeface="Lora SemiBold"/>
                <a:ea typeface="Lora SemiBold"/>
                <a:cs typeface="Lora SemiBold"/>
              </a:defRPr>
            </a:pPr>
            <a:r>
              <a:rPr sz="4200" b="1">
                <a:solidFill>
                  <a:srgbClr val="3357B8"/>
                </a:solidFill>
                <a:latin typeface="Lora SemiBold"/>
                <a:ea typeface="Lora SemiBold"/>
                <a:cs typeface="Lora SemiBold"/>
              </a:rPr>
              <a:t>Feel the space ahead</a:t>
            </a:r>
            <a:endParaRPr sz="4200">
              <a:solidFill>
                <a:schemeClr val="accent1"/>
              </a:solidFill>
            </a:endParaRPr>
          </a:p>
        </p:txBody>
      </p:sp>
      <p:sp>
        <p:nvSpPr>
          <p:cNvPr id="2" name="Footer Placeholder 1">
            <a:extLst xmlns:a="http://schemas.openxmlformats.org/drawingml/2006/main">
              <a:ext uri="{FF2B5EF4-FFF2-40B4-BE49-F238E27FC236}">
                <a16:creationId xmlns:a16="http://schemas.microsoft.com/office/drawing/2014/main" id="{AEFF86C5-A7D2-315F-C644-70488B8E4BC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3" name="Google Shape;534;p58">
            <a:extLst xmlns:a="http://schemas.openxmlformats.org/drawingml/2006/main">
              <a:ext uri="{FF2B5EF4-FFF2-40B4-BE49-F238E27FC236}">
                <a16:creationId xmlns:a16="http://schemas.microsoft.com/office/drawing/2014/main" id="{6730FFED-E57C-67CB-4BAA-568126831AB5}"/>
              </a:ext>
            </a:extLst>
          </p:cNvPr>
          <p:cNvSpPr>
            <a:spLocks xmlns:a="http://schemas.openxmlformats.org/drawingml/2006/main" noGrp="1"/>
          </p:cNvSpPr>
          <p:nvPr/>
        </p:nvSpPr>
        <p:spPr>
          <a:xfrm xmlns:a="http://schemas.openxmlformats.org/drawingml/2006/main">
            <a:off x="2549677" y="3297710"/>
            <a:ext cx="7092645" cy="186590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ctr">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ctr">
              <a:lnSpc>
                <a:spcPct val="114000"/>
              </a:lnSpc>
              <a:spcBef>
                <a:spcPts val="0"/>
              </a:spcBef>
              <a:spcAft>
                <a:spcPts val="800"/>
              </a:spcAft>
              <a:buFont typeface="Arial"/>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100% ear-free and hands-free device operation.</a:t>
            </a:r>
          </a:p>
          <a:p xmlns:a="http://schemas.openxmlformats.org/drawingml/2006/main">
            <a:pPr marL="0" indent="0" algn="ctr">
              <a:lnSpc>
                <a:spcPct val="114000"/>
              </a:lnSpc>
              <a:spcBef>
                <a:spcPts val="0"/>
              </a:spcBef>
              <a:spcAft>
                <a:spcPts val="800"/>
              </a:spcAft>
              <a:buFont typeface="Arial"/>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A wearable tactile spatial display with local Edge AI.</a:t>
            </a:r>
            <a:endParaRPr sz="1600">
              <a:latin typeface="Helvetica Neue"/>
              <a:ea typeface="Helvetica Neue"/>
              <a:cs typeface="Helvetica Neue"/>
            </a:endParaRPr>
          </a:p>
          <a:p xmlns:a="http://schemas.openxmlformats.org/drawingml/2006/main">
            <a:pPr marL="0" indent="0" algn="ctr">
              <a:lnSpc>
                <a:spcPct val="114000"/>
              </a:lnSpc>
              <a:spcBef>
                <a:spcPts val="0"/>
              </a:spcBef>
              <a:spcAft>
                <a:spcPts val="800"/>
              </a:spcAft>
              <a:buFont typeface="Arial"/>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Target retail below $400 and locally supported repair.</a:t>
            </a:r>
            <a:endParaRPr sz="1600">
              <a:latin typeface="Helvetica Neue"/>
              <a:ea typeface="Helvetica Neue"/>
              <a:cs typeface="Helvetica Neue"/>
            </a:endParaRPr>
          </a:p>
          <a:p xmlns:a="http://schemas.openxmlformats.org/drawingml/2006/main">
            <a:pPr marL="0" indent="0" algn="ctr">
              <a:lnSpc>
                <a:spcPct val="114000"/>
              </a:lnSpc>
              <a:spcBef>
                <a:spcPts val="0"/>
              </a:spcBef>
              <a:spcAft>
                <a:spcPts val="800"/>
              </a:spcAft>
              <a:buFont typeface="Arial"/>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Physical pin displacement replaces vibration buzzers.</a:t>
            </a:r>
            <a:endParaRPr sz="1600">
              <a:latin typeface="Helvetica Neue"/>
              <a:ea typeface="Helvetica Neue"/>
              <a:cs typeface="Helvetica Neue"/>
            </a:endParaRPr>
          </a:p>
          <a:p xmlns:a="http://schemas.openxmlformats.org/drawingml/2006/main">
            <a:pPr marL="0" indent="0" algn="ctr">
              <a:lnSpc>
                <a:spcPct val="114000"/>
              </a:lnSpc>
              <a:spcBef>
                <a:spcPts val="0"/>
              </a:spcBef>
              <a:spcAft>
                <a:spcPts val="800"/>
              </a:spcAft>
              <a:buFont typeface="Arial"/>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Sustained perception and comfort require user validation.</a:t>
            </a:r>
            <a:endParaRPr sz="1600">
              <a:latin typeface="Helvetica Neue"/>
              <a:ea typeface="Helvetica Neue"/>
              <a:cs typeface="Helvetica Neue"/>
            </a:endParaRPr>
          </a:p>
        </p:txBody>
      </p:sp>
    </p:spTree>
    <p:extLst>
      <p:ext uri="{BB962C8B-B14F-4D97-AF65-F5344CB8AC3E}">
        <p14:creationId xmlns:p14="http://schemas.microsoft.com/office/powerpoint/2010/main" val="34661421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CCB27A2-1D9F-6514-0821-C7CC3F675523}"/>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6</a:t>
            </a:fld>
            <a:endParaRPr/>
          </a:p>
        </p:txBody>
      </p:sp>
      <p:sp>
        <p:nvSpPr>
          <p:cNvPr id="10" name="Rounded Rectangle 9">
            <a:extLst xmlns:a="http://schemas.openxmlformats.org/drawingml/2006/main">
              <a:ext uri="{FF2B5EF4-FFF2-40B4-BE49-F238E27FC236}">
                <a16:creationId xmlns:a16="http://schemas.microsoft.com/office/drawing/2014/main" id="{8B4C5563-C118-E2D4-2A1A-F84171FF9E48}"/>
              </a:ext>
            </a:extLst>
          </p:cNvPr>
          <p:cNvSpPr>
            <a:spLocks xmlns:a="http://schemas.openxmlformats.org/drawingml/2006/main" noGrp="1"/>
          </p:cNvSpPr>
          <p:nvPr/>
        </p:nvSpPr>
        <p:spPr>
          <a:xfrm xmlns:a="http://schemas.openxmlformats.org/drawingml/2006/main">
            <a:off x="4308953" y="3365501"/>
            <a:ext cx="3568700" cy="26289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1" name="Rounded Rectangle 10">
            <a:extLst xmlns:a="http://schemas.openxmlformats.org/drawingml/2006/main">
              <a:ext uri="{FF2B5EF4-FFF2-40B4-BE49-F238E27FC236}">
                <a16:creationId xmlns:a16="http://schemas.microsoft.com/office/drawing/2014/main" id="{87EC77EB-07E7-2818-9132-6416EC5EFF5D}"/>
              </a:ext>
            </a:extLst>
          </p:cNvPr>
          <p:cNvSpPr>
            <a:spLocks xmlns:a="http://schemas.openxmlformats.org/drawingml/2006/main" noGrp="1"/>
          </p:cNvSpPr>
          <p:nvPr/>
        </p:nvSpPr>
        <p:spPr>
          <a:xfrm xmlns:a="http://schemas.openxmlformats.org/drawingml/2006/main">
            <a:off x="8229600" y="3365501"/>
            <a:ext cx="3568700" cy="26289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2" name="Content Placeholder 9">
            <a:extLst xmlns:a="http://schemas.openxmlformats.org/drawingml/2006/main">
              <a:ext uri="{FF2B5EF4-FFF2-40B4-BE49-F238E27FC236}">
                <a16:creationId xmlns:a16="http://schemas.microsoft.com/office/drawing/2014/main" id="{14F9DBD7-0427-326B-17D5-5DD215C447E9}"/>
              </a:ext>
            </a:extLst>
          </p:cNvPr>
          <p:cNvSpPr>
            <a:spLocks xmlns:a="http://schemas.openxmlformats.org/drawingml/2006/main" noGrp="1"/>
          </p:cNvSpPr>
          <p:nvPr/>
        </p:nvSpPr>
        <p:spPr>
          <a:xfrm xmlns:a="http://schemas.openxmlformats.org/drawingml/2006/main">
            <a:off x="4621821"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defPPr algn="l">
              <a:defRPr sz="1600">
                <a:solidFill>
                  <a:srgbClr val="3357B8"/>
                </a:solidFill>
                <a:latin typeface="Roboto Medium"/>
                <a:ea typeface="Roboto Medium"/>
                <a:cs typeface="Roboto Medium"/>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Aft>
                <a:spcPts val="800"/>
              </a:spcAft>
              <a:buNone/>
              <a:defRPr sz="1600">
                <a:solidFill>
                  <a:srgbClr val="3357B8"/>
                </a:solidFill>
                <a:latin typeface="Roboto Medium"/>
                <a:ea typeface="Roboto Medium"/>
                <a:cs typeface="Roboto Medium"/>
              </a:defRPr>
            </a:pPr>
            <a:r>
              <a:rPr>
                <a:solidFill>
                  <a:srgbClr val="3357B8"/>
                </a:solidFill>
                <a:latin typeface="Roboto Medium"/>
                <a:ea typeface="Roboto Medium"/>
                <a:cs typeface="Roboto Medium"/>
              </a:rPr>
              <a:t>Think</a:t>
            </a:r>
          </a:p>
          <a:p xmlns:a="http://schemas.openxmlformats.org/drawingml/2006/main">
            <a:pPr marL="0" indent="0" algn="l">
              <a:buNone/>
              <a:defRPr sz="1600">
                <a:solidFill>
                  <a:srgbClr val="3357B8"/>
                </a:solidFill>
                <a:latin typeface="Roboto Medium"/>
                <a:ea typeface="Roboto Medium"/>
                <a:cs typeface="Roboto Medium"/>
              </a:defRPr>
            </a:pPr>
            <a:r>
              <a:rPr b="0">
                <a:solidFill>
                  <a:srgbClr val="000000"/>
                </a:solidFill>
                <a:latin typeface="Roboto"/>
                <a:ea typeface="Roboto"/>
                <a:cs typeface="Roboto"/>
              </a:rPr>
              <a:t>YOLOv8 recognizes objects. RANSAC ground-plane estimation supports corridor detection.</a:t>
            </a:r>
          </a:p>
        </p:txBody>
      </p:sp>
      <p:sp>
        <p:nvSpPr>
          <p:cNvPr id="13" name="Content Placeholder 10">
            <a:extLst xmlns:a="http://schemas.openxmlformats.org/drawingml/2006/main">
              <a:ext uri="{FF2B5EF4-FFF2-40B4-BE49-F238E27FC236}">
                <a16:creationId xmlns:a16="http://schemas.microsoft.com/office/drawing/2014/main" id="{A81FFF27-06E1-B925-B772-E8C07A029EE7}"/>
              </a:ext>
            </a:extLst>
          </p:cNvPr>
          <p:cNvSpPr>
            <a:spLocks xmlns:a="http://schemas.openxmlformats.org/drawingml/2006/main" noGrp="1"/>
          </p:cNvSpPr>
          <p:nvPr/>
        </p:nvSpPr>
        <p:spPr>
          <a:xfrm xmlns:a="http://schemas.openxmlformats.org/drawingml/2006/main">
            <a:off x="853609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defPPr algn="l">
              <a:defRPr sz="1600">
                <a:solidFill>
                  <a:srgbClr val="3357B8"/>
                </a:solidFill>
                <a:latin typeface="Roboto Medium"/>
                <a:ea typeface="Roboto Medium"/>
                <a:cs typeface="Roboto Medium"/>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Aft>
                <a:spcPts val="800"/>
              </a:spcAft>
              <a:buNone/>
              <a:defRPr sz="1600">
                <a:solidFill>
                  <a:srgbClr val="3357B8"/>
                </a:solidFill>
                <a:latin typeface="Roboto Medium"/>
                <a:ea typeface="Roboto Medium"/>
                <a:cs typeface="Roboto Medium"/>
              </a:defRPr>
            </a:pPr>
            <a:r>
              <a:rPr>
                <a:solidFill>
                  <a:srgbClr val="3357B8"/>
                </a:solidFill>
                <a:latin typeface="Roboto Medium"/>
                <a:ea typeface="Roboto Medium"/>
                <a:cs typeface="Roboto Medium"/>
              </a:rPr>
              <a:t>Actuate</a:t>
            </a:r>
          </a:p>
          <a:p xmlns:a="http://schemas.openxmlformats.org/drawingml/2006/main">
            <a:pPr marL="0" indent="0" algn="l">
              <a:buNone/>
              <a:defRPr sz="1600">
                <a:solidFill>
                  <a:srgbClr val="3357B8"/>
                </a:solidFill>
                <a:latin typeface="Roboto Medium"/>
                <a:ea typeface="Roboto Medium"/>
                <a:cs typeface="Roboto Medium"/>
              </a:defRPr>
            </a:pPr>
            <a:r>
              <a:rPr b="0">
                <a:solidFill>
                  <a:srgbClr val="000000"/>
                </a:solidFill>
                <a:latin typeface="Roboto"/>
                <a:ea typeface="Roboto"/>
                <a:cs typeface="Roboto"/>
              </a:rPr>
              <a:t>A 5×5 forehead pin matrix encodes spatial cues through 0–5 mm height displacement.</a:t>
            </a:r>
          </a:p>
        </p:txBody>
      </p:sp>
      <p:sp>
        <p:nvSpPr>
          <p:cNvPr id="14" name="Google Shape;340;p61">
            <a:extLst xmlns:a="http://schemas.openxmlformats.org/drawingml/2006/main">
              <a:ext uri="{FF2B5EF4-FFF2-40B4-BE49-F238E27FC236}">
                <a16:creationId xmlns:a16="http://schemas.microsoft.com/office/drawing/2014/main" id="{D182FC54-B4D0-2FD9-7909-F4321F70186F}"/>
              </a:ext>
            </a:extLst>
          </p:cNvPr>
          <p:cNvSpPr>
            <a:spLocks xmlns:a="http://schemas.openxmlformats.org/drawingml/2006/main" noGrp="1"/>
          </p:cNvSpPr>
          <p:nvPr/>
        </p:nvSpPr>
        <p:spPr>
          <a:xfrm xmlns:a="http://schemas.openxmlformats.org/drawingml/2006/main">
            <a:off x="46276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5" name="Google Shape;340;p61">
            <a:extLst xmlns:a="http://schemas.openxmlformats.org/drawingml/2006/main">
              <a:ext uri="{FF2B5EF4-FFF2-40B4-BE49-F238E27FC236}">
                <a16:creationId xmlns:a16="http://schemas.microsoft.com/office/drawing/2014/main" id="{12304657-C94E-6AEC-95B3-FF04FD52D51C}"/>
              </a:ext>
            </a:extLst>
          </p:cNvPr>
          <p:cNvSpPr>
            <a:spLocks xmlns:a="http://schemas.openxmlformats.org/drawingml/2006/main" noGrp="1"/>
          </p:cNvSpPr>
          <p:nvPr/>
        </p:nvSpPr>
        <p:spPr>
          <a:xfrm xmlns:a="http://schemas.openxmlformats.org/drawingml/2006/main">
            <a:off x="8533270" y="3694102"/>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 name="Footer Placeholder 1">
            <a:extLst xmlns:a="http://schemas.openxmlformats.org/drawingml/2006/main">
              <a:ext uri="{FF2B5EF4-FFF2-40B4-BE49-F238E27FC236}">
                <a16:creationId xmlns:a16="http://schemas.microsoft.com/office/drawing/2014/main" id="{7FAC9A03-119F-393D-2295-2587BE7C4F73}"/>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4" name="Title 3">
            <a:extLst xmlns:a="http://schemas.openxmlformats.org/drawingml/2006/main">
              <a:ext uri="{FF2B5EF4-FFF2-40B4-BE49-F238E27FC236}">
                <a16:creationId xmlns:a16="http://schemas.microsoft.com/office/drawing/2014/main" id="{2F7C895E-DE9C-ED5D-5936-715D047B60E4}"/>
              </a:ext>
            </a:extLst>
          </p:cNvPr>
          <p:cNvSpPr>
            <a:spLocks xmlns:a="http://schemas.openxmlformats.org/drawingml/2006/main" noGrp="1"/>
          </p:cNvSpPr>
          <p:nvPr>
            <p:ph type="title" idx="0"/>
          </p:nvPr>
        </p:nvSpPr>
        <p:spPr>
          <a:xfrm xmlns:a="http://schemas.openxmlformats.org/drawingml/2006/main">
            <a:off x="393700" y="344008"/>
            <a:ext cx="11404600" cy="755665"/>
          </a:xfrm>
        </p:spPr>
        <p:txBody>
          <a:bodyPr xmlns:a="http://schemas.openxmlformats.org/drawingml/2006/main">
            <a:noAutofit/>
          </a:bodyPr>
          <a:lstStyle xmlns:a="http://schemas.openxmlformats.org/drawingml/2006/main">
            <a:defPPr algn="l">
              <a:defRPr sz="2900" b="1">
                <a:solidFill>
                  <a:srgbClr val="3357B8"/>
                </a:solidFill>
                <a:latin typeface="Lora SemiBold"/>
                <a:ea typeface="Lora SemiBold"/>
                <a:cs typeface="Lora SemiBold"/>
              </a:defRPr>
            </a:defPPr>
            <a:lvl1pPr algn="l">
              <a:buNone/>
              <a:defRPr sz="2900" b="1">
                <a:solidFill>
                  <a:srgbClr val="3357B8"/>
                </a:solidFill>
                <a:latin typeface="Lora SemiBold"/>
                <a:ea typeface="Lora SemiBold"/>
                <a:cs typeface="Lora SemiBold"/>
              </a:defRPr>
            </a:lvl1pPr>
            <a:lvl2pPr algn="l">
              <a:buNone/>
              <a:defRPr sz="2900" b="1">
                <a:solidFill>
                  <a:srgbClr val="3357B8"/>
                </a:solidFill>
                <a:latin typeface="Lora SemiBold"/>
                <a:ea typeface="Lora SemiBold"/>
                <a:cs typeface="Lora SemiBold"/>
              </a:defRPr>
            </a:lvl2pPr>
            <a:lvl3pPr algn="l">
              <a:buNone/>
              <a:defRPr sz="2900" b="1">
                <a:solidFill>
                  <a:srgbClr val="3357B8"/>
                </a:solidFill>
                <a:latin typeface="Lora SemiBold"/>
                <a:ea typeface="Lora SemiBold"/>
                <a:cs typeface="Lora SemiBold"/>
              </a:defRPr>
            </a:lvl3pPr>
            <a:lvl4pPr algn="l">
              <a:buNone/>
              <a:defRPr sz="2900" b="1">
                <a:solidFill>
                  <a:srgbClr val="3357B8"/>
                </a:solidFill>
                <a:latin typeface="Lora SemiBold"/>
                <a:ea typeface="Lora SemiBold"/>
                <a:cs typeface="Lora SemiBold"/>
              </a:defRPr>
            </a:lvl4pPr>
            <a:lvl5pPr algn="l">
              <a:buNone/>
              <a:defRPr sz="2900" b="1">
                <a:solidFill>
                  <a:srgbClr val="3357B8"/>
                </a:solidFill>
                <a:latin typeface="Lora SemiBold"/>
                <a:ea typeface="Lora SemiBold"/>
                <a:cs typeface="Lora SemiBold"/>
              </a:defRPr>
            </a:lvl5pPr>
            <a:lvl6pPr algn="l">
              <a:buNone/>
              <a:defRPr sz="2900" b="1">
                <a:solidFill>
                  <a:srgbClr val="3357B8"/>
                </a:solidFill>
                <a:latin typeface="Lora SemiBold"/>
                <a:ea typeface="Lora SemiBold"/>
                <a:cs typeface="Lora SemiBold"/>
              </a:defRPr>
            </a:lvl6pPr>
            <a:lvl7pPr algn="l">
              <a:buNone/>
              <a:defRPr sz="2900" b="1">
                <a:solidFill>
                  <a:srgbClr val="3357B8"/>
                </a:solidFill>
                <a:latin typeface="Lora SemiBold"/>
                <a:ea typeface="Lora SemiBold"/>
                <a:cs typeface="Lora SemiBold"/>
              </a:defRPr>
            </a:lvl7pPr>
            <a:lvl8pPr algn="l">
              <a:buNone/>
              <a:defRPr sz="2900" b="1">
                <a:solidFill>
                  <a:srgbClr val="3357B8"/>
                </a:solidFill>
                <a:latin typeface="Lora SemiBold"/>
                <a:ea typeface="Lora SemiBold"/>
                <a:cs typeface="Lora SemiBold"/>
              </a:defRPr>
            </a:lvl8pPr>
            <a:lvl9pPr algn="l">
              <a:buNone/>
              <a:defRPr sz="2900" b="1">
                <a:solidFill>
                  <a:srgbClr val="3357B8"/>
                </a:solidFill>
                <a:latin typeface="Lora SemiBold"/>
                <a:ea typeface="Lora SemiBold"/>
                <a:cs typeface="Lora SemiBold"/>
              </a:defRPr>
            </a:lvl9pPr>
          </a:lstStyle>
          <a:p xmlns:a="http://schemas.openxmlformats.org/drawingml/2006/main">
            <a:pPr algn="l">
              <a:buNone/>
              <a:defRPr sz="2900" b="1">
                <a:solidFill>
                  <a:srgbClr val="3357B8"/>
                </a:solidFill>
                <a:latin typeface="Lora SemiBold"/>
                <a:ea typeface="Lora SemiBold"/>
                <a:cs typeface="Lora SemiBold"/>
              </a:defRPr>
            </a:pPr>
            <a:r>
              <a:rPr sz="2900" b="1">
                <a:solidFill>
                  <a:srgbClr val="3357B8"/>
                </a:solidFill>
                <a:latin typeface="Lora SemiBold"/>
                <a:ea typeface="Lora SemiBold"/>
                <a:cs typeface="Lora SemiBold"/>
              </a:rPr>
              <a:t>4. Solution: sense, think and actuate</a:t>
            </a:r>
          </a:p>
        </p:txBody>
      </p:sp>
      <p:sp>
        <p:nvSpPr>
          <p:cNvPr id="5" name="Rounded Rectangle 4">
            <a:extLst xmlns:a="http://schemas.openxmlformats.org/drawingml/2006/main">
              <a:ext uri="{FF2B5EF4-FFF2-40B4-BE49-F238E27FC236}">
                <a16:creationId xmlns:a16="http://schemas.microsoft.com/office/drawing/2014/main" id="{E49F3E50-E7DD-037F-1687-7A3A08473928}"/>
              </a:ext>
            </a:extLst>
          </p:cNvPr>
          <p:cNvSpPr>
            <a:spLocks xmlns:a="http://schemas.openxmlformats.org/drawingml/2006/main" noGrp="1"/>
          </p:cNvSpPr>
          <p:nvPr/>
        </p:nvSpPr>
        <p:spPr>
          <a:xfrm xmlns:a="http://schemas.openxmlformats.org/drawingml/2006/main">
            <a:off x="422753" y="3365501"/>
            <a:ext cx="3568700" cy="26289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6" name="Content Placeholder 9">
            <a:extLst xmlns:a="http://schemas.openxmlformats.org/drawingml/2006/main">
              <a:ext uri="{FF2B5EF4-FFF2-40B4-BE49-F238E27FC236}">
                <a16:creationId xmlns:a16="http://schemas.microsoft.com/office/drawing/2014/main" id="{895137EF-1168-9543-8134-200AA74D8FBB}"/>
              </a:ext>
            </a:extLst>
          </p:cNvPr>
          <p:cNvSpPr>
            <a:spLocks xmlns:a="http://schemas.openxmlformats.org/drawingml/2006/main" noGrp="1"/>
          </p:cNvSpPr>
          <p:nvPr/>
        </p:nvSpPr>
        <p:spPr>
          <a:xfrm xmlns:a="http://schemas.openxmlformats.org/drawingml/2006/main">
            <a:off x="735621"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defPPr algn="l">
              <a:defRPr sz="1600">
                <a:solidFill>
                  <a:srgbClr val="3357B8"/>
                </a:solidFill>
                <a:latin typeface="Roboto Medium"/>
                <a:ea typeface="Roboto Medium"/>
                <a:cs typeface="Roboto Medium"/>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Aft>
                <a:spcPts val="800"/>
              </a:spcAft>
              <a:buNone/>
              <a:defRPr sz="1600">
                <a:solidFill>
                  <a:srgbClr val="3357B8"/>
                </a:solidFill>
                <a:latin typeface="Roboto Medium"/>
                <a:ea typeface="Roboto Medium"/>
                <a:cs typeface="Roboto Medium"/>
              </a:defRPr>
            </a:pPr>
            <a:r>
              <a:rPr>
                <a:solidFill>
                  <a:srgbClr val="3357B8"/>
                </a:solidFill>
                <a:latin typeface="Roboto Medium"/>
                <a:ea typeface="Roboto Medium"/>
                <a:cs typeface="Roboto Medium"/>
              </a:rPr>
              <a:t>Sense</a:t>
            </a:r>
          </a:p>
          <a:p xmlns:a="http://schemas.openxmlformats.org/drawingml/2006/main">
            <a:pPr marL="0" indent="0" algn="l">
              <a:buNone/>
              <a:defRPr sz="1600">
                <a:solidFill>
                  <a:srgbClr val="3357B8"/>
                </a:solidFill>
                <a:latin typeface="Roboto Medium"/>
                <a:ea typeface="Roboto Medium"/>
                <a:cs typeface="Roboto Medium"/>
              </a:defRPr>
            </a:pPr>
            <a:r>
              <a:rPr b="0">
                <a:solidFill>
                  <a:srgbClr val="000000"/>
                </a:solidFill>
                <a:latin typeface="Roboto"/>
                <a:ea typeface="Roboto"/>
                <a:cs typeface="Roboto"/>
              </a:rPr>
              <a:t>An RGB-D camera captures color and depth for nearby obstacles and walking space.</a:t>
            </a:r>
          </a:p>
        </p:txBody>
      </p:sp>
      <p:sp>
        <p:nvSpPr>
          <p:cNvPr id="7" name="Google Shape;340;p61">
            <a:extLst xmlns:a="http://schemas.openxmlformats.org/drawingml/2006/main">
              <a:ext uri="{FF2B5EF4-FFF2-40B4-BE49-F238E27FC236}">
                <a16:creationId xmlns:a16="http://schemas.microsoft.com/office/drawing/2014/main" id="{A926CAA1-5F44-3769-A410-E058BAEE3B13}"/>
              </a:ext>
            </a:extLst>
          </p:cNvPr>
          <p:cNvSpPr>
            <a:spLocks xmlns:a="http://schemas.openxmlformats.org/drawingml/2006/main" noGrp="1"/>
          </p:cNvSpPr>
          <p:nvPr/>
        </p:nvSpPr>
        <p:spPr>
          <a:xfrm xmlns:a="http://schemas.openxmlformats.org/drawingml/2006/main">
            <a:off x="7414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7" name="Google Shape;534;p58">
            <a:extLst xmlns:a="http://schemas.openxmlformats.org/drawingml/2006/main">
              <a:ext uri="{FF2B5EF4-FFF2-40B4-BE49-F238E27FC236}">
                <a16:creationId xmlns:a16="http://schemas.microsoft.com/office/drawing/2014/main" id="{208EF3D1-5C57-8D4F-49C8-21BD74420786}"/>
              </a:ext>
            </a:extLst>
          </p:cNvPr>
          <p:cNvSpPr>
            <a:spLocks xmlns:a="http://schemas.openxmlformats.org/drawingml/2006/main" noGrp="1"/>
          </p:cNvSpPr>
          <p:nvPr/>
        </p:nvSpPr>
        <p:spPr>
          <a:xfrm xmlns:a="http://schemas.openxmlformats.org/drawingml/2006/main">
            <a:off x="393700" y="1820543"/>
            <a:ext cx="11404600" cy="132661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Target end-to-end latency below 100 ms, measured from sensor capture to achieved pin position. Begin with a small tactile vocabulary and validate it in controlled indoor and outdoor scenarios.</a:t>
            </a:r>
          </a:p>
          <a:p xmlns:a="http://schemas.openxmlformats.org/drawingml/2006/main">
            <a:pPr marL="0" indent="0" algn="l">
              <a:lnSpc>
                <a:spcPct val="114000"/>
              </a:lnSpc>
              <a:spcBef>
                <a:spcPts val="0"/>
              </a:spcBef>
              <a:spcAft>
                <a:spcPts val="800"/>
              </a:spcAft>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Safe contact force, thermal comfort and actuator durability are core engineering requirements.</a:t>
            </a:r>
          </a:p>
        </p:txBody>
      </p:sp>
      <p:sp>
        <p:nvSpPr>
          <p:cNvPr id="18" name="Google Shape;534;p58">
            <a:extLst xmlns:a="http://schemas.openxmlformats.org/drawingml/2006/main">
              <a:ext uri="{FF2B5EF4-FFF2-40B4-BE49-F238E27FC236}">
                <a16:creationId xmlns:a16="http://schemas.microsoft.com/office/drawing/2014/main" id="{93CCF932-231F-7EA0-6520-FFB192B4EFA5}"/>
              </a:ext>
            </a:extLst>
          </p:cNvPr>
          <p:cNvSpPr>
            <a:spLocks xmlns:a="http://schemas.openxmlformats.org/drawingml/2006/main" noGrp="1"/>
          </p:cNvSpPr>
          <p:nvPr/>
        </p:nvSpPr>
        <p:spPr>
          <a:xfrm xmlns:a="http://schemas.openxmlformats.org/drawingml/2006/main">
            <a:off x="393699" y="1318016"/>
            <a:ext cx="11404599"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000">
                <a:solidFill>
                  <a:srgbClr val="000000"/>
                </a:solidFill>
                <a:latin typeface="Lora"/>
                <a:ea typeface="Lora"/>
                <a:cs typeface="Lora"/>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2000">
                <a:solidFill>
                  <a:srgbClr val="000000"/>
                </a:solidFill>
                <a:latin typeface="Lora"/>
                <a:ea typeface="Lora"/>
                <a:cs typeface="Lora"/>
              </a:defRPr>
            </a:pPr>
            <a:r>
              <a:rPr sz="2000">
                <a:solidFill>
                  <a:srgbClr val="000000"/>
                </a:solidFill>
                <a:latin typeface="Lora"/>
                <a:ea typeface="Lora"/>
                <a:cs typeface="Lora"/>
              </a:rPr>
              <a:t>Local processing translates depth into tactile space</a:t>
            </a:r>
            <a:endParaRPr sz="2000">
              <a:latin typeface="+mj-lt"/>
              <a:ea typeface="+mj-lt"/>
              <a:cs typeface="+mj-lt"/>
            </a:endParaRPr>
          </a:p>
        </p:txBody>
      </p:sp>
    </p:spTree>
    <p:extLst>
      <p:ext uri="{BB962C8B-B14F-4D97-AF65-F5344CB8AC3E}">
        <p14:creationId xmlns:p14="http://schemas.microsoft.com/office/powerpoint/2010/main" val="156618307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6" name="Content Placeholder 15">
            <a:extLst xmlns:a="http://schemas.openxmlformats.org/drawingml/2006/main">
              <a:ext uri="{FF2B5EF4-FFF2-40B4-BE49-F238E27FC236}">
                <a16:creationId xmlns:a16="http://schemas.microsoft.com/office/drawing/2014/main" id="{0BCC789E-87DC-C416-5298-C7F6E26A9533}"/>
              </a:ext>
            </a:extLst>
          </p:cNvPr>
          <p:cNvSpPr>
            <a:spLocks xmlns:a="http://schemas.openxmlformats.org/drawingml/2006/main" noGrp="1"/>
          </p:cNvSpPr>
          <p:nvPr>
            <p:ph idx="1"/>
          </p:nvPr>
        </p:nvSpPr>
        <p:spPr>
          <a:xfrm xmlns:a="http://schemas.openxmlformats.org/drawingml/2006/main">
            <a:off x="393700" y="3822700"/>
            <a:ext cx="2595934" cy="1168400"/>
          </a:xfrm>
        </p:spPr>
        <p:txBody>
          <a:bodyPr xmlns:a="http://schemas.openxmlformats.org/drawingml/2006/main">
            <a:noAutofit/>
          </a:bodyPr>
          <a:lstStyle xmlns:a="http://schemas.openxmlformats.org/drawingml/2006/main">
            <a:defPPr algn="l">
              <a:defRPr sz="1600">
                <a:solidFill>
                  <a:srgbClr val="3357B8"/>
                </a:solidFill>
                <a:latin typeface="Roboto Medium"/>
                <a:ea typeface="Roboto Medium"/>
                <a:cs typeface="Roboto Medium"/>
              </a:defRPr>
            </a:defPPr>
            <a:lvl1pPr algn="l">
              <a:buNone/>
              <a:defRPr sz="1600">
                <a:solidFill>
                  <a:srgbClr val="3357B8"/>
                </a:solidFill>
                <a:latin typeface="Roboto Medium"/>
                <a:ea typeface="Roboto Medium"/>
                <a:cs typeface="Roboto Medium"/>
              </a:defRPr>
            </a:lvl1pPr>
            <a:lvl2pPr algn="l">
              <a:buNone/>
              <a:defRPr sz="1600">
                <a:solidFill>
                  <a:srgbClr val="3357B8"/>
                </a:solidFill>
                <a:latin typeface="Roboto Medium"/>
                <a:ea typeface="Roboto Medium"/>
                <a:cs typeface="Roboto Medium"/>
              </a:defRPr>
            </a:lvl2pPr>
            <a:lvl3pPr algn="l">
              <a:buNone/>
              <a:defRPr sz="1600">
                <a:solidFill>
                  <a:srgbClr val="3357B8"/>
                </a:solidFill>
                <a:latin typeface="Roboto Medium"/>
                <a:ea typeface="Roboto Medium"/>
                <a:cs typeface="Roboto Medium"/>
              </a:defRPr>
            </a:lvl3pPr>
            <a:lvl4pPr algn="l">
              <a:buNone/>
              <a:defRPr sz="1600">
                <a:solidFill>
                  <a:srgbClr val="3357B8"/>
                </a:solidFill>
                <a:latin typeface="Roboto Medium"/>
                <a:ea typeface="Roboto Medium"/>
                <a:cs typeface="Roboto Medium"/>
              </a:defRPr>
            </a:lvl4pPr>
            <a:lvl5pPr algn="l">
              <a:buNone/>
              <a:defRPr sz="1600">
                <a:solidFill>
                  <a:srgbClr val="3357B8"/>
                </a:solidFill>
                <a:latin typeface="Roboto Medium"/>
                <a:ea typeface="Roboto Medium"/>
                <a:cs typeface="Roboto Medium"/>
              </a:defRPr>
            </a:lvl5pPr>
            <a:lvl6pPr algn="l">
              <a:buNone/>
              <a:defRPr sz="1600">
                <a:solidFill>
                  <a:srgbClr val="3357B8"/>
                </a:solidFill>
                <a:latin typeface="Roboto Medium"/>
                <a:ea typeface="Roboto Medium"/>
                <a:cs typeface="Roboto Medium"/>
              </a:defRPr>
            </a:lvl6pPr>
            <a:lvl7pPr algn="l">
              <a:buNone/>
              <a:defRPr sz="1600">
                <a:solidFill>
                  <a:srgbClr val="3357B8"/>
                </a:solidFill>
                <a:latin typeface="Roboto Medium"/>
                <a:ea typeface="Roboto Medium"/>
                <a:cs typeface="Roboto Medium"/>
              </a:defRPr>
            </a:lvl7pPr>
            <a:lvl8pPr algn="l">
              <a:buNone/>
              <a:defRPr sz="1600">
                <a:solidFill>
                  <a:srgbClr val="3357B8"/>
                </a:solidFill>
                <a:latin typeface="Roboto Medium"/>
                <a:ea typeface="Roboto Medium"/>
                <a:cs typeface="Roboto Medium"/>
              </a:defRPr>
            </a:lvl8pPr>
            <a:lvl9pPr algn="l">
              <a:buNone/>
              <a:defRPr sz="1600">
                <a:solidFill>
                  <a:srgbClr val="3357B8"/>
                </a:solidFill>
                <a:latin typeface="Roboto Medium"/>
                <a:ea typeface="Roboto Medium"/>
                <a:cs typeface="Roboto Medium"/>
              </a:defRPr>
            </a:lvl9pPr>
          </a:lstStyle>
          <a:p xmlns:a="http://schemas.openxmlformats.org/drawingml/2006/main">
            <a:pPr marL="0" indent="0" algn="l">
              <a:spcAft>
                <a:spcPts val="800"/>
              </a:spcAft>
              <a:buNone/>
              <a:defRPr sz="1600">
                <a:solidFill>
                  <a:srgbClr val="3357B8"/>
                </a:solidFill>
                <a:latin typeface="Roboto Medium"/>
                <a:ea typeface="Roboto Medium"/>
                <a:cs typeface="Roboto Medium"/>
              </a:defRPr>
            </a:pPr>
            <a:r>
              <a:rPr>
                <a:solidFill>
                  <a:srgbClr val="3357B8"/>
                </a:solidFill>
                <a:latin typeface="Roboto Medium"/>
                <a:ea typeface="Roboto Medium"/>
                <a:cs typeface="Roboto Medium"/>
              </a:rPr>
              <a:t>Trusted partners</a:t>
            </a:r>
          </a:p>
          <a:p xmlns:a="http://schemas.openxmlformats.org/drawingml/2006/main">
            <a:pPr marL="0" indent="0" algn="l">
              <a:buNone/>
              <a:defRPr sz="1600">
                <a:solidFill>
                  <a:srgbClr val="3357B8"/>
                </a:solidFill>
                <a:latin typeface="Roboto Medium"/>
                <a:ea typeface="Roboto Medium"/>
                <a:cs typeface="Roboto Medium"/>
              </a:defRPr>
            </a:pPr>
            <a:r>
              <a:rPr b="0">
                <a:solidFill>
                  <a:srgbClr val="000000"/>
                </a:solidFill>
                <a:latin typeface="Roboto"/>
                <a:ea typeface="Roboto"/>
                <a:cs typeface="Roboto"/>
              </a:rPr>
              <a:t>NGO and CSR cohorts. Direct subsidized referrals. Paid pilots before batch orders.</a:t>
            </a: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12</a:t>
            </a:fld>
            <a:endParaRPr sz="1100"/>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7846838" cy="1034893"/>
          </a:xfrm>
        </p:spPr>
        <p:txBody>
          <a:bodyPr xmlns:a="http://schemas.openxmlformats.org/drawingml/2006/main">
            <a:noAutofit/>
          </a:bodyPr>
          <a:lstStyle xmlns:a="http://schemas.openxmlformats.org/drawingml/2006/main">
            <a:defPPr algn="l">
              <a:defRPr sz="2900" b="1">
                <a:solidFill>
                  <a:srgbClr val="3357B8"/>
                </a:solidFill>
                <a:latin typeface="Lora SemiBold"/>
                <a:ea typeface="Lora SemiBold"/>
                <a:cs typeface="Lora SemiBold"/>
              </a:defRPr>
            </a:defPPr>
            <a:lvl1pPr algn="l">
              <a:buNone/>
              <a:defRPr sz="2900" b="1">
                <a:solidFill>
                  <a:srgbClr val="3357B8"/>
                </a:solidFill>
                <a:latin typeface="Lora SemiBold"/>
                <a:ea typeface="Lora SemiBold"/>
                <a:cs typeface="Lora SemiBold"/>
              </a:defRPr>
            </a:lvl1pPr>
            <a:lvl2pPr algn="l">
              <a:buNone/>
              <a:defRPr sz="2900" b="1">
                <a:solidFill>
                  <a:srgbClr val="3357B8"/>
                </a:solidFill>
                <a:latin typeface="Lora SemiBold"/>
                <a:ea typeface="Lora SemiBold"/>
                <a:cs typeface="Lora SemiBold"/>
              </a:defRPr>
            </a:lvl2pPr>
            <a:lvl3pPr algn="l">
              <a:buNone/>
              <a:defRPr sz="2900" b="1">
                <a:solidFill>
                  <a:srgbClr val="3357B8"/>
                </a:solidFill>
                <a:latin typeface="Lora SemiBold"/>
                <a:ea typeface="Lora SemiBold"/>
                <a:cs typeface="Lora SemiBold"/>
              </a:defRPr>
            </a:lvl3pPr>
            <a:lvl4pPr algn="l">
              <a:buNone/>
              <a:defRPr sz="2900" b="1">
                <a:solidFill>
                  <a:srgbClr val="3357B8"/>
                </a:solidFill>
                <a:latin typeface="Lora SemiBold"/>
                <a:ea typeface="Lora SemiBold"/>
                <a:cs typeface="Lora SemiBold"/>
              </a:defRPr>
            </a:lvl4pPr>
            <a:lvl5pPr algn="l">
              <a:buNone/>
              <a:defRPr sz="2900" b="1">
                <a:solidFill>
                  <a:srgbClr val="3357B8"/>
                </a:solidFill>
                <a:latin typeface="Lora SemiBold"/>
                <a:ea typeface="Lora SemiBold"/>
                <a:cs typeface="Lora SemiBold"/>
              </a:defRPr>
            </a:lvl5pPr>
            <a:lvl6pPr algn="l">
              <a:buNone/>
              <a:defRPr sz="2900" b="1">
                <a:solidFill>
                  <a:srgbClr val="3357B8"/>
                </a:solidFill>
                <a:latin typeface="Lora SemiBold"/>
                <a:ea typeface="Lora SemiBold"/>
                <a:cs typeface="Lora SemiBold"/>
              </a:defRPr>
            </a:lvl6pPr>
            <a:lvl7pPr algn="l">
              <a:buNone/>
              <a:defRPr sz="2900" b="1">
                <a:solidFill>
                  <a:srgbClr val="3357B8"/>
                </a:solidFill>
                <a:latin typeface="Lora SemiBold"/>
                <a:ea typeface="Lora SemiBold"/>
                <a:cs typeface="Lora SemiBold"/>
              </a:defRPr>
            </a:lvl7pPr>
            <a:lvl8pPr algn="l">
              <a:buNone/>
              <a:defRPr sz="2900" b="1">
                <a:solidFill>
                  <a:srgbClr val="3357B8"/>
                </a:solidFill>
                <a:latin typeface="Lora SemiBold"/>
                <a:ea typeface="Lora SemiBold"/>
                <a:cs typeface="Lora SemiBold"/>
              </a:defRPr>
            </a:lvl8pPr>
            <a:lvl9pPr algn="l">
              <a:buNone/>
              <a:defRPr sz="2900" b="1">
                <a:solidFill>
                  <a:srgbClr val="3357B8"/>
                </a:solidFill>
                <a:latin typeface="Lora SemiBold"/>
                <a:ea typeface="Lora SemiBold"/>
                <a:cs typeface="Lora SemiBold"/>
              </a:defRPr>
            </a:lvl9pPr>
          </a:lstStyle>
          <a:p xmlns:a="http://schemas.openxmlformats.org/drawingml/2006/main">
            <a:pPr algn="l">
              <a:buNone/>
              <a:defRPr sz="2900" b="1">
                <a:solidFill>
                  <a:srgbClr val="3357B8"/>
                </a:solidFill>
                <a:latin typeface="Lora SemiBold"/>
                <a:ea typeface="Lora SemiBold"/>
                <a:cs typeface="Lora SemiBold"/>
              </a:defRPr>
            </a:pPr>
            <a:r>
              <a:rPr sz="2900" b="1">
                <a:solidFill>
                  <a:srgbClr val="3357B8"/>
                </a:solidFill>
                <a:latin typeface="Lora SemiBold"/>
                <a:ea typeface="Lora SemiBold"/>
                <a:cs typeface="Lora SemiBold"/>
              </a:rPr>
              <a:t>5. Channels and onboarding</a:t>
            </a:r>
          </a:p>
        </p:txBody>
      </p:sp>
      <p:sp>
        <p:nvSpPr>
          <p:cNvPr id="17" name="Text Placeholder 16">
            <a:extLst xmlns:a="http://schemas.openxmlformats.org/drawingml/2006/main">
              <a:ext uri="{FF2B5EF4-FFF2-40B4-BE49-F238E27FC236}">
                <a16:creationId xmlns:a16="http://schemas.microsoft.com/office/drawing/2014/main" id="{986AEEE5-7F7B-65AD-1D88-9157CF0514D8}"/>
              </a:ext>
            </a:extLst>
          </p:cNvPr>
          <p:cNvSpPr>
            <a:spLocks xmlns:a="http://schemas.openxmlformats.org/drawingml/2006/main" noGrp="1"/>
          </p:cNvSpPr>
          <p:nvPr>
            <p:ph type="body" idx="12"/>
          </p:nvPr>
        </p:nvSpPr>
        <p:spPr>
          <a:xfrm xmlns:a="http://schemas.openxmlformats.org/drawingml/2006/main">
            <a:off x="4317119" y="3822700"/>
            <a:ext cx="2595934" cy="1168400"/>
          </a:xfrm>
        </p:spPr>
        <p:txBody>
          <a:bodyPr xmlns:a="http://schemas.openxmlformats.org/drawingml/2006/main">
            <a:noAutofit/>
          </a:bodyPr>
          <a:lstStyle xmlns:a="http://schemas.openxmlformats.org/drawingml/2006/main">
            <a:defPPr algn="l">
              <a:defRPr sz="1600">
                <a:solidFill>
                  <a:srgbClr val="3357B8"/>
                </a:solidFill>
                <a:latin typeface="Roboto Medium"/>
                <a:ea typeface="Roboto Medium"/>
                <a:cs typeface="Roboto Medium"/>
              </a:defRPr>
            </a:defPPr>
            <a:lvl1pPr algn="l">
              <a:buNone/>
              <a:defRPr sz="1600">
                <a:solidFill>
                  <a:srgbClr val="3357B8"/>
                </a:solidFill>
                <a:latin typeface="Roboto Medium"/>
                <a:ea typeface="Roboto Medium"/>
                <a:cs typeface="Roboto Medium"/>
              </a:defRPr>
            </a:lvl1pPr>
            <a:lvl2pPr algn="l">
              <a:buNone/>
              <a:defRPr sz="1600">
                <a:solidFill>
                  <a:srgbClr val="3357B8"/>
                </a:solidFill>
                <a:latin typeface="Roboto Medium"/>
                <a:ea typeface="Roboto Medium"/>
                <a:cs typeface="Roboto Medium"/>
              </a:defRPr>
            </a:lvl2pPr>
            <a:lvl3pPr algn="l">
              <a:buNone/>
              <a:defRPr sz="1600">
                <a:solidFill>
                  <a:srgbClr val="3357B8"/>
                </a:solidFill>
                <a:latin typeface="Roboto Medium"/>
                <a:ea typeface="Roboto Medium"/>
                <a:cs typeface="Roboto Medium"/>
              </a:defRPr>
            </a:lvl3pPr>
            <a:lvl4pPr algn="l">
              <a:buNone/>
              <a:defRPr sz="1600">
                <a:solidFill>
                  <a:srgbClr val="3357B8"/>
                </a:solidFill>
                <a:latin typeface="Roboto Medium"/>
                <a:ea typeface="Roboto Medium"/>
                <a:cs typeface="Roboto Medium"/>
              </a:defRPr>
            </a:lvl4pPr>
            <a:lvl5pPr algn="l">
              <a:buNone/>
              <a:defRPr sz="1600">
                <a:solidFill>
                  <a:srgbClr val="3357B8"/>
                </a:solidFill>
                <a:latin typeface="Roboto Medium"/>
                <a:ea typeface="Roboto Medium"/>
                <a:cs typeface="Roboto Medium"/>
              </a:defRPr>
            </a:lvl5pPr>
            <a:lvl6pPr algn="l">
              <a:buNone/>
              <a:defRPr sz="1600">
                <a:solidFill>
                  <a:srgbClr val="3357B8"/>
                </a:solidFill>
                <a:latin typeface="Roboto Medium"/>
                <a:ea typeface="Roboto Medium"/>
                <a:cs typeface="Roboto Medium"/>
              </a:defRPr>
            </a:lvl6pPr>
            <a:lvl7pPr algn="l">
              <a:buNone/>
              <a:defRPr sz="1600">
                <a:solidFill>
                  <a:srgbClr val="3357B8"/>
                </a:solidFill>
                <a:latin typeface="Roboto Medium"/>
                <a:ea typeface="Roboto Medium"/>
                <a:cs typeface="Roboto Medium"/>
              </a:defRPr>
            </a:lvl7pPr>
            <a:lvl8pPr algn="l">
              <a:buNone/>
              <a:defRPr sz="1600">
                <a:solidFill>
                  <a:srgbClr val="3357B8"/>
                </a:solidFill>
                <a:latin typeface="Roboto Medium"/>
                <a:ea typeface="Roboto Medium"/>
                <a:cs typeface="Roboto Medium"/>
              </a:defRPr>
            </a:lvl8pPr>
            <a:lvl9pPr algn="l">
              <a:buNone/>
              <a:defRPr sz="1600">
                <a:solidFill>
                  <a:srgbClr val="3357B8"/>
                </a:solidFill>
                <a:latin typeface="Roboto Medium"/>
                <a:ea typeface="Roboto Medium"/>
                <a:cs typeface="Roboto Medium"/>
              </a:defRPr>
            </a:lvl9pPr>
          </a:lstStyle>
          <a:p xmlns:a="http://schemas.openxmlformats.org/drawingml/2006/main">
            <a:pPr marL="0" indent="0" algn="l">
              <a:spcAft>
                <a:spcPts val="800"/>
              </a:spcAft>
              <a:buNone/>
              <a:defRPr sz="1600">
                <a:solidFill>
                  <a:srgbClr val="3357B8"/>
                </a:solidFill>
                <a:latin typeface="Roboto Medium"/>
                <a:ea typeface="Roboto Medium"/>
                <a:cs typeface="Roboto Medium"/>
              </a:defRPr>
            </a:pPr>
            <a:r>
              <a:rPr>
                <a:solidFill>
                  <a:srgbClr val="3357B8"/>
                </a:solidFill>
                <a:latin typeface="Roboto Medium"/>
                <a:ea typeface="Roboto Medium"/>
                <a:cs typeface="Roboto Medium"/>
              </a:rPr>
              <a:t>Supervised learning</a:t>
            </a:r>
          </a:p>
          <a:p xmlns:a="http://schemas.openxmlformats.org/drawingml/2006/main">
            <a:pPr marL="0" indent="0" algn="l">
              <a:buNone/>
              <a:defRPr sz="1600">
                <a:solidFill>
                  <a:srgbClr val="3357B8"/>
                </a:solidFill>
                <a:latin typeface="Roboto Medium"/>
                <a:ea typeface="Roboto Medium"/>
                <a:cs typeface="Roboto Medium"/>
              </a:defRPr>
            </a:pPr>
            <a:r>
              <a:rPr b="0">
                <a:solidFill>
                  <a:srgbClr val="000000"/>
                </a:solidFill>
                <a:latin typeface="Roboto"/>
                <a:ea typeface="Roboto"/>
                <a:cs typeface="Roboto"/>
              </a:rPr>
              <a:t>Fit and calibrate. Practice tactile cues. Assess route competency with an instructor.</a:t>
            </a:r>
          </a:p>
        </p:txBody>
      </p:sp>
      <p:sp>
        <p:nvSpPr>
          <p:cNvPr id="18" name="Content Placeholder 17">
            <a:extLst xmlns:a="http://schemas.openxmlformats.org/drawingml/2006/main">
              <a:ext uri="{FF2B5EF4-FFF2-40B4-BE49-F238E27FC236}">
                <a16:creationId xmlns:a16="http://schemas.microsoft.com/office/drawing/2014/main" id="{B32A8A18-E9FA-02B4-6667-53C019EC43C0}"/>
              </a:ext>
            </a:extLst>
          </p:cNvPr>
          <p:cNvSpPr>
            <a:spLocks xmlns:a="http://schemas.openxmlformats.org/drawingml/2006/main" noGrp="1"/>
          </p:cNvSpPr>
          <p:nvPr>
            <p:ph idx="13"/>
          </p:nvPr>
        </p:nvSpPr>
        <p:spPr>
          <a:xfrm xmlns:a="http://schemas.openxmlformats.org/drawingml/2006/main">
            <a:off x="8240538" y="3822700"/>
            <a:ext cx="2595934" cy="1168400"/>
          </a:xfrm>
        </p:spPr>
        <p:txBody>
          <a:bodyPr xmlns:a="http://schemas.openxmlformats.org/drawingml/2006/main">
            <a:noAutofit/>
          </a:bodyPr>
          <a:lstStyle xmlns:a="http://schemas.openxmlformats.org/drawingml/2006/main">
            <a:defPPr algn="l">
              <a:defRPr sz="1600">
                <a:solidFill>
                  <a:srgbClr val="3357B8"/>
                </a:solidFill>
                <a:latin typeface="Roboto Medium"/>
                <a:ea typeface="Roboto Medium"/>
                <a:cs typeface="Roboto Medium"/>
              </a:defRPr>
            </a:defPPr>
            <a:lvl1pPr algn="l">
              <a:buNone/>
              <a:defRPr sz="1600">
                <a:solidFill>
                  <a:srgbClr val="3357B8"/>
                </a:solidFill>
                <a:latin typeface="Roboto Medium"/>
                <a:ea typeface="Roboto Medium"/>
                <a:cs typeface="Roboto Medium"/>
              </a:defRPr>
            </a:lvl1pPr>
            <a:lvl2pPr algn="l">
              <a:buNone/>
              <a:defRPr sz="1600">
                <a:solidFill>
                  <a:srgbClr val="3357B8"/>
                </a:solidFill>
                <a:latin typeface="Roboto Medium"/>
                <a:ea typeface="Roboto Medium"/>
                <a:cs typeface="Roboto Medium"/>
              </a:defRPr>
            </a:lvl2pPr>
            <a:lvl3pPr algn="l">
              <a:buNone/>
              <a:defRPr sz="1600">
                <a:solidFill>
                  <a:srgbClr val="3357B8"/>
                </a:solidFill>
                <a:latin typeface="Roboto Medium"/>
                <a:ea typeface="Roboto Medium"/>
                <a:cs typeface="Roboto Medium"/>
              </a:defRPr>
            </a:lvl3pPr>
            <a:lvl4pPr algn="l">
              <a:buNone/>
              <a:defRPr sz="1600">
                <a:solidFill>
                  <a:srgbClr val="3357B8"/>
                </a:solidFill>
                <a:latin typeface="Roboto Medium"/>
                <a:ea typeface="Roboto Medium"/>
                <a:cs typeface="Roboto Medium"/>
              </a:defRPr>
            </a:lvl4pPr>
            <a:lvl5pPr algn="l">
              <a:buNone/>
              <a:defRPr sz="1600">
                <a:solidFill>
                  <a:srgbClr val="3357B8"/>
                </a:solidFill>
                <a:latin typeface="Roboto Medium"/>
                <a:ea typeface="Roboto Medium"/>
                <a:cs typeface="Roboto Medium"/>
              </a:defRPr>
            </a:lvl5pPr>
            <a:lvl6pPr algn="l">
              <a:buNone/>
              <a:defRPr sz="1600">
                <a:solidFill>
                  <a:srgbClr val="3357B8"/>
                </a:solidFill>
                <a:latin typeface="Roboto Medium"/>
                <a:ea typeface="Roboto Medium"/>
                <a:cs typeface="Roboto Medium"/>
              </a:defRPr>
            </a:lvl6pPr>
            <a:lvl7pPr algn="l">
              <a:buNone/>
              <a:defRPr sz="1600">
                <a:solidFill>
                  <a:srgbClr val="3357B8"/>
                </a:solidFill>
                <a:latin typeface="Roboto Medium"/>
                <a:ea typeface="Roboto Medium"/>
                <a:cs typeface="Roboto Medium"/>
              </a:defRPr>
            </a:lvl7pPr>
            <a:lvl8pPr algn="l">
              <a:buNone/>
              <a:defRPr sz="1600">
                <a:solidFill>
                  <a:srgbClr val="3357B8"/>
                </a:solidFill>
                <a:latin typeface="Roboto Medium"/>
                <a:ea typeface="Roboto Medium"/>
                <a:cs typeface="Roboto Medium"/>
              </a:defRPr>
            </a:lvl8pPr>
            <a:lvl9pPr algn="l">
              <a:buNone/>
              <a:defRPr sz="1600">
                <a:solidFill>
                  <a:srgbClr val="3357B8"/>
                </a:solidFill>
                <a:latin typeface="Roboto Medium"/>
                <a:ea typeface="Roboto Medium"/>
                <a:cs typeface="Roboto Medium"/>
              </a:defRPr>
            </a:lvl9pPr>
          </a:lstStyle>
          <a:p xmlns:a="http://schemas.openxmlformats.org/drawingml/2006/main">
            <a:pPr marL="0" indent="0" algn="l">
              <a:spcAft>
                <a:spcPts val="800"/>
              </a:spcAft>
              <a:buNone/>
              <a:defRPr sz="1600">
                <a:solidFill>
                  <a:srgbClr val="3357B8"/>
                </a:solidFill>
                <a:latin typeface="Roboto Medium"/>
                <a:ea typeface="Roboto Medium"/>
                <a:cs typeface="Roboto Medium"/>
              </a:defRPr>
            </a:pPr>
            <a:r>
              <a:rPr>
                <a:solidFill>
                  <a:srgbClr val="3357B8"/>
                </a:solidFill>
                <a:latin typeface="Roboto Medium"/>
                <a:ea typeface="Roboto Medium"/>
                <a:cs typeface="Roboto Medium"/>
              </a:rPr>
              <a:t>Local support</a:t>
            </a:r>
          </a:p>
          <a:p xmlns:a="http://schemas.openxmlformats.org/drawingml/2006/main">
            <a:pPr marL="0" indent="0" algn="l">
              <a:buNone/>
              <a:defRPr sz="1600">
                <a:solidFill>
                  <a:srgbClr val="3357B8"/>
                </a:solidFill>
                <a:latin typeface="Roboto Medium"/>
                <a:ea typeface="Roboto Medium"/>
                <a:cs typeface="Roboto Medium"/>
              </a:defRPr>
            </a:pPr>
            <a:r>
              <a:rPr b="0">
                <a:solidFill>
                  <a:srgbClr val="000000"/>
                </a:solidFill>
                <a:latin typeface="Roboto"/>
                <a:ea typeface="Roboto"/>
                <a:cs typeface="Roboto"/>
              </a:rPr>
              <a:t>Arabic assistance. Follow-up visits. Repair collection points and annual servicing.</a:t>
            </a:r>
          </a:p>
        </p:txBody>
      </p:sp>
      <p:cxnSp>
        <p:nvCxnSpPr>
          <p:cNvPr id="2" name="Google Shape;2259;p159">
            <a:extLst xmlns:a="http://schemas.openxmlformats.org/drawingml/2006/main">
              <a:ext uri="{FF2B5EF4-FFF2-40B4-BE49-F238E27FC236}">
                <a16:creationId xmlns:a16="http://schemas.microsoft.com/office/drawing/2014/main" id="{DEC740FD-1BA6-4793-9177-C55FA57D45AA}"/>
              </a:ext>
            </a:extLst>
          </p:cNvPr>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9525" cap="flat">
            <a:solidFill>
              <a:schemeClr val="accent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400" b="1">
                <a:solidFill>
                  <a:srgbClr val="3357B8"/>
                </a:solidFill>
                <a:latin typeface="Roboto SemiBold"/>
                <a:ea typeface="Roboto SemiBold"/>
                <a:cs typeface="Roboto SemiBold"/>
              </a:defRPr>
            </a:defPPr>
            <a:lvl1pPr marL="228600" indent="-228600" algn="l" defTabSz="914400">
              <a:lnSpc>
                <a:spcPct val="90000"/>
              </a:lnSpc>
              <a:spcBef>
                <a:spcPts val="1000"/>
              </a:spcBef>
              <a:buFont typeface="Arial"/>
              <a:buNone/>
              <a:defRPr sz="1600" b="1"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b="1"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b="1"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b="1"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b="1"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b="1"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b="1"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b="1"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b="1"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400" b="1">
                <a:solidFill>
                  <a:srgbClr val="3357B8"/>
                </a:solidFill>
                <a:latin typeface="Roboto SemiBold"/>
                <a:ea typeface="Roboto SemiBold"/>
                <a:cs typeface="Roboto SemiBold"/>
              </a:defRPr>
            </a:pPr>
            <a:r>
              <a:rPr sz="1400" b="1">
                <a:solidFill>
                  <a:srgbClr val="3357B8"/>
                </a:solidFill>
                <a:latin typeface="Roboto SemiBold"/>
                <a:ea typeface="Roboto SemiBold"/>
                <a:cs typeface="Roboto SemiBold"/>
              </a:rPr>
              <a:t>DISTRIBUTION</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400" b="1">
                <a:solidFill>
                  <a:srgbClr val="3357B8"/>
                </a:solidFill>
                <a:latin typeface="Roboto SemiBold"/>
                <a:ea typeface="Roboto SemiBold"/>
                <a:cs typeface="Roboto SemiBold"/>
              </a:defRPr>
            </a:defPPr>
            <a:lvl1pPr marL="228600" indent="-228600" algn="l" defTabSz="914400">
              <a:lnSpc>
                <a:spcPct val="90000"/>
              </a:lnSpc>
              <a:spcBef>
                <a:spcPts val="1000"/>
              </a:spcBef>
              <a:buFont typeface="Arial"/>
              <a:buNone/>
              <a:defRPr sz="1600" b="1"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b="1"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b="1"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b="1"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b="1"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b="1"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b="1"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b="1"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b="1"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400" b="1">
                <a:solidFill>
                  <a:srgbClr val="3357B8"/>
                </a:solidFill>
                <a:latin typeface="Roboto SemiBold"/>
                <a:ea typeface="Roboto SemiBold"/>
                <a:cs typeface="Roboto SemiBold"/>
              </a:defRPr>
            </a:pPr>
            <a:r>
              <a:rPr sz="1400" b="1">
                <a:solidFill>
                  <a:srgbClr val="3357B8"/>
                </a:solidFill>
                <a:latin typeface="Roboto SemiBold"/>
                <a:ea typeface="Roboto SemiBold"/>
                <a:cs typeface="Roboto SemiBold"/>
              </a:rPr>
              <a:t>ONBOARDING</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400" b="1">
                <a:solidFill>
                  <a:srgbClr val="3357B8"/>
                </a:solidFill>
                <a:latin typeface="Roboto SemiBold"/>
                <a:ea typeface="Roboto SemiBold"/>
                <a:cs typeface="Roboto SemiBold"/>
              </a:defRPr>
            </a:defPPr>
            <a:lvl1pPr marL="228600" indent="-228600" algn="l" defTabSz="914400">
              <a:lnSpc>
                <a:spcPct val="90000"/>
              </a:lnSpc>
              <a:spcBef>
                <a:spcPts val="1000"/>
              </a:spcBef>
              <a:buFont typeface="Arial"/>
              <a:buNone/>
              <a:defRPr sz="1600" b="1"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b="1"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b="1"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b="1"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b="1"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b="1"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b="1"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b="1"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b="1"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400" b="1">
                <a:solidFill>
                  <a:srgbClr val="3357B8"/>
                </a:solidFill>
                <a:latin typeface="Roboto SemiBold"/>
                <a:ea typeface="Roboto SemiBold"/>
                <a:cs typeface="Roboto SemiBold"/>
              </a:defRPr>
            </a:pPr>
            <a:r>
              <a:rPr sz="1400" b="1">
                <a:solidFill>
                  <a:srgbClr val="3357B8"/>
                </a:solidFill>
                <a:latin typeface="Roboto SemiBold"/>
                <a:ea typeface="Roboto SemiBold"/>
                <a:cs typeface="Roboto SemiBold"/>
              </a:rPr>
              <a:t>RETENTION</a:t>
            </a:r>
          </a:p>
        </p:txBody>
      </p:sp>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344633891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6AD4425-62A5-20FE-DA81-DB0262F8E9D3}"/>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5</a:t>
            </a:fld>
            <a:endParaRPr/>
          </a:p>
        </p:txBody>
      </p:sp>
      <p:sp>
        <p:nvSpPr>
          <p:cNvPr id="533" name="Google Shape;533;p58">
            <a:extLst xmlns:a="http://schemas.openxmlformats.org/drawingml/2006/main">
              <a:ext uri="{FF2B5EF4-FFF2-40B4-BE49-F238E27FC236}">
                <a16:creationId xmlns:a16="http://schemas.microsoft.com/office/drawing/2014/main" id="{CCB3C549-3412-D9EC-FC96-8C0EA25A4312}"/>
              </a:ext>
            </a:extLst>
          </p:cNvPr>
          <p:cNvSpPr>
            <a:spLocks xmlns:a="http://schemas.openxmlformats.org/drawingml/2006/main" noGrp="1"/>
          </p:cNvSpPr>
          <p:nvPr>
            <p:ph type="title" idx="0"/>
          </p:nvPr>
        </p:nvSpPr>
        <p:spPr>
          <a:xfrm xmlns:a="http://schemas.openxmlformats.org/drawingml/2006/main">
            <a:off x="393699" y="344009"/>
            <a:ext cx="11404599" cy="5957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900" b="1">
                <a:solidFill>
                  <a:srgbClr val="3357B8"/>
                </a:solidFill>
                <a:latin typeface="Lora SemiBold"/>
                <a:ea typeface="Lora SemiBold"/>
                <a:cs typeface="Lora SemiBold"/>
              </a:defRPr>
            </a:defPPr>
            <a:lvl1pPr algn="l">
              <a:buNone/>
              <a:defRPr sz="2900" b="1">
                <a:solidFill>
                  <a:srgbClr val="3357B8"/>
                </a:solidFill>
                <a:latin typeface="Lora SemiBold"/>
                <a:ea typeface="Lora SemiBold"/>
                <a:cs typeface="Lora SemiBold"/>
              </a:defRPr>
            </a:lvl1pPr>
            <a:lvl2pPr algn="l">
              <a:buNone/>
              <a:defRPr sz="2900" b="1">
                <a:solidFill>
                  <a:srgbClr val="3357B8"/>
                </a:solidFill>
                <a:latin typeface="Lora SemiBold"/>
                <a:ea typeface="Lora SemiBold"/>
                <a:cs typeface="Lora SemiBold"/>
              </a:defRPr>
            </a:lvl2pPr>
            <a:lvl3pPr algn="l">
              <a:buNone/>
              <a:defRPr sz="2900" b="1">
                <a:solidFill>
                  <a:srgbClr val="3357B8"/>
                </a:solidFill>
                <a:latin typeface="Lora SemiBold"/>
                <a:ea typeface="Lora SemiBold"/>
                <a:cs typeface="Lora SemiBold"/>
              </a:defRPr>
            </a:lvl3pPr>
            <a:lvl4pPr algn="l">
              <a:buNone/>
              <a:defRPr sz="2900" b="1">
                <a:solidFill>
                  <a:srgbClr val="3357B8"/>
                </a:solidFill>
                <a:latin typeface="Lora SemiBold"/>
                <a:ea typeface="Lora SemiBold"/>
                <a:cs typeface="Lora SemiBold"/>
              </a:defRPr>
            </a:lvl4pPr>
            <a:lvl5pPr algn="l">
              <a:buNone/>
              <a:defRPr sz="2900" b="1">
                <a:solidFill>
                  <a:srgbClr val="3357B8"/>
                </a:solidFill>
                <a:latin typeface="Lora SemiBold"/>
                <a:ea typeface="Lora SemiBold"/>
                <a:cs typeface="Lora SemiBold"/>
              </a:defRPr>
            </a:lvl5pPr>
            <a:lvl6pPr algn="l">
              <a:buNone/>
              <a:defRPr sz="2900" b="1">
                <a:solidFill>
                  <a:srgbClr val="3357B8"/>
                </a:solidFill>
                <a:latin typeface="Lora SemiBold"/>
                <a:ea typeface="Lora SemiBold"/>
                <a:cs typeface="Lora SemiBold"/>
              </a:defRPr>
            </a:lvl6pPr>
            <a:lvl7pPr algn="l">
              <a:buNone/>
              <a:defRPr sz="2900" b="1">
                <a:solidFill>
                  <a:srgbClr val="3357B8"/>
                </a:solidFill>
                <a:latin typeface="Lora SemiBold"/>
                <a:ea typeface="Lora SemiBold"/>
                <a:cs typeface="Lora SemiBold"/>
              </a:defRPr>
            </a:lvl7pPr>
            <a:lvl8pPr algn="l">
              <a:buNone/>
              <a:defRPr sz="2900" b="1">
                <a:solidFill>
                  <a:srgbClr val="3357B8"/>
                </a:solidFill>
                <a:latin typeface="Lora SemiBold"/>
                <a:ea typeface="Lora SemiBold"/>
                <a:cs typeface="Lora SemiBold"/>
              </a:defRPr>
            </a:lvl8pPr>
            <a:lvl9pPr algn="l">
              <a:buNone/>
              <a:defRPr sz="2900" b="1">
                <a:solidFill>
                  <a:srgbClr val="3357B8"/>
                </a:solidFill>
                <a:latin typeface="Lora SemiBold"/>
                <a:ea typeface="Lora SemiBold"/>
                <a:cs typeface="Lora SemiBold"/>
              </a:defRPr>
            </a:lvl9pPr>
          </a:lstStyle>
          <a:p xmlns:a="http://schemas.openxmlformats.org/drawingml/2006/main">
            <a:pPr algn="l">
              <a:buNone/>
              <a:defRPr sz="2900" b="1">
                <a:solidFill>
                  <a:srgbClr val="3357B8"/>
                </a:solidFill>
                <a:latin typeface="Lora SemiBold"/>
                <a:ea typeface="Lora SemiBold"/>
                <a:cs typeface="Lora SemiBold"/>
              </a:defRPr>
            </a:pPr>
            <a:r>
              <a:rPr sz="2900" b="1">
                <a:solidFill>
                  <a:srgbClr val="3357B8"/>
                </a:solidFill>
                <a:latin typeface="Lora SemiBold"/>
                <a:ea typeface="Lora SemiBold"/>
                <a:cs typeface="Lora SemiBold"/>
              </a:rPr>
              <a:t>6. Revenue streams</a:t>
            </a:r>
            <a:endParaRPr>
              <a:solidFill>
                <a:schemeClr val="accent1"/>
              </a:solidFill>
            </a:endParaRPr>
          </a:p>
        </p:txBody>
      </p:sp>
      <p:sp>
        <p:nvSpPr>
          <p:cNvPr id="11" name="Footer Placeholder 10">
            <a:extLst xmlns:a="http://schemas.openxmlformats.org/drawingml/2006/main">
              <a:ext uri="{FF2B5EF4-FFF2-40B4-BE49-F238E27FC236}">
                <a16:creationId xmlns:a16="http://schemas.microsoft.com/office/drawing/2014/main" id="{BD5D3365-630B-7DA2-6578-D2DE7ACBBC07}"/>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3" name="Google Shape;534;p58">
            <a:extLst xmlns:a="http://schemas.openxmlformats.org/drawingml/2006/main">
              <a:ext uri="{FF2B5EF4-FFF2-40B4-BE49-F238E27FC236}">
                <a16:creationId xmlns:a16="http://schemas.microsoft.com/office/drawing/2014/main" id="{076E58D8-94E3-59EF-6F5D-94479531D945}"/>
              </a:ext>
            </a:extLst>
          </p:cNvPr>
          <p:cNvSpPr>
            <a:spLocks xmlns:a="http://schemas.openxmlformats.org/drawingml/2006/main" noGrp="1"/>
          </p:cNvSpPr>
          <p:nvPr/>
        </p:nvSpPr>
        <p:spPr>
          <a:xfrm xmlns:a="http://schemas.openxmlformats.org/drawingml/2006/main">
            <a:off x="393700" y="2374900"/>
            <a:ext cx="55372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165100" indent="-88900" algn="l">
              <a:spcAft>
                <a:spcPts val="800"/>
              </a:spcAft>
              <a:buChar char="•"/>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Direct hardware: illustrative $399 selling price, subject to a tax-inclusive affordability check.</a:t>
            </a:r>
          </a:p>
          <a:p xmlns:a="http://schemas.openxmlformats.org/drawingml/2006/main">
            <a:pPr marL="165100" indent="-88900" algn="l">
              <a:spcAft>
                <a:spcPts val="800"/>
              </a:spcAft>
              <a:buChar char="•"/>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Institutional / CSR batches: $299 per device with standardized deployment.</a:t>
            </a:r>
          </a:p>
          <a:p xmlns:a="http://schemas.openxmlformats.org/drawingml/2006/main">
            <a:pPr marL="165100" indent="-88900" algn="l">
              <a:spcAft>
                <a:spcPts val="800"/>
              </a:spcAft>
              <a:buChar char="•"/>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Subsidized example: user pays $99 and sponsor pays $200. Total hardware revenue is $299.</a:t>
            </a:r>
          </a:p>
          <a:p xmlns:a="http://schemas.openxmlformats.org/drawingml/2006/main">
            <a:pPr marL="165100" indent="-88900" algn="l">
              <a:spcAft>
                <a:spcPts val="800"/>
              </a:spcAft>
              <a:buChar char="•"/>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Grants finance R&amp;D, user testing and tooling. Report them separately from commercial sales.</a:t>
            </a:r>
          </a:p>
        </p:txBody>
      </p:sp>
      <p:sp>
        <p:nvSpPr>
          <p:cNvPr id="5" name="Google Shape;534;p58">
            <a:extLst xmlns:a="http://schemas.openxmlformats.org/drawingml/2006/main">
              <a:ext uri="{FF2B5EF4-FFF2-40B4-BE49-F238E27FC236}">
                <a16:creationId xmlns:a16="http://schemas.microsoft.com/office/drawing/2014/main" id="{EC39CC4A-7702-F34C-BFC1-C34643FFFDEE}"/>
              </a:ext>
            </a:extLst>
          </p:cNvPr>
          <p:cNvSpPr>
            <a:spLocks xmlns:a="http://schemas.openxmlformats.org/drawingml/2006/main" noGrp="1"/>
          </p:cNvSpPr>
          <p:nvPr/>
        </p:nvSpPr>
        <p:spPr>
          <a:xfrm xmlns:a="http://schemas.openxmlformats.org/drawingml/2006/main">
            <a:off x="393700" y="1436666"/>
            <a:ext cx="5537200" cy="719318"/>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000">
                <a:solidFill>
                  <a:srgbClr val="000000"/>
                </a:solidFill>
                <a:latin typeface="Lora"/>
                <a:ea typeface="Lora"/>
                <a:cs typeface="Lora"/>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2000">
                <a:solidFill>
                  <a:srgbClr val="000000"/>
                </a:solidFill>
                <a:latin typeface="Lora"/>
                <a:ea typeface="Lora"/>
                <a:cs typeface="Lora"/>
              </a:defRPr>
            </a:pPr>
            <a:r>
              <a:rPr sz="2000">
                <a:solidFill>
                  <a:srgbClr val="000000"/>
                </a:solidFill>
                <a:latin typeface="Lora"/>
                <a:ea typeface="Lora"/>
                <a:cs typeface="Lora"/>
              </a:rPr>
              <a:t>Hardware funds delivery. Maintenance supports retention.</a:t>
            </a:r>
          </a:p>
        </p:txBody>
      </p:sp>
      <p:sp>
        <p:nvSpPr>
          <p:cNvPr id="27" name="Content Placeholder 10">
            <a:extLst xmlns:a="http://schemas.openxmlformats.org/drawingml/2006/main">
              <a:ext uri="{FF2B5EF4-FFF2-40B4-BE49-F238E27FC236}">
                <a16:creationId xmlns:a16="http://schemas.microsoft.com/office/drawing/2014/main" id="{B4FA777D-1E43-2118-018B-D684DB7EFEF1}"/>
              </a:ext>
            </a:extLst>
          </p:cNvPr>
          <p:cNvSpPr>
            <a:spLocks xmlns:a="http://schemas.openxmlformats.org/drawingml/2006/main" noGrp="1"/>
          </p:cNvSpPr>
          <p:nvPr/>
        </p:nvSpPr>
        <p:spPr>
          <a:xfrm xmlns:a="http://schemas.openxmlformats.org/drawingml/2006/main">
            <a:off x="6648104" y="2184252"/>
            <a:ext cx="5014766" cy="59753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4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defRPr sz="1400">
                <a:solidFill>
                  <a:srgbClr val="000000"/>
                </a:solidFill>
                <a:latin typeface="Helvetica Neue"/>
                <a:ea typeface="Helvetica Neue"/>
                <a:cs typeface="Helvetica Neue"/>
              </a:defRPr>
            </a:pPr>
            <a:r>
              <a:rPr sz="1400" b="0" i="0" u="none" strike="noStrike" cap="none" spc="0" baseline="0">
                <a:ln>
                  <a:noFill/>
                </a:ln>
                <a:solidFill>
                  <a:srgbClr val="000000"/>
                </a:solidFill>
                <a:latin typeface="Helvetica Neue"/>
                <a:ea typeface="Helvetica Neue"/>
                <a:cs typeface="Helvetica Neue"/>
              </a:rPr>
              <a:t>Paid pilots establish fit. Repeat funded orders reduce acquisition cost and simplify deployment.</a:t>
            </a:r>
          </a:p>
        </p:txBody>
      </p:sp>
      <p:sp>
        <p:nvSpPr>
          <p:cNvPr id="28" name="TextBox 27">
            <a:extLst xmlns:a="http://schemas.openxmlformats.org/drawingml/2006/main">
              <a:ext uri="{FF2B5EF4-FFF2-40B4-BE49-F238E27FC236}">
                <a16:creationId xmlns:a16="http://schemas.microsoft.com/office/drawing/2014/main" id="{F2F01BD9-1359-C69B-3F1A-A36534227FFE}"/>
              </a:ext>
            </a:extLst>
          </p:cNvPr>
          <p:cNvSpPr>
            <a:spLocks xmlns:a="http://schemas.openxmlformats.org/drawingml/2006/main" noGrp="1"/>
          </p:cNvSpPr>
          <p:nvPr/>
        </p:nvSpPr>
        <p:spPr>
          <a:xfrm xmlns:a="http://schemas.openxmlformats.org/drawingml/2006/main">
            <a:off x="6644793" y="1813255"/>
            <a:ext cx="5014766" cy="24323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lgn="l">
              <a:defRPr sz="1400">
                <a:solidFill>
                  <a:srgbClr val="3357B8"/>
                </a:solidFill>
                <a:latin typeface="Helvetica Neue Medium"/>
                <a:ea typeface="Helvetica Neue Medium"/>
                <a:cs typeface="Helvetica Neue Medium"/>
              </a:defRPr>
            </a:defPPr>
            <a:lvl1pPr algn="l">
              <a:buNone/>
              <a:defRPr sz="1400">
                <a:solidFill>
                  <a:srgbClr val="3357B8"/>
                </a:solidFill>
                <a:latin typeface="Helvetica Neue Medium"/>
                <a:ea typeface="Helvetica Neue Medium"/>
                <a:cs typeface="Helvetica Neue Medium"/>
              </a:defRPr>
            </a:lvl1pPr>
            <a:lvl2pPr algn="l">
              <a:buNone/>
              <a:defRPr sz="1400">
                <a:solidFill>
                  <a:srgbClr val="3357B8"/>
                </a:solidFill>
                <a:latin typeface="Helvetica Neue Medium"/>
                <a:ea typeface="Helvetica Neue Medium"/>
                <a:cs typeface="Helvetica Neue Medium"/>
              </a:defRPr>
            </a:lvl2pPr>
            <a:lvl3pPr algn="l">
              <a:buNone/>
              <a:defRPr sz="1400">
                <a:solidFill>
                  <a:srgbClr val="3357B8"/>
                </a:solidFill>
                <a:latin typeface="Helvetica Neue Medium"/>
                <a:ea typeface="Helvetica Neue Medium"/>
                <a:cs typeface="Helvetica Neue Medium"/>
              </a:defRPr>
            </a:lvl3pPr>
            <a:lvl4pPr algn="l">
              <a:buNone/>
              <a:defRPr sz="1400">
                <a:solidFill>
                  <a:srgbClr val="3357B8"/>
                </a:solidFill>
                <a:latin typeface="Helvetica Neue Medium"/>
                <a:ea typeface="Helvetica Neue Medium"/>
                <a:cs typeface="Helvetica Neue Medium"/>
              </a:defRPr>
            </a:lvl4pPr>
            <a:lvl5pPr algn="l">
              <a:buNone/>
              <a:defRPr sz="1400">
                <a:solidFill>
                  <a:srgbClr val="3357B8"/>
                </a:solidFill>
                <a:latin typeface="Helvetica Neue Medium"/>
                <a:ea typeface="Helvetica Neue Medium"/>
                <a:cs typeface="Helvetica Neue Medium"/>
              </a:defRPr>
            </a:lvl5pPr>
            <a:lvl6pPr algn="l">
              <a:buNone/>
              <a:defRPr sz="1400">
                <a:solidFill>
                  <a:srgbClr val="3357B8"/>
                </a:solidFill>
                <a:latin typeface="Helvetica Neue Medium"/>
                <a:ea typeface="Helvetica Neue Medium"/>
                <a:cs typeface="Helvetica Neue Medium"/>
              </a:defRPr>
            </a:lvl6pPr>
            <a:lvl7pPr algn="l">
              <a:buNone/>
              <a:defRPr sz="1400">
                <a:solidFill>
                  <a:srgbClr val="3357B8"/>
                </a:solidFill>
                <a:latin typeface="Helvetica Neue Medium"/>
                <a:ea typeface="Helvetica Neue Medium"/>
                <a:cs typeface="Helvetica Neue Medium"/>
              </a:defRPr>
            </a:lvl7pPr>
            <a:lvl8pPr algn="l">
              <a:buNone/>
              <a:defRPr sz="1400">
                <a:solidFill>
                  <a:srgbClr val="3357B8"/>
                </a:solidFill>
                <a:latin typeface="Helvetica Neue Medium"/>
                <a:ea typeface="Helvetica Neue Medium"/>
                <a:cs typeface="Helvetica Neue Medium"/>
              </a:defRPr>
            </a:lvl8pPr>
            <a:lvl9pPr algn="l">
              <a:buNone/>
              <a:defRPr sz="1400">
                <a:solidFill>
                  <a:srgbClr val="3357B8"/>
                </a:solidFill>
                <a:latin typeface="Helvetica Neue Medium"/>
                <a:ea typeface="Helvetica Neue Medium"/>
                <a:cs typeface="Helvetica Neue Medium"/>
              </a:defRPr>
            </a:lvl9pPr>
          </a:lstStyle>
          <a:p xmlns:a="http://schemas.openxmlformats.org/drawingml/2006/main">
            <a:pPr marL="0" marR="0" lvl="0" indent="0" algn="l" defTabSz="914400">
              <a:lnSpc>
                <a:spcPct val="114000"/>
              </a:lnSpc>
              <a:spcBef>
                <a:spcPts val="0"/>
              </a:spcBef>
              <a:spcAft>
                <a:spcPts val="800"/>
              </a:spcAft>
              <a:buClrTx/>
              <a:buSzTx/>
              <a:buFontTx/>
              <a:buNone/>
              <a:defRPr sz="1400">
                <a:solidFill>
                  <a:srgbClr val="3357B8"/>
                </a:solidFill>
                <a:latin typeface="Helvetica Neue Medium"/>
                <a:ea typeface="Helvetica Neue Medium"/>
                <a:cs typeface="Helvetica Neue Medium"/>
              </a:defRPr>
            </a:pPr>
            <a:r>
              <a:rPr sz="1400" b="0" i="0" u="none" strike="noStrike" cap="none" spc="0" baseline="0">
                <a:ln>
                  <a:noFill/>
                </a:ln>
                <a:solidFill>
                  <a:srgbClr val="3357B8"/>
                </a:solidFill>
                <a:latin typeface="Helvetica Neue Medium"/>
                <a:ea typeface="Helvetica Neue Medium"/>
                <a:cs typeface="Helvetica Neue Medium"/>
              </a:rPr>
              <a:t>Institutional batches</a:t>
            </a:r>
          </a:p>
        </p:txBody>
      </p:sp>
      <p:sp>
        <p:nvSpPr>
          <p:cNvPr id="2" name="Rounded Rectangle 1">
            <a:extLst xmlns:a="http://schemas.openxmlformats.org/drawingml/2006/main">
              <a:ext uri="{FF2B5EF4-FFF2-40B4-BE49-F238E27FC236}">
                <a16:creationId xmlns:a16="http://schemas.microsoft.com/office/drawing/2014/main" id="{3C99D68F-34ED-A722-D7DB-03942B0B77DB}"/>
              </a:ext>
            </a:extLst>
          </p:cNvPr>
          <p:cNvSpPr>
            <a:spLocks xmlns:a="http://schemas.openxmlformats.org/drawingml/2006/main" noGrp="1"/>
          </p:cNvSpPr>
          <p:nvPr/>
        </p:nvSpPr>
        <p:spPr>
          <a:xfrm xmlns:a="http://schemas.openxmlformats.org/drawingml/2006/main">
            <a:off x="6405842" y="1521935"/>
            <a:ext cx="5394187" cy="1393857"/>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4" name="Content Placeholder 10">
            <a:extLst xmlns:a="http://schemas.openxmlformats.org/drawingml/2006/main">
              <a:ext uri="{FF2B5EF4-FFF2-40B4-BE49-F238E27FC236}">
                <a16:creationId xmlns:a16="http://schemas.microsoft.com/office/drawing/2014/main" id="{32674159-B6E6-B9EF-D753-5EF1E687140B}"/>
              </a:ext>
            </a:extLst>
          </p:cNvPr>
          <p:cNvSpPr>
            <a:spLocks xmlns:a="http://schemas.openxmlformats.org/drawingml/2006/main" noGrp="1"/>
          </p:cNvSpPr>
          <p:nvPr/>
        </p:nvSpPr>
        <p:spPr>
          <a:xfrm xmlns:a="http://schemas.openxmlformats.org/drawingml/2006/main">
            <a:off x="6648104" y="3693012"/>
            <a:ext cx="5014766" cy="59753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4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defRPr sz="1400">
                <a:solidFill>
                  <a:srgbClr val="000000"/>
                </a:solidFill>
                <a:latin typeface="Helvetica Neue"/>
                <a:ea typeface="Helvetica Neue"/>
                <a:cs typeface="Helvetica Neue"/>
              </a:defRPr>
            </a:pPr>
            <a:r>
              <a:rPr sz="1400" b="0" i="0" u="none" strike="noStrike" cap="none" spc="0" baseline="0">
                <a:ln>
                  <a:noFill/>
                </a:ln>
                <a:solidFill>
                  <a:srgbClr val="000000"/>
                </a:solidFill>
                <a:latin typeface="Helvetica Neue"/>
                <a:ea typeface="Helvetica Neue"/>
                <a:cs typeface="Helvetica Neue"/>
              </a:rPr>
              <a:t>Target service cost $12–$18. Contribution $12–$18 before overhead. Major repairs cost extra.</a:t>
            </a:r>
          </a:p>
        </p:txBody>
      </p:sp>
      <p:sp>
        <p:nvSpPr>
          <p:cNvPr id="6" name="TextBox 5">
            <a:extLst xmlns:a="http://schemas.openxmlformats.org/drawingml/2006/main">
              <a:ext uri="{FF2B5EF4-FFF2-40B4-BE49-F238E27FC236}">
                <a16:creationId xmlns:a16="http://schemas.microsoft.com/office/drawing/2014/main" id="{57D84212-7716-6AFC-2CCA-1118E41834EC}"/>
              </a:ext>
            </a:extLst>
          </p:cNvPr>
          <p:cNvSpPr>
            <a:spLocks xmlns:a="http://schemas.openxmlformats.org/drawingml/2006/main" noGrp="1"/>
          </p:cNvSpPr>
          <p:nvPr/>
        </p:nvSpPr>
        <p:spPr>
          <a:xfrm xmlns:a="http://schemas.openxmlformats.org/drawingml/2006/main">
            <a:off x="6644793" y="3322015"/>
            <a:ext cx="5014766" cy="24323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lgn="l">
              <a:defRPr sz="1400">
                <a:solidFill>
                  <a:srgbClr val="3357B8"/>
                </a:solidFill>
                <a:latin typeface="Helvetica Neue Medium"/>
                <a:ea typeface="Helvetica Neue Medium"/>
                <a:cs typeface="Helvetica Neue Medium"/>
              </a:defRPr>
            </a:defPPr>
            <a:lvl1pPr algn="l">
              <a:buNone/>
              <a:defRPr sz="1400">
                <a:solidFill>
                  <a:srgbClr val="3357B8"/>
                </a:solidFill>
                <a:latin typeface="Helvetica Neue Medium"/>
                <a:ea typeface="Helvetica Neue Medium"/>
                <a:cs typeface="Helvetica Neue Medium"/>
              </a:defRPr>
            </a:lvl1pPr>
            <a:lvl2pPr algn="l">
              <a:buNone/>
              <a:defRPr sz="1400">
                <a:solidFill>
                  <a:srgbClr val="3357B8"/>
                </a:solidFill>
                <a:latin typeface="Helvetica Neue Medium"/>
                <a:ea typeface="Helvetica Neue Medium"/>
                <a:cs typeface="Helvetica Neue Medium"/>
              </a:defRPr>
            </a:lvl2pPr>
            <a:lvl3pPr algn="l">
              <a:buNone/>
              <a:defRPr sz="1400">
                <a:solidFill>
                  <a:srgbClr val="3357B8"/>
                </a:solidFill>
                <a:latin typeface="Helvetica Neue Medium"/>
                <a:ea typeface="Helvetica Neue Medium"/>
                <a:cs typeface="Helvetica Neue Medium"/>
              </a:defRPr>
            </a:lvl3pPr>
            <a:lvl4pPr algn="l">
              <a:buNone/>
              <a:defRPr sz="1400">
                <a:solidFill>
                  <a:srgbClr val="3357B8"/>
                </a:solidFill>
                <a:latin typeface="Helvetica Neue Medium"/>
                <a:ea typeface="Helvetica Neue Medium"/>
                <a:cs typeface="Helvetica Neue Medium"/>
              </a:defRPr>
            </a:lvl4pPr>
            <a:lvl5pPr algn="l">
              <a:buNone/>
              <a:defRPr sz="1400">
                <a:solidFill>
                  <a:srgbClr val="3357B8"/>
                </a:solidFill>
                <a:latin typeface="Helvetica Neue Medium"/>
                <a:ea typeface="Helvetica Neue Medium"/>
                <a:cs typeface="Helvetica Neue Medium"/>
              </a:defRPr>
            </a:lvl5pPr>
            <a:lvl6pPr algn="l">
              <a:buNone/>
              <a:defRPr sz="1400">
                <a:solidFill>
                  <a:srgbClr val="3357B8"/>
                </a:solidFill>
                <a:latin typeface="Helvetica Neue Medium"/>
                <a:ea typeface="Helvetica Neue Medium"/>
                <a:cs typeface="Helvetica Neue Medium"/>
              </a:defRPr>
            </a:lvl6pPr>
            <a:lvl7pPr algn="l">
              <a:buNone/>
              <a:defRPr sz="1400">
                <a:solidFill>
                  <a:srgbClr val="3357B8"/>
                </a:solidFill>
                <a:latin typeface="Helvetica Neue Medium"/>
                <a:ea typeface="Helvetica Neue Medium"/>
                <a:cs typeface="Helvetica Neue Medium"/>
              </a:defRPr>
            </a:lvl7pPr>
            <a:lvl8pPr algn="l">
              <a:buNone/>
              <a:defRPr sz="1400">
                <a:solidFill>
                  <a:srgbClr val="3357B8"/>
                </a:solidFill>
                <a:latin typeface="Helvetica Neue Medium"/>
                <a:ea typeface="Helvetica Neue Medium"/>
                <a:cs typeface="Helvetica Neue Medium"/>
              </a:defRPr>
            </a:lvl8pPr>
            <a:lvl9pPr algn="l">
              <a:buNone/>
              <a:defRPr sz="1400">
                <a:solidFill>
                  <a:srgbClr val="3357B8"/>
                </a:solidFill>
                <a:latin typeface="Helvetica Neue Medium"/>
                <a:ea typeface="Helvetica Neue Medium"/>
                <a:cs typeface="Helvetica Neue Medium"/>
              </a:defRPr>
            </a:lvl9pPr>
          </a:lstStyle>
          <a:p xmlns:a="http://schemas.openxmlformats.org/drawingml/2006/main">
            <a:pPr marL="0" marR="0" lvl="0" indent="0" algn="l" defTabSz="914400">
              <a:lnSpc>
                <a:spcPct val="114000"/>
              </a:lnSpc>
              <a:spcBef>
                <a:spcPts val="0"/>
              </a:spcBef>
              <a:spcAft>
                <a:spcPts val="800"/>
              </a:spcAft>
              <a:buClrTx/>
              <a:buSzTx/>
              <a:buFontTx/>
              <a:buNone/>
              <a:defRPr sz="1400">
                <a:solidFill>
                  <a:srgbClr val="3357B8"/>
                </a:solidFill>
                <a:latin typeface="Helvetica Neue Medium"/>
                <a:ea typeface="Helvetica Neue Medium"/>
                <a:cs typeface="Helvetica Neue Medium"/>
              </a:defRPr>
            </a:pPr>
            <a:r>
              <a:rPr sz="1400" b="0" i="0" u="none" strike="noStrike" cap="none" spc="0" baseline="0">
                <a:ln>
                  <a:noFill/>
                </a:ln>
                <a:solidFill>
                  <a:srgbClr val="3357B8"/>
                </a:solidFill>
                <a:latin typeface="Helvetica Neue Medium"/>
                <a:ea typeface="Helvetica Neue Medium"/>
                <a:cs typeface="Helvetica Neue Medium"/>
              </a:rPr>
              <a:t>$30/year maintenance</a:t>
            </a:r>
          </a:p>
        </p:txBody>
      </p:sp>
      <p:sp>
        <p:nvSpPr>
          <p:cNvPr id="7" name="Rounded Rectangle 6">
            <a:extLst xmlns:a="http://schemas.openxmlformats.org/drawingml/2006/main">
              <a:ext uri="{FF2B5EF4-FFF2-40B4-BE49-F238E27FC236}">
                <a16:creationId xmlns:a16="http://schemas.microsoft.com/office/drawing/2014/main" id="{520BED9B-3AD0-B986-23FF-346EFF8EE6FA}"/>
              </a:ext>
            </a:extLst>
          </p:cNvPr>
          <p:cNvSpPr>
            <a:spLocks xmlns:a="http://schemas.openxmlformats.org/drawingml/2006/main" noGrp="1"/>
          </p:cNvSpPr>
          <p:nvPr/>
        </p:nvSpPr>
        <p:spPr>
          <a:xfrm xmlns:a="http://schemas.openxmlformats.org/drawingml/2006/main">
            <a:off x="6405842" y="3030695"/>
            <a:ext cx="5394187" cy="1393857"/>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8" name="Content Placeholder 10">
            <a:extLst xmlns:a="http://schemas.openxmlformats.org/drawingml/2006/main">
              <a:ext uri="{FF2B5EF4-FFF2-40B4-BE49-F238E27FC236}">
                <a16:creationId xmlns:a16="http://schemas.microsoft.com/office/drawing/2014/main" id="{58865802-6967-7210-3371-DEA6828B57A2}"/>
              </a:ext>
            </a:extLst>
          </p:cNvPr>
          <p:cNvSpPr>
            <a:spLocks xmlns:a="http://schemas.openxmlformats.org/drawingml/2006/main" noGrp="1"/>
          </p:cNvSpPr>
          <p:nvPr/>
        </p:nvSpPr>
        <p:spPr>
          <a:xfrm xmlns:a="http://schemas.openxmlformats.org/drawingml/2006/main">
            <a:off x="6648105" y="5201772"/>
            <a:ext cx="5014766" cy="59753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4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defRPr sz="1400">
                <a:solidFill>
                  <a:srgbClr val="000000"/>
                </a:solidFill>
                <a:latin typeface="Helvetica Neue"/>
                <a:ea typeface="Helvetica Neue"/>
                <a:cs typeface="Helvetica Neue"/>
              </a:defRPr>
            </a:pPr>
            <a:r>
              <a:rPr sz="1400" b="0" i="0" u="none" strike="noStrike" cap="none" spc="0" baseline="0">
                <a:ln>
                  <a:noFill/>
                </a:ln>
                <a:solidFill>
                  <a:srgbClr val="000000"/>
                </a:solidFill>
                <a:latin typeface="Helvetica Neue"/>
                <a:ea typeface="Helvetica Neue"/>
                <a:cs typeface="Helvetica Neue"/>
              </a:rPr>
              <a:t>$30/year covers a service plan. Hardware-inclusive rental requires a higher fee or upfront funding.</a:t>
            </a:r>
          </a:p>
        </p:txBody>
      </p:sp>
      <p:sp>
        <p:nvSpPr>
          <p:cNvPr id="9" name="TextBox 8">
            <a:extLst xmlns:a="http://schemas.openxmlformats.org/drawingml/2006/main">
              <a:ext uri="{FF2B5EF4-FFF2-40B4-BE49-F238E27FC236}">
                <a16:creationId xmlns:a16="http://schemas.microsoft.com/office/drawing/2014/main" id="{DD2FEB2E-B2D7-376B-AFC1-B25E2E37C15B}"/>
              </a:ext>
            </a:extLst>
          </p:cNvPr>
          <p:cNvSpPr>
            <a:spLocks xmlns:a="http://schemas.openxmlformats.org/drawingml/2006/main" noGrp="1"/>
          </p:cNvSpPr>
          <p:nvPr/>
        </p:nvSpPr>
        <p:spPr>
          <a:xfrm xmlns:a="http://schemas.openxmlformats.org/drawingml/2006/main">
            <a:off x="6644794" y="4830775"/>
            <a:ext cx="5014766" cy="24323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lgn="l">
              <a:defRPr sz="1400">
                <a:solidFill>
                  <a:srgbClr val="3357B8"/>
                </a:solidFill>
                <a:latin typeface="Helvetica Neue Medium"/>
                <a:ea typeface="Helvetica Neue Medium"/>
                <a:cs typeface="Helvetica Neue Medium"/>
              </a:defRPr>
            </a:defPPr>
            <a:lvl1pPr algn="l">
              <a:buNone/>
              <a:defRPr sz="1400">
                <a:solidFill>
                  <a:srgbClr val="3357B8"/>
                </a:solidFill>
                <a:latin typeface="Helvetica Neue Medium"/>
                <a:ea typeface="Helvetica Neue Medium"/>
                <a:cs typeface="Helvetica Neue Medium"/>
              </a:defRPr>
            </a:lvl1pPr>
            <a:lvl2pPr algn="l">
              <a:buNone/>
              <a:defRPr sz="1400">
                <a:solidFill>
                  <a:srgbClr val="3357B8"/>
                </a:solidFill>
                <a:latin typeface="Helvetica Neue Medium"/>
                <a:ea typeface="Helvetica Neue Medium"/>
                <a:cs typeface="Helvetica Neue Medium"/>
              </a:defRPr>
            </a:lvl2pPr>
            <a:lvl3pPr algn="l">
              <a:buNone/>
              <a:defRPr sz="1400">
                <a:solidFill>
                  <a:srgbClr val="3357B8"/>
                </a:solidFill>
                <a:latin typeface="Helvetica Neue Medium"/>
                <a:ea typeface="Helvetica Neue Medium"/>
                <a:cs typeface="Helvetica Neue Medium"/>
              </a:defRPr>
            </a:lvl3pPr>
            <a:lvl4pPr algn="l">
              <a:buNone/>
              <a:defRPr sz="1400">
                <a:solidFill>
                  <a:srgbClr val="3357B8"/>
                </a:solidFill>
                <a:latin typeface="Helvetica Neue Medium"/>
                <a:ea typeface="Helvetica Neue Medium"/>
                <a:cs typeface="Helvetica Neue Medium"/>
              </a:defRPr>
            </a:lvl4pPr>
            <a:lvl5pPr algn="l">
              <a:buNone/>
              <a:defRPr sz="1400">
                <a:solidFill>
                  <a:srgbClr val="3357B8"/>
                </a:solidFill>
                <a:latin typeface="Helvetica Neue Medium"/>
                <a:ea typeface="Helvetica Neue Medium"/>
                <a:cs typeface="Helvetica Neue Medium"/>
              </a:defRPr>
            </a:lvl5pPr>
            <a:lvl6pPr algn="l">
              <a:buNone/>
              <a:defRPr sz="1400">
                <a:solidFill>
                  <a:srgbClr val="3357B8"/>
                </a:solidFill>
                <a:latin typeface="Helvetica Neue Medium"/>
                <a:ea typeface="Helvetica Neue Medium"/>
                <a:cs typeface="Helvetica Neue Medium"/>
              </a:defRPr>
            </a:lvl6pPr>
            <a:lvl7pPr algn="l">
              <a:buNone/>
              <a:defRPr sz="1400">
                <a:solidFill>
                  <a:srgbClr val="3357B8"/>
                </a:solidFill>
                <a:latin typeface="Helvetica Neue Medium"/>
                <a:ea typeface="Helvetica Neue Medium"/>
                <a:cs typeface="Helvetica Neue Medium"/>
              </a:defRPr>
            </a:lvl7pPr>
            <a:lvl8pPr algn="l">
              <a:buNone/>
              <a:defRPr sz="1400">
                <a:solidFill>
                  <a:srgbClr val="3357B8"/>
                </a:solidFill>
                <a:latin typeface="Helvetica Neue Medium"/>
                <a:ea typeface="Helvetica Neue Medium"/>
                <a:cs typeface="Helvetica Neue Medium"/>
              </a:defRPr>
            </a:lvl8pPr>
            <a:lvl9pPr algn="l">
              <a:buNone/>
              <a:defRPr sz="1400">
                <a:solidFill>
                  <a:srgbClr val="3357B8"/>
                </a:solidFill>
                <a:latin typeface="Helvetica Neue Medium"/>
                <a:ea typeface="Helvetica Neue Medium"/>
                <a:cs typeface="Helvetica Neue Medium"/>
              </a:defRPr>
            </a:lvl9pPr>
          </a:lstStyle>
          <a:p xmlns:a="http://schemas.openxmlformats.org/drawingml/2006/main">
            <a:pPr marL="0" marR="0" lvl="0" indent="0" algn="l" defTabSz="914400">
              <a:lnSpc>
                <a:spcPct val="114000"/>
              </a:lnSpc>
              <a:spcBef>
                <a:spcPts val="0"/>
              </a:spcBef>
              <a:spcAft>
                <a:spcPts val="800"/>
              </a:spcAft>
              <a:buClrTx/>
              <a:buSzTx/>
              <a:buFontTx/>
              <a:buNone/>
              <a:defRPr sz="1400">
                <a:solidFill>
                  <a:srgbClr val="3357B8"/>
                </a:solidFill>
                <a:latin typeface="Helvetica Neue Medium"/>
                <a:ea typeface="Helvetica Neue Medium"/>
                <a:cs typeface="Helvetica Neue Medium"/>
              </a:defRPr>
            </a:pPr>
            <a:r>
              <a:rPr sz="1400" b="0" i="0" u="none" strike="noStrike" cap="none" spc="0" baseline="0">
                <a:ln>
                  <a:noFill/>
                </a:ln>
                <a:solidFill>
                  <a:srgbClr val="3357B8"/>
                </a:solidFill>
                <a:latin typeface="Helvetica Neue Medium"/>
                <a:ea typeface="Helvetica Neue Medium"/>
                <a:cs typeface="Helvetica Neue Medium"/>
              </a:rPr>
              <a:t>HaaS scope</a:t>
            </a:r>
          </a:p>
        </p:txBody>
      </p:sp>
      <p:sp>
        <p:nvSpPr>
          <p:cNvPr id="10" name="Rounded Rectangle 9">
            <a:extLst xmlns:a="http://schemas.openxmlformats.org/drawingml/2006/main">
              <a:ext uri="{FF2B5EF4-FFF2-40B4-BE49-F238E27FC236}">
                <a16:creationId xmlns:a16="http://schemas.microsoft.com/office/drawing/2014/main" id="{F95C5540-5014-B354-3651-51BA127570AA}"/>
              </a:ext>
            </a:extLst>
          </p:cNvPr>
          <p:cNvSpPr>
            <a:spLocks xmlns:a="http://schemas.openxmlformats.org/drawingml/2006/main" noGrp="1"/>
          </p:cNvSpPr>
          <p:nvPr/>
        </p:nvSpPr>
        <p:spPr>
          <a:xfrm xmlns:a="http://schemas.openxmlformats.org/drawingml/2006/main">
            <a:off x="6405843" y="4539455"/>
            <a:ext cx="5394187" cy="1393857"/>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Tree>
    <p:extLst>
      <p:ext uri="{BB962C8B-B14F-4D97-AF65-F5344CB8AC3E}">
        <p14:creationId xmlns:p14="http://schemas.microsoft.com/office/powerpoint/2010/main" val="336614037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4429360-E0B5-E472-3BCB-2FC70A04DAF5}"/>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9</a:t>
            </a:fld>
            <a:endParaRPr/>
          </a:p>
        </p:txBody>
      </p:sp>
      <p:sp>
        <p:nvSpPr>
          <p:cNvPr id="533" name="Google Shape;533;p58">
            <a:extLst xmlns:a="http://schemas.openxmlformats.org/drawingml/2006/main">
              <a:ext uri="{FF2B5EF4-FFF2-40B4-BE49-F238E27FC236}">
                <a16:creationId xmlns:a16="http://schemas.microsoft.com/office/drawing/2014/main" id="{3CD65521-5912-FE80-B7B5-EE9E16A1351B}"/>
              </a:ext>
            </a:extLst>
          </p:cNvPr>
          <p:cNvSpPr>
            <a:spLocks xmlns:a="http://schemas.openxmlformats.org/drawingml/2006/main" noGrp="1"/>
          </p:cNvSpPr>
          <p:nvPr>
            <p:ph type="title" idx="0"/>
          </p:nvPr>
        </p:nvSpPr>
        <p:spPr>
          <a:xfrm xmlns:a="http://schemas.openxmlformats.org/drawingml/2006/main">
            <a:off x="393700" y="344008"/>
            <a:ext cx="7835900" cy="10402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900" b="1">
                <a:solidFill>
                  <a:srgbClr val="3357B8"/>
                </a:solidFill>
                <a:latin typeface="Lora SemiBold"/>
                <a:ea typeface="Lora SemiBold"/>
                <a:cs typeface="Lora SemiBold"/>
              </a:defRPr>
            </a:defPPr>
            <a:lvl1pPr algn="l">
              <a:buNone/>
              <a:defRPr sz="2900" b="1">
                <a:solidFill>
                  <a:srgbClr val="3357B8"/>
                </a:solidFill>
                <a:latin typeface="Lora SemiBold"/>
                <a:ea typeface="Lora SemiBold"/>
                <a:cs typeface="Lora SemiBold"/>
              </a:defRPr>
            </a:lvl1pPr>
            <a:lvl2pPr algn="l">
              <a:buNone/>
              <a:defRPr sz="2900" b="1">
                <a:solidFill>
                  <a:srgbClr val="3357B8"/>
                </a:solidFill>
                <a:latin typeface="Lora SemiBold"/>
                <a:ea typeface="Lora SemiBold"/>
                <a:cs typeface="Lora SemiBold"/>
              </a:defRPr>
            </a:lvl2pPr>
            <a:lvl3pPr algn="l">
              <a:buNone/>
              <a:defRPr sz="2900" b="1">
                <a:solidFill>
                  <a:srgbClr val="3357B8"/>
                </a:solidFill>
                <a:latin typeface="Lora SemiBold"/>
                <a:ea typeface="Lora SemiBold"/>
                <a:cs typeface="Lora SemiBold"/>
              </a:defRPr>
            </a:lvl3pPr>
            <a:lvl4pPr algn="l">
              <a:buNone/>
              <a:defRPr sz="2900" b="1">
                <a:solidFill>
                  <a:srgbClr val="3357B8"/>
                </a:solidFill>
                <a:latin typeface="Lora SemiBold"/>
                <a:ea typeface="Lora SemiBold"/>
                <a:cs typeface="Lora SemiBold"/>
              </a:defRPr>
            </a:lvl4pPr>
            <a:lvl5pPr algn="l">
              <a:buNone/>
              <a:defRPr sz="2900" b="1">
                <a:solidFill>
                  <a:srgbClr val="3357B8"/>
                </a:solidFill>
                <a:latin typeface="Lora SemiBold"/>
                <a:ea typeface="Lora SemiBold"/>
                <a:cs typeface="Lora SemiBold"/>
              </a:defRPr>
            </a:lvl5pPr>
            <a:lvl6pPr algn="l">
              <a:buNone/>
              <a:defRPr sz="2900" b="1">
                <a:solidFill>
                  <a:srgbClr val="3357B8"/>
                </a:solidFill>
                <a:latin typeface="Lora SemiBold"/>
                <a:ea typeface="Lora SemiBold"/>
                <a:cs typeface="Lora SemiBold"/>
              </a:defRPr>
            </a:lvl6pPr>
            <a:lvl7pPr algn="l">
              <a:buNone/>
              <a:defRPr sz="2900" b="1">
                <a:solidFill>
                  <a:srgbClr val="3357B8"/>
                </a:solidFill>
                <a:latin typeface="Lora SemiBold"/>
                <a:ea typeface="Lora SemiBold"/>
                <a:cs typeface="Lora SemiBold"/>
              </a:defRPr>
            </a:lvl7pPr>
            <a:lvl8pPr algn="l">
              <a:buNone/>
              <a:defRPr sz="2900" b="1">
                <a:solidFill>
                  <a:srgbClr val="3357B8"/>
                </a:solidFill>
                <a:latin typeface="Lora SemiBold"/>
                <a:ea typeface="Lora SemiBold"/>
                <a:cs typeface="Lora SemiBold"/>
              </a:defRPr>
            </a:lvl8pPr>
            <a:lvl9pPr algn="l">
              <a:buNone/>
              <a:defRPr sz="2900" b="1">
                <a:solidFill>
                  <a:srgbClr val="3357B8"/>
                </a:solidFill>
                <a:latin typeface="Lora SemiBold"/>
                <a:ea typeface="Lora SemiBold"/>
                <a:cs typeface="Lora SemiBold"/>
              </a:defRPr>
            </a:lvl9pPr>
          </a:lstStyle>
          <a:p xmlns:a="http://schemas.openxmlformats.org/drawingml/2006/main">
            <a:pPr algn="l">
              <a:buNone/>
              <a:defRPr sz="2900" b="1">
                <a:solidFill>
                  <a:srgbClr val="3357B8"/>
                </a:solidFill>
                <a:latin typeface="Lora SemiBold"/>
                <a:ea typeface="Lora SemiBold"/>
                <a:cs typeface="Lora SemiBold"/>
              </a:defRPr>
            </a:pPr>
            <a:r>
              <a:rPr sz="2900" b="1">
                <a:solidFill>
                  <a:srgbClr val="3357B8"/>
                </a:solidFill>
                <a:latin typeface="Lora SemiBold"/>
                <a:ea typeface="Lora SemiBold"/>
                <a:cs typeface="Lora SemiBold"/>
              </a:rPr>
              <a:t>7. Cost structure</a:t>
            </a:r>
            <a:endParaRPr>
              <a:solidFill>
                <a:schemeClr val="accent1"/>
              </a:solidFill>
            </a:endParaRPr>
          </a:p>
        </p:txBody>
      </p:sp>
      <p:graphicFrame>
        <p:nvGraphicFramePr>
          <p:cNvPr id="2" name="Google Shape;644;p93">
            <a:extLst xmlns:a="http://schemas.openxmlformats.org/drawingml/2006/main">
              <a:ext uri="{FF2B5EF4-FFF2-40B4-BE49-F238E27FC236}">
                <a16:creationId xmlns:a16="http://schemas.microsoft.com/office/drawing/2014/main" id="{084DBBF9-BE5F-4C34-94A8-EB8E78DE9FFA}"/>
              </a:ext>
            </a:extLst>
          </p:cNvPr>
          <p:cNvGraphicFramePr/>
          <p:nvPr/>
        </p:nvGraphicFramePr>
        <p:xfrm>
          <a:off xmlns:a="http://schemas.openxmlformats.org/drawingml/2006/main" x="4752742" y="1549337"/>
          <a:ext xmlns:a="http://schemas.openxmlformats.org/drawingml/2006/main" cx="6778000" cy="4627827"/>
        </p:xfrm>
        <a:graphic xmlns:a="http://schemas.openxmlformats.org/drawingml/2006/main">
          <a:graphicData uri="http://schemas.openxmlformats.org/drawingml/2006/table">
            <a:tbl>
              <a:tblPr firstRow="1"/>
              <a:tblGrid>
                <a:gridCol w="1857375"/>
                <a:gridCol w="1619250"/>
                <a:gridCol w="1619250"/>
                <a:gridCol w="1682115"/>
              </a:tblGrid>
              <a:tr h="558432">
                <a:tc>
                  <a:txBody>
                    <a:bodyPr/>
                    <a:lstStyle/>
                    <a:p>
                      <a:pPr marL="0" lvl="0" indent="0" algn="l">
                        <a:lnSpc>
                          <a:spcPct val="110000"/>
                        </a:lnSpc>
                        <a:spcBef>
                          <a:spcPts val="0"/>
                        </a:spcBef>
                        <a:spcAft>
                          <a:spcPts val="700"/>
                        </a:spcAft>
                        <a:buNone/>
                      </a:pPr>
                      <a:r>
                        <a:rPr sz="1400" b="1">
                          <a:solidFill>
                            <a:srgbClr val="000000"/>
                          </a:solidFill>
                          <a:latin typeface="+mn-lt"/>
                          <a:ea typeface="+mn-lt"/>
                          <a:cs typeface="+mn-lt"/>
                        </a:rPr>
                        <a:t>Component</a:t>
                      </a:r>
                      <a:endParaRPr sz="1400" b="1">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None/>
                      </a:pPr>
                      <a:r>
                        <a:rPr sz="1400" b="1">
                          <a:solidFill>
                            <a:srgbClr val="000000"/>
                          </a:solidFill>
                          <a:latin typeface="+mn-lt"/>
                          <a:ea typeface="+mn-lt"/>
                          <a:cs typeface="+mn-lt"/>
                        </a:rPr>
                        <a:t>Low $</a:t>
                      </a:r>
                      <a:endParaRPr sz="1400" b="1">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Clr>
                          <a:srgbClr val="000000"/>
                        </a:buClr>
                        <a:buSzPts val="1200"/>
                        <a:buFont typeface="Arial"/>
                        <a:buNone/>
                      </a:pPr>
                      <a:r>
                        <a:rPr sz="1400" b="1">
                          <a:solidFill>
                            <a:srgbClr val="000000"/>
                          </a:solidFill>
                          <a:latin typeface="+mn-lt"/>
                          <a:ea typeface="+mn-lt"/>
                          <a:cs typeface="+mn-lt"/>
                        </a:rPr>
                        <a:t>High $</a:t>
                      </a:r>
                      <a:endParaRPr sz="1400" b="1">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Clr>
                          <a:srgbClr val="000000"/>
                        </a:buClr>
                        <a:buSzPts val="1200"/>
                        <a:buFont typeface="Arial"/>
                        <a:buNone/>
                      </a:pPr>
                      <a:r>
                        <a:rPr sz="1400" b="1">
                          <a:solidFill>
                            <a:srgbClr val="000000"/>
                          </a:solidFill>
                          <a:latin typeface="+mn-lt"/>
                          <a:ea typeface="+mn-lt"/>
                          <a:cs typeface="+mn-lt"/>
                        </a:rPr>
                        <a:t>Base $</a:t>
                      </a:r>
                      <a:endParaRPr sz="1400" b="1">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RGB-D</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22</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28</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25</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Compute</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24</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30</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27</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Pin matrix</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25</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32</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29</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PCB / drivers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8</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10</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9</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Power</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7</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8</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8</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Housing</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9</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12</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12</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Total BOM</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95</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120</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110</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Other COGS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60</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Product cost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170</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rgbClr val="9E9E9E">
                          <a:alpha val="0"/>
                        </a:srgbClr>
                      </a:solidFill>
                      <a:prstDash val="solid"/>
                    </a:lnB>
                  </a:tcPr>
                </a:tc>
              </a:tr>
            </a:tbl>
          </a:graphicData>
        </a:graphic>
      </p:graphicFrame>
      <p:sp>
        <p:nvSpPr>
          <p:cNvPr id="3" name="Footer Placeholder 2">
            <a:extLst xmlns:a="http://schemas.openxmlformats.org/drawingml/2006/main">
              <a:ext uri="{FF2B5EF4-FFF2-40B4-BE49-F238E27FC236}">
                <a16:creationId xmlns:a16="http://schemas.microsoft.com/office/drawing/2014/main" id="{175B304C-27F3-8A33-E6D7-E2EFCA2F82B2}"/>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7" name="Google Shape;534;p58">
            <a:extLst xmlns:a="http://schemas.openxmlformats.org/drawingml/2006/main">
              <a:ext uri="{FF2B5EF4-FFF2-40B4-BE49-F238E27FC236}">
                <a16:creationId xmlns:a16="http://schemas.microsoft.com/office/drawing/2014/main" id="{71547039-AB2A-5CA1-49F7-26E9E71601EF}"/>
              </a:ext>
            </a:extLst>
          </p:cNvPr>
          <p:cNvSpPr>
            <a:spLocks xmlns:a="http://schemas.openxmlformats.org/drawingml/2006/main" noGrp="1"/>
          </p:cNvSpPr>
          <p:nvPr/>
        </p:nvSpPr>
        <p:spPr>
          <a:xfrm xmlns:a="http://schemas.openxmlformats.org/drawingml/2006/main">
            <a:off x="393700" y="2774196"/>
            <a:ext cx="3606800" cy="322020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400">
                <a:solidFill>
                  <a:srgbClr val="000000"/>
                </a:solidFill>
                <a:latin typeface="Roboto"/>
                <a:ea typeface="Roboto"/>
                <a:cs typeface="Roboto"/>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Other COGS: $18 assembly/test, $7 packaging, $12 inbound/imports, $8 rework and $15 warranty.</a:t>
            </a:r>
          </a:p>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Planning: $180k annual fixed operating cost.</a:t>
            </a:r>
          </a:p>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Separate launch/tooling and validation budget: $60k–$120k.</a:t>
            </a:r>
          </a:p>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Main sourcing risks: depth sensor, Edge AI compute and reliable pin actuation.</a:t>
            </a:r>
          </a:p>
        </p:txBody>
      </p:sp>
      <p:sp>
        <p:nvSpPr>
          <p:cNvPr id="8" name="Google Shape;534;p58">
            <a:extLst xmlns:a="http://schemas.openxmlformats.org/drawingml/2006/main">
              <a:ext uri="{FF2B5EF4-FFF2-40B4-BE49-F238E27FC236}">
                <a16:creationId xmlns:a16="http://schemas.microsoft.com/office/drawing/2014/main" id="{D136FB89-7449-CC90-F061-B6BF578EA25E}"/>
              </a:ext>
            </a:extLst>
          </p:cNvPr>
          <p:cNvSpPr>
            <a:spLocks xmlns:a="http://schemas.openxmlformats.org/drawingml/2006/main" noGrp="1"/>
          </p:cNvSpPr>
          <p:nvPr/>
        </p:nvSpPr>
        <p:spPr>
          <a:xfrm xmlns:a="http://schemas.openxmlformats.org/drawingml/2006/main">
            <a:off x="393700" y="1564835"/>
            <a:ext cx="3606800" cy="117836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000">
                <a:solidFill>
                  <a:srgbClr val="000000"/>
                </a:solidFill>
                <a:latin typeface="Lora"/>
                <a:ea typeface="Lora"/>
                <a:cs typeface="Lora"/>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2000">
                <a:solidFill>
                  <a:srgbClr val="000000"/>
                </a:solidFill>
                <a:latin typeface="Lora"/>
                <a:ea typeface="Lora"/>
                <a:cs typeface="Lora"/>
              </a:defRPr>
            </a:pPr>
            <a:r>
              <a:rPr sz="2000">
                <a:solidFill>
                  <a:srgbClr val="000000"/>
                </a:solidFill>
                <a:latin typeface="Lora"/>
                <a:ea typeface="Lora"/>
                <a:cs typeface="Lora"/>
              </a:rPr>
              <a:t>$95–$120 BOM target</a:t>
            </a:r>
          </a:p>
          <a:p xmlns:a="http://schemas.openxmlformats.org/drawingml/2006/main">
            <a:pPr marL="0" indent="0" algn="l">
              <a:lnSpc>
                <a:spcPct val="114000"/>
              </a:lnSpc>
              <a:spcBef>
                <a:spcPts val="0"/>
              </a:spcBef>
              <a:spcAft>
                <a:spcPts val="800"/>
              </a:spcAft>
              <a:buNone/>
              <a:defRPr sz="2000">
                <a:solidFill>
                  <a:srgbClr val="000000"/>
                </a:solidFill>
                <a:latin typeface="Lora"/>
                <a:ea typeface="Lora"/>
                <a:cs typeface="Lora"/>
              </a:defRPr>
            </a:pPr>
            <a:r>
              <a:rPr sz="2000">
                <a:solidFill>
                  <a:srgbClr val="000000"/>
                </a:solidFill>
                <a:latin typeface="Lora"/>
                <a:ea typeface="Lora"/>
                <a:cs typeface="Lora"/>
              </a:rPr>
              <a:t>$170 base product cost</a:t>
            </a:r>
          </a:p>
        </p:txBody>
      </p:sp>
    </p:spTree>
    <p:extLst>
      <p:ext uri="{BB962C8B-B14F-4D97-AF65-F5344CB8AC3E}">
        <p14:creationId xmlns:p14="http://schemas.microsoft.com/office/powerpoint/2010/main" val="255389493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4429360-E0B5-E472-3BCB-2FC70A04DAF5}"/>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9</a:t>
            </a:fld>
            <a:endParaRPr/>
          </a:p>
        </p:txBody>
      </p:sp>
      <p:sp>
        <p:nvSpPr>
          <p:cNvPr id="533" name="Google Shape;533;p58">
            <a:extLst xmlns:a="http://schemas.openxmlformats.org/drawingml/2006/main">
              <a:ext uri="{FF2B5EF4-FFF2-40B4-BE49-F238E27FC236}">
                <a16:creationId xmlns:a16="http://schemas.microsoft.com/office/drawing/2014/main" id="{3CD65521-5912-FE80-B7B5-EE9E16A1351B}"/>
              </a:ext>
            </a:extLst>
          </p:cNvPr>
          <p:cNvSpPr>
            <a:spLocks xmlns:a="http://schemas.openxmlformats.org/drawingml/2006/main" noGrp="1"/>
          </p:cNvSpPr>
          <p:nvPr>
            <p:ph type="title" idx="0"/>
          </p:nvPr>
        </p:nvSpPr>
        <p:spPr>
          <a:xfrm xmlns:a="http://schemas.openxmlformats.org/drawingml/2006/main">
            <a:off x="393700" y="344008"/>
            <a:ext cx="7835900" cy="10402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900" b="1">
                <a:solidFill>
                  <a:srgbClr val="3357B8"/>
                </a:solidFill>
                <a:latin typeface="Lora SemiBold"/>
                <a:ea typeface="Lora SemiBold"/>
                <a:cs typeface="Lora SemiBold"/>
              </a:defRPr>
            </a:defPPr>
            <a:lvl1pPr algn="l">
              <a:buNone/>
              <a:defRPr sz="2900" b="1">
                <a:solidFill>
                  <a:srgbClr val="3357B8"/>
                </a:solidFill>
                <a:latin typeface="Lora SemiBold"/>
                <a:ea typeface="Lora SemiBold"/>
                <a:cs typeface="Lora SemiBold"/>
              </a:defRPr>
            </a:lvl1pPr>
            <a:lvl2pPr algn="l">
              <a:buNone/>
              <a:defRPr sz="2900" b="1">
                <a:solidFill>
                  <a:srgbClr val="3357B8"/>
                </a:solidFill>
                <a:latin typeface="Lora SemiBold"/>
                <a:ea typeface="Lora SemiBold"/>
                <a:cs typeface="Lora SemiBold"/>
              </a:defRPr>
            </a:lvl2pPr>
            <a:lvl3pPr algn="l">
              <a:buNone/>
              <a:defRPr sz="2900" b="1">
                <a:solidFill>
                  <a:srgbClr val="3357B8"/>
                </a:solidFill>
                <a:latin typeface="Lora SemiBold"/>
                <a:ea typeface="Lora SemiBold"/>
                <a:cs typeface="Lora SemiBold"/>
              </a:defRPr>
            </a:lvl3pPr>
            <a:lvl4pPr algn="l">
              <a:buNone/>
              <a:defRPr sz="2900" b="1">
                <a:solidFill>
                  <a:srgbClr val="3357B8"/>
                </a:solidFill>
                <a:latin typeface="Lora SemiBold"/>
                <a:ea typeface="Lora SemiBold"/>
                <a:cs typeface="Lora SemiBold"/>
              </a:defRPr>
            </a:lvl4pPr>
            <a:lvl5pPr algn="l">
              <a:buNone/>
              <a:defRPr sz="2900" b="1">
                <a:solidFill>
                  <a:srgbClr val="3357B8"/>
                </a:solidFill>
                <a:latin typeface="Lora SemiBold"/>
                <a:ea typeface="Lora SemiBold"/>
                <a:cs typeface="Lora SemiBold"/>
              </a:defRPr>
            </a:lvl5pPr>
            <a:lvl6pPr algn="l">
              <a:buNone/>
              <a:defRPr sz="2900" b="1">
                <a:solidFill>
                  <a:srgbClr val="3357B8"/>
                </a:solidFill>
                <a:latin typeface="Lora SemiBold"/>
                <a:ea typeface="Lora SemiBold"/>
                <a:cs typeface="Lora SemiBold"/>
              </a:defRPr>
            </a:lvl6pPr>
            <a:lvl7pPr algn="l">
              <a:buNone/>
              <a:defRPr sz="2900" b="1">
                <a:solidFill>
                  <a:srgbClr val="3357B8"/>
                </a:solidFill>
                <a:latin typeface="Lora SemiBold"/>
                <a:ea typeface="Lora SemiBold"/>
                <a:cs typeface="Lora SemiBold"/>
              </a:defRPr>
            </a:lvl7pPr>
            <a:lvl8pPr algn="l">
              <a:buNone/>
              <a:defRPr sz="2900" b="1">
                <a:solidFill>
                  <a:srgbClr val="3357B8"/>
                </a:solidFill>
                <a:latin typeface="Lora SemiBold"/>
                <a:ea typeface="Lora SemiBold"/>
                <a:cs typeface="Lora SemiBold"/>
              </a:defRPr>
            </a:lvl8pPr>
            <a:lvl9pPr algn="l">
              <a:buNone/>
              <a:defRPr sz="2900" b="1">
                <a:solidFill>
                  <a:srgbClr val="3357B8"/>
                </a:solidFill>
                <a:latin typeface="Lora SemiBold"/>
                <a:ea typeface="Lora SemiBold"/>
                <a:cs typeface="Lora SemiBold"/>
              </a:defRPr>
            </a:lvl9pPr>
          </a:lstStyle>
          <a:p xmlns:a="http://schemas.openxmlformats.org/drawingml/2006/main">
            <a:pPr algn="l">
              <a:buNone/>
              <a:defRPr sz="2900" b="1">
                <a:solidFill>
                  <a:srgbClr val="3357B8"/>
                </a:solidFill>
                <a:latin typeface="Lora SemiBold"/>
                <a:ea typeface="Lora SemiBold"/>
                <a:cs typeface="Lora SemiBold"/>
              </a:defRPr>
            </a:pPr>
            <a:r>
              <a:rPr sz="2900" b="1">
                <a:solidFill>
                  <a:srgbClr val="3357B8"/>
                </a:solidFill>
                <a:latin typeface="Lora SemiBold"/>
                <a:ea typeface="Lora SemiBold"/>
                <a:cs typeface="Lora SemiBold"/>
              </a:rPr>
              <a:t>Unit economics and working capital</a:t>
            </a:r>
            <a:endParaRPr>
              <a:solidFill>
                <a:schemeClr val="accent1"/>
              </a:solidFill>
            </a:endParaRPr>
          </a:p>
        </p:txBody>
      </p:sp>
      <p:graphicFrame>
        <p:nvGraphicFramePr>
          <p:cNvPr id="2" name="Google Shape;644;p93">
            <a:extLst xmlns:a="http://schemas.openxmlformats.org/drawingml/2006/main">
              <a:ext uri="{FF2B5EF4-FFF2-40B4-BE49-F238E27FC236}">
                <a16:creationId xmlns:a16="http://schemas.microsoft.com/office/drawing/2014/main" id="{3DEF533A-8DB0-439D-9929-9519A4C3CBED}"/>
              </a:ext>
            </a:extLst>
          </p:cNvPr>
          <p:cNvGraphicFramePr/>
          <p:nvPr/>
        </p:nvGraphicFramePr>
        <p:xfrm>
          <a:off xmlns:a="http://schemas.openxmlformats.org/drawingml/2006/main" x="4752742" y="1549337"/>
          <a:ext xmlns:a="http://schemas.openxmlformats.org/drawingml/2006/main" cx="6778000" cy="4627827"/>
        </p:xfrm>
        <a:graphic xmlns:a="http://schemas.openxmlformats.org/drawingml/2006/main">
          <a:graphicData uri="http://schemas.openxmlformats.org/drawingml/2006/table">
            <a:tbl>
              <a:tblPr firstRow="1"/>
              <a:tblGrid>
                <a:gridCol w="1857375"/>
                <a:gridCol w="1619250"/>
                <a:gridCol w="1619250"/>
                <a:gridCol w="1682115"/>
              </a:tblGrid>
              <a:tr h="558432">
                <a:tc>
                  <a:txBody>
                    <a:bodyPr/>
                    <a:lstStyle/>
                    <a:p>
                      <a:pPr marL="0" lvl="0" indent="0" algn="l">
                        <a:lnSpc>
                          <a:spcPct val="110000"/>
                        </a:lnSpc>
                        <a:spcBef>
                          <a:spcPts val="0"/>
                        </a:spcBef>
                        <a:spcAft>
                          <a:spcPts val="700"/>
                        </a:spcAft>
                        <a:buNone/>
                      </a:pPr>
                      <a:r>
                        <a:rPr sz="1400" b="1">
                          <a:solidFill>
                            <a:srgbClr val="000000"/>
                          </a:solidFill>
                          <a:latin typeface="+mn-lt"/>
                          <a:ea typeface="+mn-lt"/>
                          <a:cs typeface="+mn-lt"/>
                        </a:rPr>
                        <a:t>USD/device</a:t>
                      </a:r>
                      <a:endParaRPr sz="1400" b="1">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None/>
                      </a:pPr>
                      <a:r>
                        <a:rPr sz="1400" b="1">
                          <a:solidFill>
                            <a:srgbClr val="000000"/>
                          </a:solidFill>
                          <a:latin typeface="+mn-lt"/>
                          <a:ea typeface="+mn-lt"/>
                          <a:cs typeface="+mn-lt"/>
                        </a:rPr>
                        <a:t>B2B / CSR</a:t>
                      </a:r>
                      <a:endParaRPr sz="1400" b="1">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Clr>
                          <a:srgbClr val="000000"/>
                        </a:buClr>
                        <a:buSzPts val="1200"/>
                        <a:buFont typeface="Arial"/>
                        <a:buNone/>
                      </a:pPr>
                      <a:r>
                        <a:rPr sz="1400" b="1">
                          <a:solidFill>
                            <a:srgbClr val="000000"/>
                          </a:solidFill>
                          <a:latin typeface="+mn-lt"/>
                          <a:ea typeface="+mn-lt"/>
                          <a:cs typeface="+mn-lt"/>
                        </a:rPr>
                        <a:t>Direct</a:t>
                      </a:r>
                      <a:endParaRPr sz="1400" b="1">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Clr>
                          <a:srgbClr val="000000"/>
                        </a:buClr>
                        <a:buSzPts val="1200"/>
                        <a:buFont typeface="Arial"/>
                        <a:buNone/>
                      </a:pPr>
                      <a:r>
                        <a:rPr sz="1400" b="1">
                          <a:solidFill>
                            <a:srgbClr val="000000"/>
                          </a:solidFill>
                          <a:latin typeface="+mn-lt"/>
                          <a:ea typeface="+mn-lt"/>
                          <a:cs typeface="+mn-lt"/>
                        </a:rPr>
                        <a:t>Blended</a:t>
                      </a:r>
                      <a:endParaRPr sz="1400" b="1">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Net price</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299</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399</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319</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Product cost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170</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170</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170</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Gross profit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129</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229</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149</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Gross margin</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43%</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57%</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47%</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Deployment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30</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50</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34</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Contribution</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99</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179</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115</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Sales mix</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80%</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20%</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100%</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Maintenance</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30/year</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30/year</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Optional</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Service cost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12–18</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12–18</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Per year</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rgbClr val="9E9E9E">
                          <a:alpha val="0"/>
                        </a:srgbClr>
                      </a:solidFill>
                      <a:prstDash val="solid"/>
                    </a:lnB>
                  </a:tcPr>
                </a:tc>
              </a:tr>
            </a:tbl>
          </a:graphicData>
        </a:graphic>
      </p:graphicFrame>
      <p:sp>
        <p:nvSpPr>
          <p:cNvPr id="3" name="Footer Placeholder 2">
            <a:extLst xmlns:a="http://schemas.openxmlformats.org/drawingml/2006/main">
              <a:ext uri="{FF2B5EF4-FFF2-40B4-BE49-F238E27FC236}">
                <a16:creationId xmlns:a16="http://schemas.microsoft.com/office/drawing/2014/main" id="{175B304C-27F3-8A33-E6D7-E2EFCA2F82B2}"/>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7" name="Google Shape;534;p58">
            <a:extLst xmlns:a="http://schemas.openxmlformats.org/drawingml/2006/main">
              <a:ext uri="{FF2B5EF4-FFF2-40B4-BE49-F238E27FC236}">
                <a16:creationId xmlns:a16="http://schemas.microsoft.com/office/drawing/2014/main" id="{71547039-AB2A-5CA1-49F7-26E9E71601EF}"/>
              </a:ext>
            </a:extLst>
          </p:cNvPr>
          <p:cNvSpPr>
            <a:spLocks xmlns:a="http://schemas.openxmlformats.org/drawingml/2006/main" noGrp="1"/>
          </p:cNvSpPr>
          <p:nvPr/>
        </p:nvSpPr>
        <p:spPr>
          <a:xfrm xmlns:a="http://schemas.openxmlformats.org/drawingml/2006/main">
            <a:off x="393700" y="2774196"/>
            <a:ext cx="3606800" cy="322020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400">
                <a:solidFill>
                  <a:srgbClr val="000000"/>
                </a:solidFill>
                <a:latin typeface="Roboto"/>
                <a:ea typeface="Roboto"/>
                <a:cs typeface="Roboto"/>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Net revenue assumes sales tax is excluded. A tax-inclusive $399 ceiling reduces margin.</a:t>
            </a:r>
          </a:p>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A 50% deposit on 1,000 institutional devices provides $149,500.</a:t>
            </a:r>
          </a:p>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Product cost is $170,000, leaving a $20,500 gap before deployment and overhead.</a:t>
            </a:r>
          </a:p>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Use milestone payments and tight inventory commitments.</a:t>
            </a:r>
          </a:p>
        </p:txBody>
      </p:sp>
      <p:sp>
        <p:nvSpPr>
          <p:cNvPr id="8" name="Google Shape;534;p58">
            <a:extLst xmlns:a="http://schemas.openxmlformats.org/drawingml/2006/main">
              <a:ext uri="{FF2B5EF4-FFF2-40B4-BE49-F238E27FC236}">
                <a16:creationId xmlns:a16="http://schemas.microsoft.com/office/drawing/2014/main" id="{D136FB89-7449-CC90-F061-B6BF578EA25E}"/>
              </a:ext>
            </a:extLst>
          </p:cNvPr>
          <p:cNvSpPr>
            <a:spLocks xmlns:a="http://schemas.openxmlformats.org/drawingml/2006/main" noGrp="1"/>
          </p:cNvSpPr>
          <p:nvPr/>
        </p:nvSpPr>
        <p:spPr>
          <a:xfrm xmlns:a="http://schemas.openxmlformats.org/drawingml/2006/main">
            <a:off x="393700" y="1564835"/>
            <a:ext cx="3606800" cy="117836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000">
                <a:solidFill>
                  <a:srgbClr val="000000"/>
                </a:solidFill>
                <a:latin typeface="Lora"/>
                <a:ea typeface="Lora"/>
                <a:cs typeface="Lora"/>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2000">
                <a:solidFill>
                  <a:srgbClr val="000000"/>
                </a:solidFill>
                <a:latin typeface="Lora"/>
                <a:ea typeface="Lora"/>
                <a:cs typeface="Lora"/>
              </a:defRPr>
            </a:pPr>
            <a:r>
              <a:rPr sz="2000">
                <a:solidFill>
                  <a:srgbClr val="000000"/>
                </a:solidFill>
                <a:latin typeface="Lora"/>
                <a:ea typeface="Lora"/>
                <a:cs typeface="Lora"/>
              </a:rPr>
              <a:t>$115 blended contribution per device</a:t>
            </a:r>
          </a:p>
        </p:txBody>
      </p:sp>
    </p:spTree>
    <p:extLst>
      <p:ext uri="{BB962C8B-B14F-4D97-AF65-F5344CB8AC3E}">
        <p14:creationId xmlns:p14="http://schemas.microsoft.com/office/powerpoint/2010/main" val="255389493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F29587C6-818E-614C-4E8F-CD264BB5DD4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10</a:t>
            </a:fld>
            <a:endParaRPr/>
          </a:p>
        </p:txBody>
      </p:sp>
      <p:sp>
        <p:nvSpPr>
          <p:cNvPr id="533" name="Google Shape;533;p58">
            <a:extLst xmlns:a="http://schemas.openxmlformats.org/drawingml/2006/main">
              <a:ext uri="{FF2B5EF4-FFF2-40B4-BE49-F238E27FC236}">
                <a16:creationId xmlns:a16="http://schemas.microsoft.com/office/drawing/2014/main" id="{E3FE1DBC-074A-B31C-7363-7F3B84443707}"/>
              </a:ext>
            </a:extLst>
          </p:cNvPr>
          <p:cNvSpPr>
            <a:spLocks xmlns:a="http://schemas.openxmlformats.org/drawingml/2006/main" noGrp="1"/>
          </p:cNvSpPr>
          <p:nvPr>
            <p:ph type="title" idx="0"/>
          </p:nvPr>
        </p:nvSpPr>
        <p:spPr>
          <a:xfrm xmlns:a="http://schemas.openxmlformats.org/drawingml/2006/main">
            <a:off x="393700" y="344008"/>
            <a:ext cx="5549230" cy="6973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900" b="1">
                <a:solidFill>
                  <a:srgbClr val="3357B8"/>
                </a:solidFill>
                <a:latin typeface="Lora SemiBold"/>
                <a:ea typeface="Lora SemiBold"/>
                <a:cs typeface="Lora SemiBold"/>
              </a:defRPr>
            </a:defPPr>
            <a:lvl1pPr algn="l">
              <a:buNone/>
              <a:defRPr sz="2900" b="1">
                <a:solidFill>
                  <a:srgbClr val="3357B8"/>
                </a:solidFill>
                <a:latin typeface="Lora SemiBold"/>
                <a:ea typeface="Lora SemiBold"/>
                <a:cs typeface="Lora SemiBold"/>
              </a:defRPr>
            </a:lvl1pPr>
            <a:lvl2pPr algn="l">
              <a:buNone/>
              <a:defRPr sz="2900" b="1">
                <a:solidFill>
                  <a:srgbClr val="3357B8"/>
                </a:solidFill>
                <a:latin typeface="Lora SemiBold"/>
                <a:ea typeface="Lora SemiBold"/>
                <a:cs typeface="Lora SemiBold"/>
              </a:defRPr>
            </a:lvl2pPr>
            <a:lvl3pPr algn="l">
              <a:buNone/>
              <a:defRPr sz="2900" b="1">
                <a:solidFill>
                  <a:srgbClr val="3357B8"/>
                </a:solidFill>
                <a:latin typeface="Lora SemiBold"/>
                <a:ea typeface="Lora SemiBold"/>
                <a:cs typeface="Lora SemiBold"/>
              </a:defRPr>
            </a:lvl3pPr>
            <a:lvl4pPr algn="l">
              <a:buNone/>
              <a:defRPr sz="2900" b="1">
                <a:solidFill>
                  <a:srgbClr val="3357B8"/>
                </a:solidFill>
                <a:latin typeface="Lora SemiBold"/>
                <a:ea typeface="Lora SemiBold"/>
                <a:cs typeface="Lora SemiBold"/>
              </a:defRPr>
            </a:lvl4pPr>
            <a:lvl5pPr algn="l">
              <a:buNone/>
              <a:defRPr sz="2900" b="1">
                <a:solidFill>
                  <a:srgbClr val="3357B8"/>
                </a:solidFill>
                <a:latin typeface="Lora SemiBold"/>
                <a:ea typeface="Lora SemiBold"/>
                <a:cs typeface="Lora SemiBold"/>
              </a:defRPr>
            </a:lvl5pPr>
            <a:lvl6pPr algn="l">
              <a:buNone/>
              <a:defRPr sz="2900" b="1">
                <a:solidFill>
                  <a:srgbClr val="3357B8"/>
                </a:solidFill>
                <a:latin typeface="Lora SemiBold"/>
                <a:ea typeface="Lora SemiBold"/>
                <a:cs typeface="Lora SemiBold"/>
              </a:defRPr>
            </a:lvl6pPr>
            <a:lvl7pPr algn="l">
              <a:buNone/>
              <a:defRPr sz="2900" b="1">
                <a:solidFill>
                  <a:srgbClr val="3357B8"/>
                </a:solidFill>
                <a:latin typeface="Lora SemiBold"/>
                <a:ea typeface="Lora SemiBold"/>
                <a:cs typeface="Lora SemiBold"/>
              </a:defRPr>
            </a:lvl7pPr>
            <a:lvl8pPr algn="l">
              <a:buNone/>
              <a:defRPr sz="2900" b="1">
                <a:solidFill>
                  <a:srgbClr val="3357B8"/>
                </a:solidFill>
                <a:latin typeface="Lora SemiBold"/>
                <a:ea typeface="Lora SemiBold"/>
                <a:cs typeface="Lora SemiBold"/>
              </a:defRPr>
            </a:lvl8pPr>
            <a:lvl9pPr algn="l">
              <a:buNone/>
              <a:defRPr sz="2900" b="1">
                <a:solidFill>
                  <a:srgbClr val="3357B8"/>
                </a:solidFill>
                <a:latin typeface="Lora SemiBold"/>
                <a:ea typeface="Lora SemiBold"/>
                <a:cs typeface="Lora SemiBold"/>
              </a:defRPr>
            </a:lvl9pPr>
          </a:lstStyle>
          <a:p xmlns:a="http://schemas.openxmlformats.org/drawingml/2006/main">
            <a:pPr algn="l">
              <a:buNone/>
              <a:defRPr sz="2900" b="1">
                <a:solidFill>
                  <a:srgbClr val="3357B8"/>
                </a:solidFill>
                <a:latin typeface="Lora SemiBold"/>
                <a:ea typeface="Lora SemiBold"/>
                <a:cs typeface="Lora SemiBold"/>
              </a:defRPr>
            </a:pPr>
            <a:r>
              <a:rPr sz="2900" b="1">
                <a:solidFill>
                  <a:srgbClr val="3357B8"/>
                </a:solidFill>
                <a:latin typeface="Lora SemiBold"/>
                <a:ea typeface="Lora SemiBold"/>
                <a:cs typeface="Lora SemiBold"/>
              </a:rPr>
              <a:t>Scale economics</a:t>
            </a:r>
            <a:endParaRPr>
              <a:solidFill>
                <a:schemeClr val="accent1"/>
              </a:solidFill>
            </a:endParaRPr>
          </a:p>
        </p:txBody>
      </p:sp>
      <p:graphicFrame>
        <p:nvGraphicFramePr>
          <p:cNvPr id="4" name="Chart 3">
            <a:extLst xmlns:a="http://schemas.openxmlformats.org/drawingml/2006/main">
              <a:ext uri="{FF2B5EF4-FFF2-40B4-BE49-F238E27FC236}">
                <a16:creationId xmlns:a16="http://schemas.microsoft.com/office/drawing/2014/main" id="{7CA370EA-A468-437D-B9EB-2A24F3816308}"/>
              </a:ext>
            </a:extLst>
          </p:cNvPr>
          <p:cNvGraphicFramePr/>
          <p:nvPr/>
        </p:nvGraphicFramePr>
        <p:xfrm>
          <a:off xmlns:a="http://schemas.openxmlformats.org/drawingml/2006/main" x="408690" y="1023105"/>
          <a:ext xmlns:a="http://schemas.openxmlformats.org/drawingml/2006/main" cx="5124182" cy="5225194"/>
        </p:xfrm>
        <a:graphic xmlns:a="http://schemas.openxmlformats.org/drawingml/2006/main">
          <a:graphicData uri="http://schemas.openxmlformats.org/drawingml/2006/chart">
            <c:chart xmlns:r="http://schemas.openxmlformats.org/officeDocument/2006/relationships" xmlns:c="http://schemas.openxmlformats.org/drawingml/2006/chart" r:id="R04c33bba8dae4737"/>
          </a:graphicData>
        </a:graphic>
      </p:graphicFrame>
      <p:sp>
        <p:nvSpPr>
          <p:cNvPr id="5" name="Footer Placeholder 4">
            <a:extLst xmlns:a="http://schemas.openxmlformats.org/drawingml/2006/main">
              <a:ext uri="{FF2B5EF4-FFF2-40B4-BE49-F238E27FC236}">
                <a16:creationId xmlns:a16="http://schemas.microsoft.com/office/drawing/2014/main" id="{41655C29-3D04-D88C-395C-E6000B5894F9}"/>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6" name="Rounded Rectangle 5">
            <a:extLst xmlns:a="http://schemas.openxmlformats.org/drawingml/2006/main">
              <a:ext uri="{FF2B5EF4-FFF2-40B4-BE49-F238E27FC236}">
                <a16:creationId xmlns:a16="http://schemas.microsoft.com/office/drawing/2014/main" id="{DEFFCFBF-F669-9423-2DB8-D166659E1B79}"/>
              </a:ext>
            </a:extLst>
          </p:cNvPr>
          <p:cNvSpPr>
            <a:spLocks xmlns:a="http://schemas.openxmlformats.org/drawingml/2006/main" noGrp="1"/>
          </p:cNvSpPr>
          <p:nvPr/>
        </p:nvSpPr>
        <p:spPr>
          <a:xfrm xmlns:a="http://schemas.openxmlformats.org/drawingml/2006/main">
            <a:off x="6264412" y="2374900"/>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1" name="Rounded Rectangle 10">
            <a:extLst xmlns:a="http://schemas.openxmlformats.org/drawingml/2006/main">
              <a:ext uri="{FF2B5EF4-FFF2-40B4-BE49-F238E27FC236}">
                <a16:creationId xmlns:a16="http://schemas.microsoft.com/office/drawing/2014/main" id="{2B25D3D5-48E8-D985-A4A9-9DA67A423BF8}"/>
              </a:ext>
            </a:extLst>
          </p:cNvPr>
          <p:cNvSpPr>
            <a:spLocks xmlns:a="http://schemas.openxmlformats.org/drawingml/2006/main" noGrp="1"/>
          </p:cNvSpPr>
          <p:nvPr/>
        </p:nvSpPr>
        <p:spPr>
          <a:xfrm xmlns:a="http://schemas.openxmlformats.org/drawingml/2006/main">
            <a:off x="6264412" y="437010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2" name="Content Placeholder 10">
            <a:extLst xmlns:a="http://schemas.openxmlformats.org/drawingml/2006/main">
              <a:ext uri="{FF2B5EF4-FFF2-40B4-BE49-F238E27FC236}">
                <a16:creationId xmlns:a16="http://schemas.microsoft.com/office/drawing/2014/main" id="{993A9C42-081B-E830-D8CB-13511AF87915}"/>
              </a:ext>
            </a:extLst>
          </p:cNvPr>
          <p:cNvSpPr>
            <a:spLocks xmlns:a="http://schemas.openxmlformats.org/drawingml/2006/main" noGrp="1"/>
          </p:cNvSpPr>
          <p:nvPr/>
        </p:nvSpPr>
        <p:spPr>
          <a:xfrm xmlns:a="http://schemas.openxmlformats.org/drawingml/2006/main">
            <a:off x="6558438" y="3088295"/>
            <a:ext cx="4986886" cy="59753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defRPr sz="1600">
                <a:solidFill>
                  <a:srgbClr val="000000"/>
                </a:solidFill>
                <a:latin typeface="Helvetica Neue"/>
                <a:ea typeface="Helvetica Neue"/>
                <a:cs typeface="Helvetica Neue"/>
              </a:defRPr>
            </a:pPr>
            <a:r>
              <a:rPr sz="1600" b="0" i="0" u="none" strike="noStrike" cap="none" spc="0" baseline="0">
                <a:ln>
                  <a:noFill/>
                </a:ln>
                <a:solidFill>
                  <a:srgbClr val="000000"/>
                </a:solidFill>
                <a:latin typeface="Helvetica Neue"/>
                <a:ea typeface="Helvetica Neue"/>
                <a:cs typeface="Helvetica Neue"/>
              </a:rPr>
              <a:t>$957k hardware revenue. $345k contribution. $165k operating surplus before stated exclusions.</a:t>
            </a:r>
          </a:p>
        </p:txBody>
      </p:sp>
      <p:sp>
        <p:nvSpPr>
          <p:cNvPr id="13" name="TextBox 12">
            <a:extLst xmlns:a="http://schemas.openxmlformats.org/drawingml/2006/main">
              <a:ext uri="{FF2B5EF4-FFF2-40B4-BE49-F238E27FC236}">
                <a16:creationId xmlns:a16="http://schemas.microsoft.com/office/drawing/2014/main" id="{F3899B51-315F-2B69-8DFE-6F0EE585DE74}"/>
              </a:ext>
            </a:extLst>
          </p:cNvPr>
          <p:cNvSpPr>
            <a:spLocks xmlns:a="http://schemas.openxmlformats.org/drawingml/2006/main" noGrp="1"/>
          </p:cNvSpPr>
          <p:nvPr/>
        </p:nvSpPr>
        <p:spPr>
          <a:xfrm xmlns:a="http://schemas.openxmlformats.org/drawingml/2006/main">
            <a:off x="6555127" y="2631212"/>
            <a:ext cx="4986886" cy="312725"/>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lgn="l">
              <a:defRPr sz="1800">
                <a:solidFill>
                  <a:srgbClr val="3357B8"/>
                </a:solidFill>
                <a:latin typeface="Helvetica Neue Medium"/>
                <a:ea typeface="Helvetica Neue Medium"/>
                <a:cs typeface="Helvetica Neue Medium"/>
              </a:defRPr>
            </a:defPPr>
            <a:lvl1pPr algn="l">
              <a:buNone/>
              <a:defRPr sz="1800">
                <a:solidFill>
                  <a:srgbClr val="3357B8"/>
                </a:solidFill>
                <a:latin typeface="Helvetica Neue Medium"/>
                <a:ea typeface="Helvetica Neue Medium"/>
                <a:cs typeface="Helvetica Neue Medium"/>
              </a:defRPr>
            </a:lvl1pPr>
            <a:lvl2pPr algn="l">
              <a:buNone/>
              <a:defRPr sz="1800">
                <a:solidFill>
                  <a:srgbClr val="3357B8"/>
                </a:solidFill>
                <a:latin typeface="Helvetica Neue Medium"/>
                <a:ea typeface="Helvetica Neue Medium"/>
                <a:cs typeface="Helvetica Neue Medium"/>
              </a:defRPr>
            </a:lvl2pPr>
            <a:lvl3pPr algn="l">
              <a:buNone/>
              <a:defRPr sz="1800">
                <a:solidFill>
                  <a:srgbClr val="3357B8"/>
                </a:solidFill>
                <a:latin typeface="Helvetica Neue Medium"/>
                <a:ea typeface="Helvetica Neue Medium"/>
                <a:cs typeface="Helvetica Neue Medium"/>
              </a:defRPr>
            </a:lvl3pPr>
            <a:lvl4pPr algn="l">
              <a:buNone/>
              <a:defRPr sz="1800">
                <a:solidFill>
                  <a:srgbClr val="3357B8"/>
                </a:solidFill>
                <a:latin typeface="Helvetica Neue Medium"/>
                <a:ea typeface="Helvetica Neue Medium"/>
                <a:cs typeface="Helvetica Neue Medium"/>
              </a:defRPr>
            </a:lvl4pPr>
            <a:lvl5pPr algn="l">
              <a:buNone/>
              <a:defRPr sz="1800">
                <a:solidFill>
                  <a:srgbClr val="3357B8"/>
                </a:solidFill>
                <a:latin typeface="Helvetica Neue Medium"/>
                <a:ea typeface="Helvetica Neue Medium"/>
                <a:cs typeface="Helvetica Neue Medium"/>
              </a:defRPr>
            </a:lvl5pPr>
            <a:lvl6pPr algn="l">
              <a:buNone/>
              <a:defRPr sz="1800">
                <a:solidFill>
                  <a:srgbClr val="3357B8"/>
                </a:solidFill>
                <a:latin typeface="Helvetica Neue Medium"/>
                <a:ea typeface="Helvetica Neue Medium"/>
                <a:cs typeface="Helvetica Neue Medium"/>
              </a:defRPr>
            </a:lvl6pPr>
            <a:lvl7pPr algn="l">
              <a:buNone/>
              <a:defRPr sz="1800">
                <a:solidFill>
                  <a:srgbClr val="3357B8"/>
                </a:solidFill>
                <a:latin typeface="Helvetica Neue Medium"/>
                <a:ea typeface="Helvetica Neue Medium"/>
                <a:cs typeface="Helvetica Neue Medium"/>
              </a:defRPr>
            </a:lvl7pPr>
            <a:lvl8pPr algn="l">
              <a:buNone/>
              <a:defRPr sz="1800">
                <a:solidFill>
                  <a:srgbClr val="3357B8"/>
                </a:solidFill>
                <a:latin typeface="Helvetica Neue Medium"/>
                <a:ea typeface="Helvetica Neue Medium"/>
                <a:cs typeface="Helvetica Neue Medium"/>
              </a:defRPr>
            </a:lvl8pPr>
            <a:lvl9pPr algn="l">
              <a:buNone/>
              <a:defRPr sz="1800">
                <a:solidFill>
                  <a:srgbClr val="3357B8"/>
                </a:solidFill>
                <a:latin typeface="Helvetica Neue Medium"/>
                <a:ea typeface="Helvetica Neue Medium"/>
                <a:cs typeface="Helvetica Neue Medium"/>
              </a:defRPr>
            </a:lvl9pPr>
          </a:lstStyle>
          <a:p xmlns:a="http://schemas.openxmlformats.org/drawingml/2006/main">
            <a:pPr marL="0" marR="0" lvl="0" indent="0" algn="l" defTabSz="914400">
              <a:lnSpc>
                <a:spcPct val="114000"/>
              </a:lnSpc>
              <a:spcBef>
                <a:spcPts val="0"/>
              </a:spcBef>
              <a:spcAft>
                <a:spcPts val="800"/>
              </a:spcAft>
              <a:buClrTx/>
              <a:buSzTx/>
              <a:buFontTx/>
              <a:buNone/>
              <a:defRPr sz="1800">
                <a:solidFill>
                  <a:srgbClr val="3357B8"/>
                </a:solidFill>
                <a:latin typeface="Helvetica Neue Medium"/>
                <a:ea typeface="Helvetica Neue Medium"/>
                <a:cs typeface="Helvetica Neue Medium"/>
              </a:defRPr>
            </a:pPr>
            <a:r>
              <a:rPr sz="1800" b="0" i="0" u="none" strike="noStrike" cap="none" spc="0" baseline="0">
                <a:ln>
                  <a:noFill/>
                </a:ln>
                <a:solidFill>
                  <a:srgbClr val="3357B8"/>
                </a:solidFill>
                <a:latin typeface="Helvetica Neue Medium"/>
                <a:ea typeface="Helvetica Neue Medium"/>
                <a:cs typeface="Helvetica Neue Medium"/>
              </a:rPr>
              <a:t>3,000 devices/year scenario</a:t>
            </a:r>
          </a:p>
        </p:txBody>
      </p:sp>
      <p:sp>
        <p:nvSpPr>
          <p:cNvPr id="14" name="Content Placeholder 10">
            <a:extLst xmlns:a="http://schemas.openxmlformats.org/drawingml/2006/main">
              <a:ext uri="{FF2B5EF4-FFF2-40B4-BE49-F238E27FC236}">
                <a16:creationId xmlns:a16="http://schemas.microsoft.com/office/drawing/2014/main" id="{DBE99E9C-A611-68DB-873D-1306B6DA4538}"/>
              </a:ext>
            </a:extLst>
          </p:cNvPr>
          <p:cNvSpPr>
            <a:spLocks xmlns:a="http://schemas.openxmlformats.org/drawingml/2006/main" noGrp="1"/>
          </p:cNvSpPr>
          <p:nvPr/>
        </p:nvSpPr>
        <p:spPr>
          <a:xfrm xmlns:a="http://schemas.openxmlformats.org/drawingml/2006/main">
            <a:off x="6558438" y="5094931"/>
            <a:ext cx="4986886" cy="59753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defRPr sz="1600">
                <a:solidFill>
                  <a:srgbClr val="000000"/>
                </a:solidFill>
                <a:latin typeface="Helvetica Neue"/>
                <a:ea typeface="Helvetica Neue"/>
                <a:cs typeface="Helvetica Neue"/>
              </a:defRPr>
            </a:pPr>
            <a:r>
              <a:rPr sz="1600" b="0" i="0" u="none" strike="noStrike" cap="none" spc="0" baseline="0">
                <a:ln>
                  <a:noFill/>
                </a:ln>
                <a:solidFill>
                  <a:srgbClr val="000000"/>
                </a:solidFill>
                <a:latin typeface="Helvetica Neue"/>
                <a:ea typeface="Helvetica Neue"/>
                <a:cs typeface="Helvetica Neue"/>
              </a:rPr>
              <a:t>3,000 annual units differs from the initial target of 3,000 cumulative units over three years.</a:t>
            </a:r>
          </a:p>
        </p:txBody>
      </p:sp>
      <p:sp>
        <p:nvSpPr>
          <p:cNvPr id="15" name="TextBox 14">
            <a:extLst xmlns:a="http://schemas.openxmlformats.org/drawingml/2006/main">
              <a:ext uri="{FF2B5EF4-FFF2-40B4-BE49-F238E27FC236}">
                <a16:creationId xmlns:a16="http://schemas.microsoft.com/office/drawing/2014/main" id="{5A7172E7-1168-69D9-D755-CC735D3A9194}"/>
              </a:ext>
            </a:extLst>
          </p:cNvPr>
          <p:cNvSpPr>
            <a:spLocks xmlns:a="http://schemas.openxmlformats.org/drawingml/2006/main" noGrp="1"/>
          </p:cNvSpPr>
          <p:nvPr/>
        </p:nvSpPr>
        <p:spPr>
          <a:xfrm xmlns:a="http://schemas.openxmlformats.org/drawingml/2006/main">
            <a:off x="6555127" y="4637848"/>
            <a:ext cx="4986886" cy="312725"/>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lgn="l">
              <a:defRPr sz="1800">
                <a:solidFill>
                  <a:srgbClr val="3357B8"/>
                </a:solidFill>
                <a:latin typeface="Helvetica Neue Medium"/>
                <a:ea typeface="Helvetica Neue Medium"/>
                <a:cs typeface="Helvetica Neue Medium"/>
              </a:defRPr>
            </a:defPPr>
            <a:lvl1pPr algn="l">
              <a:buNone/>
              <a:defRPr sz="1800">
                <a:solidFill>
                  <a:srgbClr val="3357B8"/>
                </a:solidFill>
                <a:latin typeface="Helvetica Neue Medium"/>
                <a:ea typeface="Helvetica Neue Medium"/>
                <a:cs typeface="Helvetica Neue Medium"/>
              </a:defRPr>
            </a:lvl1pPr>
            <a:lvl2pPr algn="l">
              <a:buNone/>
              <a:defRPr sz="1800">
                <a:solidFill>
                  <a:srgbClr val="3357B8"/>
                </a:solidFill>
                <a:latin typeface="Helvetica Neue Medium"/>
                <a:ea typeface="Helvetica Neue Medium"/>
                <a:cs typeface="Helvetica Neue Medium"/>
              </a:defRPr>
            </a:lvl2pPr>
            <a:lvl3pPr algn="l">
              <a:buNone/>
              <a:defRPr sz="1800">
                <a:solidFill>
                  <a:srgbClr val="3357B8"/>
                </a:solidFill>
                <a:latin typeface="Helvetica Neue Medium"/>
                <a:ea typeface="Helvetica Neue Medium"/>
                <a:cs typeface="Helvetica Neue Medium"/>
              </a:defRPr>
            </a:lvl3pPr>
            <a:lvl4pPr algn="l">
              <a:buNone/>
              <a:defRPr sz="1800">
                <a:solidFill>
                  <a:srgbClr val="3357B8"/>
                </a:solidFill>
                <a:latin typeface="Helvetica Neue Medium"/>
                <a:ea typeface="Helvetica Neue Medium"/>
                <a:cs typeface="Helvetica Neue Medium"/>
              </a:defRPr>
            </a:lvl4pPr>
            <a:lvl5pPr algn="l">
              <a:buNone/>
              <a:defRPr sz="1800">
                <a:solidFill>
                  <a:srgbClr val="3357B8"/>
                </a:solidFill>
                <a:latin typeface="Helvetica Neue Medium"/>
                <a:ea typeface="Helvetica Neue Medium"/>
                <a:cs typeface="Helvetica Neue Medium"/>
              </a:defRPr>
            </a:lvl5pPr>
            <a:lvl6pPr algn="l">
              <a:buNone/>
              <a:defRPr sz="1800">
                <a:solidFill>
                  <a:srgbClr val="3357B8"/>
                </a:solidFill>
                <a:latin typeface="Helvetica Neue Medium"/>
                <a:ea typeface="Helvetica Neue Medium"/>
                <a:cs typeface="Helvetica Neue Medium"/>
              </a:defRPr>
            </a:lvl6pPr>
            <a:lvl7pPr algn="l">
              <a:buNone/>
              <a:defRPr sz="1800">
                <a:solidFill>
                  <a:srgbClr val="3357B8"/>
                </a:solidFill>
                <a:latin typeface="Helvetica Neue Medium"/>
                <a:ea typeface="Helvetica Neue Medium"/>
                <a:cs typeface="Helvetica Neue Medium"/>
              </a:defRPr>
            </a:lvl7pPr>
            <a:lvl8pPr algn="l">
              <a:buNone/>
              <a:defRPr sz="1800">
                <a:solidFill>
                  <a:srgbClr val="3357B8"/>
                </a:solidFill>
                <a:latin typeface="Helvetica Neue Medium"/>
                <a:ea typeface="Helvetica Neue Medium"/>
                <a:cs typeface="Helvetica Neue Medium"/>
              </a:defRPr>
            </a:lvl8pPr>
            <a:lvl9pPr algn="l">
              <a:buNone/>
              <a:defRPr sz="1800">
                <a:solidFill>
                  <a:srgbClr val="3357B8"/>
                </a:solidFill>
                <a:latin typeface="Helvetica Neue Medium"/>
                <a:ea typeface="Helvetica Neue Medium"/>
                <a:cs typeface="Helvetica Neue Medium"/>
              </a:defRPr>
            </a:lvl9pPr>
          </a:lstStyle>
          <a:p xmlns:a="http://schemas.openxmlformats.org/drawingml/2006/main">
            <a:pPr marL="0" marR="0" lvl="0" indent="0" algn="l" defTabSz="914400">
              <a:lnSpc>
                <a:spcPct val="114000"/>
              </a:lnSpc>
              <a:spcBef>
                <a:spcPts val="0"/>
              </a:spcBef>
              <a:spcAft>
                <a:spcPts val="800"/>
              </a:spcAft>
              <a:buClrTx/>
              <a:buSzTx/>
              <a:buFontTx/>
              <a:buNone/>
              <a:defRPr sz="1800">
                <a:solidFill>
                  <a:srgbClr val="3357B8"/>
                </a:solidFill>
                <a:latin typeface="Helvetica Neue Medium"/>
                <a:ea typeface="Helvetica Neue Medium"/>
                <a:cs typeface="Helvetica Neue Medium"/>
              </a:defRPr>
            </a:pPr>
            <a:r>
              <a:rPr sz="1800" b="0" i="0" u="none" strike="noStrike" cap="none" spc="0" baseline="0">
                <a:ln>
                  <a:noFill/>
                </a:ln>
                <a:solidFill>
                  <a:srgbClr val="3357B8"/>
                </a:solidFill>
                <a:latin typeface="Helvetica Neue Medium"/>
                <a:ea typeface="Helvetica Neue Medium"/>
                <a:cs typeface="Helvetica Neue Medium"/>
              </a:rPr>
              <a:t>A scale case, not a sales forecast</a:t>
            </a:r>
          </a:p>
        </p:txBody>
      </p:sp>
      <p:sp>
        <p:nvSpPr>
          <p:cNvPr id="16" name="Rounded Rectangle 15">
            <a:extLst xmlns:a="http://schemas.openxmlformats.org/drawingml/2006/main">
              <a:ext uri="{FF2B5EF4-FFF2-40B4-BE49-F238E27FC236}">
                <a16:creationId xmlns:a16="http://schemas.microsoft.com/office/drawing/2014/main" id="{B252D751-7B28-98E9-CF7E-0EB98657E0AF}"/>
              </a:ext>
            </a:extLst>
          </p:cNvPr>
          <p:cNvSpPr>
            <a:spLocks xmlns:a="http://schemas.openxmlformats.org/drawingml/2006/main" noGrp="1"/>
          </p:cNvSpPr>
          <p:nvPr/>
        </p:nvSpPr>
        <p:spPr>
          <a:xfrm xmlns:a="http://schemas.openxmlformats.org/drawingml/2006/main">
            <a:off x="6264412" y="391117"/>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7" name="Content Placeholder 10">
            <a:extLst xmlns:a="http://schemas.openxmlformats.org/drawingml/2006/main">
              <a:ext uri="{FF2B5EF4-FFF2-40B4-BE49-F238E27FC236}">
                <a16:creationId xmlns:a16="http://schemas.microsoft.com/office/drawing/2014/main" id="{07D94FB0-B75A-4229-2FD1-CA1FAAC57998}"/>
              </a:ext>
            </a:extLst>
          </p:cNvPr>
          <p:cNvSpPr>
            <a:spLocks xmlns:a="http://schemas.openxmlformats.org/drawingml/2006/main" noGrp="1"/>
          </p:cNvSpPr>
          <p:nvPr/>
        </p:nvSpPr>
        <p:spPr>
          <a:xfrm xmlns:a="http://schemas.openxmlformats.org/drawingml/2006/main">
            <a:off x="6558438" y="1104512"/>
            <a:ext cx="4986886" cy="59753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defRPr sz="1600">
                <a:solidFill>
                  <a:srgbClr val="000000"/>
                </a:solidFill>
                <a:latin typeface="Helvetica Neue"/>
                <a:ea typeface="Helvetica Neue"/>
                <a:cs typeface="Helvetica Neue"/>
              </a:defRPr>
            </a:pPr>
            <a:r>
              <a:rPr sz="1600" b="0" i="0" u="none" strike="noStrike" cap="none" spc="0" baseline="0">
                <a:ln>
                  <a:noFill/>
                </a:ln>
                <a:solidFill>
                  <a:srgbClr val="000000"/>
                </a:solidFill>
                <a:latin typeface="Helvetica Neue"/>
                <a:ea typeface="Helvetica Neue"/>
                <a:cs typeface="Helvetica Neue"/>
              </a:rPr>
              <a:t>$180,000 annual fixed costs divided by $115 contribution per device. Excludes launch costs and tax.</a:t>
            </a:r>
          </a:p>
        </p:txBody>
      </p:sp>
      <p:sp>
        <p:nvSpPr>
          <p:cNvPr id="18" name="TextBox 17">
            <a:extLst xmlns:a="http://schemas.openxmlformats.org/drawingml/2006/main">
              <a:ext uri="{FF2B5EF4-FFF2-40B4-BE49-F238E27FC236}">
                <a16:creationId xmlns:a16="http://schemas.microsoft.com/office/drawing/2014/main" id="{20D1D081-A168-A031-F892-8E2476A4AF34}"/>
              </a:ext>
            </a:extLst>
          </p:cNvPr>
          <p:cNvSpPr>
            <a:spLocks xmlns:a="http://schemas.openxmlformats.org/drawingml/2006/main" noGrp="1"/>
          </p:cNvSpPr>
          <p:nvPr/>
        </p:nvSpPr>
        <p:spPr>
          <a:xfrm xmlns:a="http://schemas.openxmlformats.org/drawingml/2006/main">
            <a:off x="6555127" y="647429"/>
            <a:ext cx="4986886" cy="312725"/>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lgn="l">
              <a:defRPr sz="1800">
                <a:solidFill>
                  <a:srgbClr val="3357B8"/>
                </a:solidFill>
                <a:latin typeface="Helvetica Neue Medium"/>
                <a:ea typeface="Helvetica Neue Medium"/>
                <a:cs typeface="Helvetica Neue Medium"/>
              </a:defRPr>
            </a:defPPr>
            <a:lvl1pPr algn="l">
              <a:buNone/>
              <a:defRPr sz="1800">
                <a:solidFill>
                  <a:srgbClr val="3357B8"/>
                </a:solidFill>
                <a:latin typeface="Helvetica Neue Medium"/>
                <a:ea typeface="Helvetica Neue Medium"/>
                <a:cs typeface="Helvetica Neue Medium"/>
              </a:defRPr>
            </a:lvl1pPr>
            <a:lvl2pPr algn="l">
              <a:buNone/>
              <a:defRPr sz="1800">
                <a:solidFill>
                  <a:srgbClr val="3357B8"/>
                </a:solidFill>
                <a:latin typeface="Helvetica Neue Medium"/>
                <a:ea typeface="Helvetica Neue Medium"/>
                <a:cs typeface="Helvetica Neue Medium"/>
              </a:defRPr>
            </a:lvl2pPr>
            <a:lvl3pPr algn="l">
              <a:buNone/>
              <a:defRPr sz="1800">
                <a:solidFill>
                  <a:srgbClr val="3357B8"/>
                </a:solidFill>
                <a:latin typeface="Helvetica Neue Medium"/>
                <a:ea typeface="Helvetica Neue Medium"/>
                <a:cs typeface="Helvetica Neue Medium"/>
              </a:defRPr>
            </a:lvl3pPr>
            <a:lvl4pPr algn="l">
              <a:buNone/>
              <a:defRPr sz="1800">
                <a:solidFill>
                  <a:srgbClr val="3357B8"/>
                </a:solidFill>
                <a:latin typeface="Helvetica Neue Medium"/>
                <a:ea typeface="Helvetica Neue Medium"/>
                <a:cs typeface="Helvetica Neue Medium"/>
              </a:defRPr>
            </a:lvl4pPr>
            <a:lvl5pPr algn="l">
              <a:buNone/>
              <a:defRPr sz="1800">
                <a:solidFill>
                  <a:srgbClr val="3357B8"/>
                </a:solidFill>
                <a:latin typeface="Helvetica Neue Medium"/>
                <a:ea typeface="Helvetica Neue Medium"/>
                <a:cs typeface="Helvetica Neue Medium"/>
              </a:defRPr>
            </a:lvl5pPr>
            <a:lvl6pPr algn="l">
              <a:buNone/>
              <a:defRPr sz="1800">
                <a:solidFill>
                  <a:srgbClr val="3357B8"/>
                </a:solidFill>
                <a:latin typeface="Helvetica Neue Medium"/>
                <a:ea typeface="Helvetica Neue Medium"/>
                <a:cs typeface="Helvetica Neue Medium"/>
              </a:defRPr>
            </a:lvl6pPr>
            <a:lvl7pPr algn="l">
              <a:buNone/>
              <a:defRPr sz="1800">
                <a:solidFill>
                  <a:srgbClr val="3357B8"/>
                </a:solidFill>
                <a:latin typeface="Helvetica Neue Medium"/>
                <a:ea typeface="Helvetica Neue Medium"/>
                <a:cs typeface="Helvetica Neue Medium"/>
              </a:defRPr>
            </a:lvl7pPr>
            <a:lvl8pPr algn="l">
              <a:buNone/>
              <a:defRPr sz="1800">
                <a:solidFill>
                  <a:srgbClr val="3357B8"/>
                </a:solidFill>
                <a:latin typeface="Helvetica Neue Medium"/>
                <a:ea typeface="Helvetica Neue Medium"/>
                <a:cs typeface="Helvetica Neue Medium"/>
              </a:defRPr>
            </a:lvl8pPr>
            <a:lvl9pPr algn="l">
              <a:buNone/>
              <a:defRPr sz="1800">
                <a:solidFill>
                  <a:srgbClr val="3357B8"/>
                </a:solidFill>
                <a:latin typeface="Helvetica Neue Medium"/>
                <a:ea typeface="Helvetica Neue Medium"/>
                <a:cs typeface="Helvetica Neue Medium"/>
              </a:defRPr>
            </a:lvl9pPr>
          </a:lstStyle>
          <a:p xmlns:a="http://schemas.openxmlformats.org/drawingml/2006/main">
            <a:pPr marL="0" marR="0" lvl="0" indent="0" algn="l" defTabSz="914400">
              <a:lnSpc>
                <a:spcPct val="114000"/>
              </a:lnSpc>
              <a:spcBef>
                <a:spcPts val="0"/>
              </a:spcBef>
              <a:spcAft>
                <a:spcPts val="800"/>
              </a:spcAft>
              <a:buClrTx/>
              <a:buSzTx/>
              <a:buFontTx/>
              <a:buNone/>
              <a:defRPr sz="1800">
                <a:solidFill>
                  <a:srgbClr val="3357B8"/>
                </a:solidFill>
                <a:latin typeface="Helvetica Neue Medium"/>
                <a:ea typeface="Helvetica Neue Medium"/>
                <a:cs typeface="Helvetica Neue Medium"/>
              </a:defRPr>
            </a:pPr>
            <a:r>
              <a:rPr sz="1800" b="0" i="0" u="none" strike="noStrike" cap="none" spc="0" baseline="0">
                <a:ln>
                  <a:noFill/>
                </a:ln>
                <a:solidFill>
                  <a:srgbClr val="3357B8"/>
                </a:solidFill>
                <a:latin typeface="Helvetica Neue Medium"/>
                <a:ea typeface="Helvetica Neue Medium"/>
                <a:cs typeface="Helvetica Neue Medium"/>
              </a:rPr>
              <a:t>Break-even: about 1,566 devices/year</a:t>
            </a:r>
          </a:p>
        </p:txBody>
      </p:sp>
    </p:spTree>
    <p:extLst>
      <p:ext uri="{BB962C8B-B14F-4D97-AF65-F5344CB8AC3E}">
        <p14:creationId xmlns:p14="http://schemas.microsoft.com/office/powerpoint/2010/main" val="31459752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95E36811-4D7D-1AF4-2047-7797FCF55465}"/>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11</a:t>
            </a:fld>
            <a:endParaRPr/>
          </a:p>
        </p:txBody>
      </p:sp>
      <p:sp>
        <p:nvSpPr>
          <p:cNvPr id="533" name="Google Shape;533;p58">
            <a:extLst xmlns:a="http://schemas.openxmlformats.org/drawingml/2006/main">
              <a:ext uri="{FF2B5EF4-FFF2-40B4-BE49-F238E27FC236}">
                <a16:creationId xmlns:a16="http://schemas.microsoft.com/office/drawing/2014/main" id="{0619161C-354F-15D6-9579-085F52D7C5B2}"/>
              </a:ext>
            </a:extLst>
          </p:cNvPr>
          <p:cNvSpPr>
            <a:spLocks xmlns:a="http://schemas.openxmlformats.org/drawingml/2006/main" noGrp="1"/>
          </p:cNvSpPr>
          <p:nvPr>
            <p:ph type="title" idx="0"/>
          </p:nvPr>
        </p:nvSpPr>
        <p:spPr>
          <a:xfrm xmlns:a="http://schemas.openxmlformats.org/drawingml/2006/main">
            <a:off x="393700" y="344008"/>
            <a:ext cx="5549230" cy="6973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900" b="1">
                <a:solidFill>
                  <a:srgbClr val="3357B8"/>
                </a:solidFill>
                <a:latin typeface="Lora SemiBold"/>
                <a:ea typeface="Lora SemiBold"/>
                <a:cs typeface="Lora SemiBold"/>
              </a:defRPr>
            </a:defPPr>
            <a:lvl1pPr algn="l">
              <a:buNone/>
              <a:defRPr sz="2900" b="1">
                <a:solidFill>
                  <a:srgbClr val="3357B8"/>
                </a:solidFill>
                <a:latin typeface="Lora SemiBold"/>
                <a:ea typeface="Lora SemiBold"/>
                <a:cs typeface="Lora SemiBold"/>
              </a:defRPr>
            </a:lvl1pPr>
            <a:lvl2pPr algn="l">
              <a:buNone/>
              <a:defRPr sz="2900" b="1">
                <a:solidFill>
                  <a:srgbClr val="3357B8"/>
                </a:solidFill>
                <a:latin typeface="Lora SemiBold"/>
                <a:ea typeface="Lora SemiBold"/>
                <a:cs typeface="Lora SemiBold"/>
              </a:defRPr>
            </a:lvl2pPr>
            <a:lvl3pPr algn="l">
              <a:buNone/>
              <a:defRPr sz="2900" b="1">
                <a:solidFill>
                  <a:srgbClr val="3357B8"/>
                </a:solidFill>
                <a:latin typeface="Lora SemiBold"/>
                <a:ea typeface="Lora SemiBold"/>
                <a:cs typeface="Lora SemiBold"/>
              </a:defRPr>
            </a:lvl3pPr>
            <a:lvl4pPr algn="l">
              <a:buNone/>
              <a:defRPr sz="2900" b="1">
                <a:solidFill>
                  <a:srgbClr val="3357B8"/>
                </a:solidFill>
                <a:latin typeface="Lora SemiBold"/>
                <a:ea typeface="Lora SemiBold"/>
                <a:cs typeface="Lora SemiBold"/>
              </a:defRPr>
            </a:lvl4pPr>
            <a:lvl5pPr algn="l">
              <a:buNone/>
              <a:defRPr sz="2900" b="1">
                <a:solidFill>
                  <a:srgbClr val="3357B8"/>
                </a:solidFill>
                <a:latin typeface="Lora SemiBold"/>
                <a:ea typeface="Lora SemiBold"/>
                <a:cs typeface="Lora SemiBold"/>
              </a:defRPr>
            </a:lvl5pPr>
            <a:lvl6pPr algn="l">
              <a:buNone/>
              <a:defRPr sz="2900" b="1">
                <a:solidFill>
                  <a:srgbClr val="3357B8"/>
                </a:solidFill>
                <a:latin typeface="Lora SemiBold"/>
                <a:ea typeface="Lora SemiBold"/>
                <a:cs typeface="Lora SemiBold"/>
              </a:defRPr>
            </a:lvl6pPr>
            <a:lvl7pPr algn="l">
              <a:buNone/>
              <a:defRPr sz="2900" b="1">
                <a:solidFill>
                  <a:srgbClr val="3357B8"/>
                </a:solidFill>
                <a:latin typeface="Lora SemiBold"/>
                <a:ea typeface="Lora SemiBold"/>
                <a:cs typeface="Lora SemiBold"/>
              </a:defRPr>
            </a:lvl7pPr>
            <a:lvl8pPr algn="l">
              <a:buNone/>
              <a:defRPr sz="2900" b="1">
                <a:solidFill>
                  <a:srgbClr val="3357B8"/>
                </a:solidFill>
                <a:latin typeface="Lora SemiBold"/>
                <a:ea typeface="Lora SemiBold"/>
                <a:cs typeface="Lora SemiBold"/>
              </a:defRPr>
            </a:lvl8pPr>
            <a:lvl9pPr algn="l">
              <a:buNone/>
              <a:defRPr sz="2900" b="1">
                <a:solidFill>
                  <a:srgbClr val="3357B8"/>
                </a:solidFill>
                <a:latin typeface="Lora SemiBold"/>
                <a:ea typeface="Lora SemiBold"/>
                <a:cs typeface="Lora SemiBold"/>
              </a:defRPr>
            </a:lvl9pPr>
          </a:lstStyle>
          <a:p xmlns:a="http://schemas.openxmlformats.org/drawingml/2006/main">
            <a:pPr algn="l">
              <a:buNone/>
              <a:defRPr sz="2900" b="1">
                <a:solidFill>
                  <a:srgbClr val="3357B8"/>
                </a:solidFill>
                <a:latin typeface="Lora SemiBold"/>
                <a:ea typeface="Lora SemiBold"/>
                <a:cs typeface="Lora SemiBold"/>
              </a:defRPr>
            </a:pPr>
            <a:r>
              <a:rPr sz="2900" b="1">
                <a:solidFill>
                  <a:srgbClr val="3357B8"/>
                </a:solidFill>
                <a:latin typeface="Lora SemiBold"/>
                <a:ea typeface="Lora SemiBold"/>
                <a:cs typeface="Lora SemiBold"/>
              </a:rPr>
              <a:t>BOM sensitivity</a:t>
            </a:r>
            <a:endParaRPr>
              <a:solidFill>
                <a:schemeClr val="accent1"/>
              </a:solidFill>
            </a:endParaRPr>
          </a:p>
        </p:txBody>
      </p:sp>
      <p:graphicFrame>
        <p:nvGraphicFramePr>
          <p:cNvPr id="4" name="Chart 3">
            <a:extLst xmlns:a="http://schemas.openxmlformats.org/drawingml/2006/main">
              <a:ext uri="{FF2B5EF4-FFF2-40B4-BE49-F238E27FC236}">
                <a16:creationId xmlns:a16="http://schemas.microsoft.com/office/drawing/2014/main" id="{BA65ABDD-B764-4E1E-8960-F49D0A15FFD1}"/>
              </a:ext>
            </a:extLst>
          </p:cNvPr>
          <p:cNvGraphicFramePr/>
          <p:nvPr/>
        </p:nvGraphicFramePr>
        <p:xfrm>
          <a:off xmlns:a="http://schemas.openxmlformats.org/drawingml/2006/main" x="408690" y="1023105"/>
          <a:ext xmlns:a="http://schemas.openxmlformats.org/drawingml/2006/main" cx="5124182" cy="5225194"/>
        </p:xfrm>
        <a:graphic xmlns:a="http://schemas.openxmlformats.org/drawingml/2006/main">
          <a:graphicData uri="http://schemas.openxmlformats.org/drawingml/2006/chart">
            <c:chart xmlns:r="http://schemas.openxmlformats.org/officeDocument/2006/relationships" xmlns:c="http://schemas.openxmlformats.org/drawingml/2006/chart" r:id="R4f7c888c32df443d"/>
          </a:graphicData>
        </a:graphic>
      </p:graphicFrame>
      <p:sp>
        <p:nvSpPr>
          <p:cNvPr id="5" name="Footer Placeholder 4">
            <a:extLst xmlns:a="http://schemas.openxmlformats.org/drawingml/2006/main">
              <a:ext uri="{FF2B5EF4-FFF2-40B4-BE49-F238E27FC236}">
                <a16:creationId xmlns:a16="http://schemas.microsoft.com/office/drawing/2014/main" id="{28BED08C-D3A0-E23F-F823-E34BEC6E526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2" name="Rounded Rectangle 1">
            <a:extLst xmlns:a="http://schemas.openxmlformats.org/drawingml/2006/main">
              <a:ext uri="{FF2B5EF4-FFF2-40B4-BE49-F238E27FC236}">
                <a16:creationId xmlns:a16="http://schemas.microsoft.com/office/drawing/2014/main" id="{C1DC18F5-97D1-0F9E-AF97-E39D1D597D57}"/>
              </a:ext>
            </a:extLst>
          </p:cNvPr>
          <p:cNvSpPr>
            <a:spLocks xmlns:a="http://schemas.openxmlformats.org/drawingml/2006/main" noGrp="1"/>
          </p:cNvSpPr>
          <p:nvPr/>
        </p:nvSpPr>
        <p:spPr>
          <a:xfrm xmlns:a="http://schemas.openxmlformats.org/drawingml/2006/main">
            <a:off x="6271986" y="2032000"/>
            <a:ext cx="2581975" cy="2656541"/>
          </a:xfrm>
          <a:prstGeom xmlns:a="http://schemas.openxmlformats.org/drawingml/2006/main" prst="roundRect">
            <a:avLst>
              <a:gd name="adj" fmla="val 3602"/>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3" name="Content Placeholder 9">
            <a:extLst xmlns:a="http://schemas.openxmlformats.org/drawingml/2006/main">
              <a:ext uri="{FF2B5EF4-FFF2-40B4-BE49-F238E27FC236}">
                <a16:creationId xmlns:a16="http://schemas.microsoft.com/office/drawing/2014/main" id="{90C522A2-2174-5AFA-9A00-7E4BBCEB22B0}"/>
              </a:ext>
            </a:extLst>
          </p:cNvPr>
          <p:cNvSpPr>
            <a:spLocks xmlns:a="http://schemas.openxmlformats.org/drawingml/2006/main" noGrp="1"/>
          </p:cNvSpPr>
          <p:nvPr/>
        </p:nvSpPr>
        <p:spPr>
          <a:xfrm xmlns:a="http://schemas.openxmlformats.org/drawingml/2006/main">
            <a:off x="6494348" y="2356820"/>
            <a:ext cx="2133315" cy="90375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defPPr algn="l">
              <a:defRPr sz="6200">
                <a:solidFill>
                  <a:srgbClr val="3357B8"/>
                </a:solidFill>
                <a:latin typeface="Roboto Medium"/>
                <a:ea typeface="Roboto Medium"/>
                <a:cs typeface="Roboto Medium"/>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defRPr sz="6200">
                <a:solidFill>
                  <a:srgbClr val="3357B8"/>
                </a:solidFill>
                <a:latin typeface="Roboto Medium"/>
                <a:ea typeface="Roboto Medium"/>
                <a:cs typeface="Roboto Medium"/>
              </a:defRPr>
            </a:pPr>
            <a:r>
              <a:rPr sz="6200" u="none" strike="noStrike" cap="none" spc="0" baseline="0">
                <a:ln>
                  <a:noFill/>
                </a:ln>
                <a:solidFill>
                  <a:srgbClr val="3357B8"/>
                </a:solidFill>
                <a:latin typeface="Roboto Medium"/>
                <a:ea typeface="Roboto Medium"/>
                <a:cs typeface="Roboto Medium"/>
              </a:rPr>
              <a:t>43%</a:t>
            </a:r>
            <a:endParaRPr sz="6200">
              <a:solidFill>
                <a:schemeClr val="accent1"/>
              </a:solidFill>
              <a:latin typeface="Roboto Medium"/>
              <a:ea typeface="Roboto Medium"/>
              <a:cs typeface="Roboto Medium"/>
            </a:endParaRPr>
          </a:p>
        </p:txBody>
      </p:sp>
      <p:sp>
        <p:nvSpPr>
          <p:cNvPr id="7" name="Content Placeholder 15">
            <a:extLst xmlns:a="http://schemas.openxmlformats.org/drawingml/2006/main">
              <a:ext uri="{FF2B5EF4-FFF2-40B4-BE49-F238E27FC236}">
                <a16:creationId xmlns:a16="http://schemas.microsoft.com/office/drawing/2014/main" id="{3859261F-DEEB-D3E4-08EA-A3B8D1EB0F8B}"/>
              </a:ext>
            </a:extLst>
          </p:cNvPr>
          <p:cNvSpPr>
            <a:spLocks xmlns:a="http://schemas.openxmlformats.org/drawingml/2006/main" noGrp="1"/>
          </p:cNvSpPr>
          <p:nvPr/>
        </p:nvSpPr>
        <p:spPr>
          <a:xfrm xmlns:a="http://schemas.openxmlformats.org/drawingml/2006/main">
            <a:off x="6560966" y="3529296"/>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600">
                <a:solidFill>
                  <a:srgbClr val="000000"/>
                </a:solidFill>
                <a:latin typeface="Roboto"/>
                <a:ea typeface="Roboto"/>
                <a:cs typeface="Roboto"/>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600">
                <a:solidFill>
                  <a:srgbClr val="000000"/>
                </a:solidFill>
                <a:latin typeface="Roboto"/>
                <a:ea typeface="Roboto"/>
                <a:cs typeface="Roboto"/>
              </a:defRPr>
            </a:pPr>
            <a:r>
              <a:rPr sz="1600">
                <a:solidFill>
                  <a:srgbClr val="000000"/>
                </a:solidFill>
                <a:latin typeface="Roboto"/>
                <a:ea typeface="Roboto"/>
                <a:cs typeface="Roboto"/>
              </a:rPr>
              <a:t>Institutional gross margin at base cost</a:t>
            </a:r>
            <a:endParaRPr sz="1600"/>
          </a:p>
        </p:txBody>
      </p:sp>
      <p:sp>
        <p:nvSpPr>
          <p:cNvPr id="8" name="Rounded Rectangle 7">
            <a:extLst xmlns:a="http://schemas.openxmlformats.org/drawingml/2006/main">
              <a:ext uri="{FF2B5EF4-FFF2-40B4-BE49-F238E27FC236}">
                <a16:creationId xmlns:a16="http://schemas.microsoft.com/office/drawing/2014/main" id="{46A67EF5-6C28-37C0-A44F-C89DA6A63CE8}"/>
              </a:ext>
            </a:extLst>
          </p:cNvPr>
          <p:cNvSpPr>
            <a:spLocks xmlns:a="http://schemas.openxmlformats.org/drawingml/2006/main" noGrp="1"/>
          </p:cNvSpPr>
          <p:nvPr/>
        </p:nvSpPr>
        <p:spPr>
          <a:xfrm xmlns:a="http://schemas.openxmlformats.org/drawingml/2006/main">
            <a:off x="9224191" y="2032000"/>
            <a:ext cx="2581975" cy="2656541"/>
          </a:xfrm>
          <a:prstGeom xmlns:a="http://schemas.openxmlformats.org/drawingml/2006/main" prst="roundRect">
            <a:avLst>
              <a:gd name="adj" fmla="val 3602"/>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9" name="Content Placeholder 9">
            <a:extLst xmlns:a="http://schemas.openxmlformats.org/drawingml/2006/main">
              <a:ext uri="{FF2B5EF4-FFF2-40B4-BE49-F238E27FC236}">
                <a16:creationId xmlns:a16="http://schemas.microsoft.com/office/drawing/2014/main" id="{C1178A3C-CA3E-3A18-E320-61DF2ABD5D3C}"/>
              </a:ext>
            </a:extLst>
          </p:cNvPr>
          <p:cNvSpPr>
            <a:spLocks xmlns:a="http://schemas.openxmlformats.org/drawingml/2006/main" noGrp="1"/>
          </p:cNvSpPr>
          <p:nvPr/>
        </p:nvSpPr>
        <p:spPr>
          <a:xfrm xmlns:a="http://schemas.openxmlformats.org/drawingml/2006/main">
            <a:off x="9446553" y="2356820"/>
            <a:ext cx="2133315" cy="90375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defPPr algn="l">
              <a:defRPr sz="6200">
                <a:solidFill>
                  <a:srgbClr val="3357B8"/>
                </a:solidFill>
                <a:latin typeface="Roboto Medium"/>
                <a:ea typeface="Roboto Medium"/>
                <a:cs typeface="Roboto Medium"/>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defRPr sz="6200">
                <a:solidFill>
                  <a:srgbClr val="3357B8"/>
                </a:solidFill>
                <a:latin typeface="Roboto Medium"/>
                <a:ea typeface="Roboto Medium"/>
                <a:cs typeface="Roboto Medium"/>
              </a:defRPr>
            </a:pPr>
            <a:r>
              <a:rPr sz="6200" u="none" strike="noStrike" cap="none" spc="0" baseline="0">
                <a:ln>
                  <a:noFill/>
                </a:ln>
                <a:solidFill>
                  <a:srgbClr val="3357B8"/>
                </a:solidFill>
                <a:latin typeface="Roboto Medium"/>
                <a:ea typeface="Roboto Medium"/>
                <a:cs typeface="Roboto Medium"/>
              </a:rPr>
              <a:t>57%</a:t>
            </a:r>
            <a:endParaRPr sz="6200">
              <a:solidFill>
                <a:schemeClr val="accent1"/>
              </a:solidFill>
              <a:latin typeface="Roboto Medium"/>
              <a:ea typeface="Roboto Medium"/>
              <a:cs typeface="Roboto Medium"/>
            </a:endParaRPr>
          </a:p>
        </p:txBody>
      </p:sp>
      <p:sp>
        <p:nvSpPr>
          <p:cNvPr id="10" name="Content Placeholder 15">
            <a:extLst xmlns:a="http://schemas.openxmlformats.org/drawingml/2006/main">
              <a:ext uri="{FF2B5EF4-FFF2-40B4-BE49-F238E27FC236}">
                <a16:creationId xmlns:a16="http://schemas.microsoft.com/office/drawing/2014/main" id="{9A0C1C6C-0D79-048C-2E65-5A332ED31144}"/>
              </a:ext>
            </a:extLst>
          </p:cNvPr>
          <p:cNvSpPr>
            <a:spLocks xmlns:a="http://schemas.openxmlformats.org/drawingml/2006/main" noGrp="1"/>
          </p:cNvSpPr>
          <p:nvPr/>
        </p:nvSpPr>
        <p:spPr>
          <a:xfrm xmlns:a="http://schemas.openxmlformats.org/drawingml/2006/main">
            <a:off x="9513171" y="3529296"/>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600">
                <a:solidFill>
                  <a:srgbClr val="000000"/>
                </a:solidFill>
                <a:latin typeface="Roboto"/>
                <a:ea typeface="Roboto"/>
                <a:cs typeface="Roboto"/>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600">
                <a:solidFill>
                  <a:srgbClr val="000000"/>
                </a:solidFill>
                <a:latin typeface="Roboto"/>
                <a:ea typeface="Roboto"/>
                <a:cs typeface="Roboto"/>
              </a:defRPr>
            </a:pPr>
            <a:r>
              <a:rPr sz="1600">
                <a:solidFill>
                  <a:srgbClr val="000000"/>
                </a:solidFill>
                <a:latin typeface="Roboto"/>
                <a:ea typeface="Roboto"/>
                <a:cs typeface="Roboto"/>
              </a:rPr>
              <a:t>Direct gross margin at base cost</a:t>
            </a:r>
            <a:endParaRPr sz="1600"/>
          </a:p>
        </p:txBody>
      </p:sp>
      <p:sp>
        <p:nvSpPr>
          <p:cNvPr id="19" name="Content Placeholder 2">
            <a:extLst xmlns:a="http://schemas.openxmlformats.org/drawingml/2006/main">
              <a:ext uri="{FF2B5EF4-FFF2-40B4-BE49-F238E27FC236}">
                <a16:creationId xmlns:a16="http://schemas.microsoft.com/office/drawing/2014/main" id="{A1ADE962-9ED7-3644-FA2A-7A64E19E9545}"/>
              </a:ext>
            </a:extLst>
          </p:cNvPr>
          <p:cNvSpPr>
            <a:spLocks xmlns:a="http://schemas.openxmlformats.org/drawingml/2006/main" noGrp="1"/>
          </p:cNvSpPr>
          <p:nvPr/>
        </p:nvSpPr>
        <p:spPr>
          <a:xfrm xmlns:a="http://schemas.openxmlformats.org/drawingml/2006/main">
            <a:off x="6258427" y="4971337"/>
            <a:ext cx="5539873" cy="990600"/>
          </a:xfrm>
          <a:prstGeom xmlns:a="http://schemas.openxmlformats.org/drawingml/2006/main" prst="rect">
            <a:avLst/>
          </a:prstGeom>
        </p:spPr>
        <p:txBody>
          <a:bodyPr xmlns:a="http://schemas.openxmlformats.org/drawingml/2006/main" lIns="0" tIns="0" rIns="0" bIns="0">
            <a:noAutofit/>
          </a:bodyPr>
          <a:lstStyle xmlns:a="http://schemas.openxmlformats.org/drawingml/2006/main">
            <a:defPPr algn="l">
              <a:defRPr sz="1600">
                <a:solidFill>
                  <a:srgbClr val="000000"/>
                </a:solidFill>
                <a:latin typeface="Roboto"/>
                <a:ea typeface="Roboto"/>
                <a:cs typeface="Roboto"/>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600">
                <a:solidFill>
                  <a:srgbClr val="000000"/>
                </a:solidFill>
                <a:latin typeface="Roboto"/>
                <a:ea typeface="Roboto"/>
                <a:cs typeface="Roboto"/>
              </a:defRPr>
            </a:pPr>
            <a:r>
              <a:rPr sz="1600">
                <a:solidFill>
                  <a:srgbClr val="000000"/>
                </a:solidFill>
                <a:latin typeface="Roboto"/>
                <a:ea typeface="Roboto"/>
                <a:cs typeface="Roboto"/>
              </a:rPr>
              <a:t>At a $160 BOM, institutional contribution falls to $49 per device. Supplier quotes and manufacturing yield determine viability.</a:t>
            </a:r>
          </a:p>
        </p:txBody>
      </p:sp>
    </p:spTree>
    <p:extLst>
      <p:ext uri="{BB962C8B-B14F-4D97-AF65-F5344CB8AC3E}">
        <p14:creationId xmlns:p14="http://schemas.microsoft.com/office/powerpoint/2010/main" val="39938313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AD38C25-48AC-5A29-D53A-82080FAF926E}"/>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4</a:t>
            </a:fld>
            <a:endParaRPr/>
          </a:p>
        </p:txBody>
      </p:sp>
      <p:sp>
        <p:nvSpPr>
          <p:cNvPr id="533" name="Google Shape;533;p58">
            <a:extLst xmlns:a="http://schemas.openxmlformats.org/drawingml/2006/main">
              <a:ext uri="{FF2B5EF4-FFF2-40B4-BE49-F238E27FC236}">
                <a16:creationId xmlns:a16="http://schemas.microsoft.com/office/drawing/2014/main" id="{33E8FE18-95DE-C7EA-9E95-10B82189367E}"/>
              </a:ext>
            </a:extLst>
          </p:cNvPr>
          <p:cNvSpPr>
            <a:spLocks xmlns:a="http://schemas.openxmlformats.org/drawingml/2006/main" noGrp="1"/>
          </p:cNvSpPr>
          <p:nvPr>
            <p:ph type="title" idx="0"/>
          </p:nvPr>
        </p:nvSpPr>
        <p:spPr>
          <a:xfrm xmlns:a="http://schemas.openxmlformats.org/drawingml/2006/main">
            <a:off x="393699" y="344009"/>
            <a:ext cx="11404599" cy="5957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900" b="1">
                <a:solidFill>
                  <a:srgbClr val="3357B8"/>
                </a:solidFill>
                <a:latin typeface="Lora SemiBold"/>
                <a:ea typeface="Lora SemiBold"/>
                <a:cs typeface="Lora SemiBold"/>
              </a:defRPr>
            </a:defPPr>
            <a:lvl1pPr algn="l">
              <a:buNone/>
              <a:defRPr sz="2900" b="1">
                <a:solidFill>
                  <a:srgbClr val="3357B8"/>
                </a:solidFill>
                <a:latin typeface="Lora SemiBold"/>
                <a:ea typeface="Lora SemiBold"/>
                <a:cs typeface="Lora SemiBold"/>
              </a:defRPr>
            </a:lvl1pPr>
            <a:lvl2pPr algn="l">
              <a:buNone/>
              <a:defRPr sz="2900" b="1">
                <a:solidFill>
                  <a:srgbClr val="3357B8"/>
                </a:solidFill>
                <a:latin typeface="Lora SemiBold"/>
                <a:ea typeface="Lora SemiBold"/>
                <a:cs typeface="Lora SemiBold"/>
              </a:defRPr>
            </a:lvl2pPr>
            <a:lvl3pPr algn="l">
              <a:buNone/>
              <a:defRPr sz="2900" b="1">
                <a:solidFill>
                  <a:srgbClr val="3357B8"/>
                </a:solidFill>
                <a:latin typeface="Lora SemiBold"/>
                <a:ea typeface="Lora SemiBold"/>
                <a:cs typeface="Lora SemiBold"/>
              </a:defRPr>
            </a:lvl3pPr>
            <a:lvl4pPr algn="l">
              <a:buNone/>
              <a:defRPr sz="2900" b="1">
                <a:solidFill>
                  <a:srgbClr val="3357B8"/>
                </a:solidFill>
                <a:latin typeface="Lora SemiBold"/>
                <a:ea typeface="Lora SemiBold"/>
                <a:cs typeface="Lora SemiBold"/>
              </a:defRPr>
            </a:lvl4pPr>
            <a:lvl5pPr algn="l">
              <a:buNone/>
              <a:defRPr sz="2900" b="1">
                <a:solidFill>
                  <a:srgbClr val="3357B8"/>
                </a:solidFill>
                <a:latin typeface="Lora SemiBold"/>
                <a:ea typeface="Lora SemiBold"/>
                <a:cs typeface="Lora SemiBold"/>
              </a:defRPr>
            </a:lvl5pPr>
            <a:lvl6pPr algn="l">
              <a:buNone/>
              <a:defRPr sz="2900" b="1">
                <a:solidFill>
                  <a:srgbClr val="3357B8"/>
                </a:solidFill>
                <a:latin typeface="Lora SemiBold"/>
                <a:ea typeface="Lora SemiBold"/>
                <a:cs typeface="Lora SemiBold"/>
              </a:defRPr>
            </a:lvl6pPr>
            <a:lvl7pPr algn="l">
              <a:buNone/>
              <a:defRPr sz="2900" b="1">
                <a:solidFill>
                  <a:srgbClr val="3357B8"/>
                </a:solidFill>
                <a:latin typeface="Lora SemiBold"/>
                <a:ea typeface="Lora SemiBold"/>
                <a:cs typeface="Lora SemiBold"/>
              </a:defRPr>
            </a:lvl7pPr>
            <a:lvl8pPr algn="l">
              <a:buNone/>
              <a:defRPr sz="2900" b="1">
                <a:solidFill>
                  <a:srgbClr val="3357B8"/>
                </a:solidFill>
                <a:latin typeface="Lora SemiBold"/>
                <a:ea typeface="Lora SemiBold"/>
                <a:cs typeface="Lora SemiBold"/>
              </a:defRPr>
            </a:lvl8pPr>
            <a:lvl9pPr algn="l">
              <a:buNone/>
              <a:defRPr sz="2900" b="1">
                <a:solidFill>
                  <a:srgbClr val="3357B8"/>
                </a:solidFill>
                <a:latin typeface="Lora SemiBold"/>
                <a:ea typeface="Lora SemiBold"/>
                <a:cs typeface="Lora SemiBold"/>
              </a:defRPr>
            </a:lvl9pPr>
          </a:lstStyle>
          <a:p xmlns:a="http://schemas.openxmlformats.org/drawingml/2006/main">
            <a:pPr algn="l">
              <a:buNone/>
              <a:defRPr sz="2900" b="1">
                <a:solidFill>
                  <a:srgbClr val="3357B8"/>
                </a:solidFill>
                <a:latin typeface="Lora SemiBold"/>
                <a:ea typeface="Lora SemiBold"/>
                <a:cs typeface="Lora SemiBold"/>
              </a:defRPr>
            </a:pPr>
            <a:r>
              <a:rPr sz="2900" b="1">
                <a:solidFill>
                  <a:srgbClr val="3357B8"/>
                </a:solidFill>
                <a:latin typeface="Lora SemiBold"/>
                <a:ea typeface="Lora SemiBold"/>
                <a:cs typeface="Lora SemiBold"/>
              </a:rPr>
              <a:t>8. Key metrics</a:t>
            </a:r>
            <a:endParaRPr>
              <a:solidFill>
                <a:schemeClr val="accent1"/>
              </a:solidFill>
            </a:endParaRPr>
          </a:p>
        </p:txBody>
      </p:sp>
      <p:sp>
        <p:nvSpPr>
          <p:cNvPr id="7" name="Rounded Rectangle 6">
            <a:extLst xmlns:a="http://schemas.openxmlformats.org/drawingml/2006/main">
              <a:ext uri="{FF2B5EF4-FFF2-40B4-BE49-F238E27FC236}">
                <a16:creationId xmlns:a16="http://schemas.microsoft.com/office/drawing/2014/main" id="{9E3149F3-A7D7-BC8F-C84C-4A4E60EA2799}"/>
              </a:ext>
            </a:extLst>
          </p:cNvPr>
          <p:cNvSpPr>
            <a:spLocks xmlns:a="http://schemas.openxmlformats.org/drawingml/2006/main" noGrp="1"/>
          </p:cNvSpPr>
          <p:nvPr/>
        </p:nvSpPr>
        <p:spPr>
          <a:xfrm xmlns:a="http://schemas.openxmlformats.org/drawingml/2006/main">
            <a:off x="6264412" y="253749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9" name="Rounded Rectangle 8">
            <a:extLst xmlns:a="http://schemas.openxmlformats.org/drawingml/2006/main">
              <a:ext uri="{FF2B5EF4-FFF2-40B4-BE49-F238E27FC236}">
                <a16:creationId xmlns:a16="http://schemas.microsoft.com/office/drawing/2014/main" id="{5CD1077A-BBDF-3B07-D940-FA5482CB0124}"/>
              </a:ext>
            </a:extLst>
          </p:cNvPr>
          <p:cNvSpPr>
            <a:spLocks xmlns:a="http://schemas.openxmlformats.org/drawingml/2006/main" noGrp="1"/>
          </p:cNvSpPr>
          <p:nvPr/>
        </p:nvSpPr>
        <p:spPr>
          <a:xfrm xmlns:a="http://schemas.openxmlformats.org/drawingml/2006/main">
            <a:off x="409043" y="253749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0" name="Content Placeholder 10">
            <a:extLst xmlns:a="http://schemas.openxmlformats.org/drawingml/2006/main">
              <a:ext uri="{FF2B5EF4-FFF2-40B4-BE49-F238E27FC236}">
                <a16:creationId xmlns:a16="http://schemas.microsoft.com/office/drawing/2014/main" id="{B54A841D-1EA0-6181-C778-7C851CA6E64E}"/>
              </a:ext>
            </a:extLst>
          </p:cNvPr>
          <p:cNvSpPr>
            <a:spLocks xmlns:a="http://schemas.openxmlformats.org/drawingml/2006/main" noGrp="1"/>
          </p:cNvSpPr>
          <p:nvPr/>
        </p:nvSpPr>
        <p:spPr>
          <a:xfrm xmlns:a="http://schemas.openxmlformats.org/drawingml/2006/main">
            <a:off x="706278" y="3250891"/>
            <a:ext cx="4986886" cy="59753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defRPr sz="1600">
                <a:solidFill>
                  <a:srgbClr val="000000"/>
                </a:solidFill>
                <a:latin typeface="Helvetica Neue"/>
                <a:ea typeface="Helvetica Neue"/>
                <a:cs typeface="Helvetica Neue"/>
              </a:defRPr>
            </a:pPr>
            <a:r>
              <a:rPr sz="1600" b="0" i="0" u="none" strike="noStrike" cap="none" spc="0" baseline="0">
                <a:ln>
                  <a:noFill/>
                </a:ln>
                <a:solidFill>
                  <a:srgbClr val="000000"/>
                </a:solidFill>
                <a:latin typeface="Helvetica Neue"/>
                <a:ea typeface="Helvetica Neue"/>
                <a:cs typeface="Helvetica Neue"/>
              </a:rPr>
              <a:t>95th percentile from sensor capture to achieved pin height under sustained operation.</a:t>
            </a:r>
          </a:p>
        </p:txBody>
      </p:sp>
      <p:sp>
        <p:nvSpPr>
          <p:cNvPr id="2" name="Rounded Rectangle 1">
            <a:extLst xmlns:a="http://schemas.openxmlformats.org/drawingml/2006/main">
              <a:ext uri="{FF2B5EF4-FFF2-40B4-BE49-F238E27FC236}">
                <a16:creationId xmlns:a16="http://schemas.microsoft.com/office/drawing/2014/main" id="{B4E203EC-EB81-96EF-66AB-3B6012B4B3EF}"/>
              </a:ext>
            </a:extLst>
          </p:cNvPr>
          <p:cNvSpPr>
            <a:spLocks xmlns:a="http://schemas.openxmlformats.org/drawingml/2006/main" noGrp="1"/>
          </p:cNvSpPr>
          <p:nvPr/>
        </p:nvSpPr>
        <p:spPr>
          <a:xfrm xmlns:a="http://schemas.openxmlformats.org/drawingml/2006/main">
            <a:off x="6264412" y="437010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4" name="Rounded Rectangle 3">
            <a:extLst xmlns:a="http://schemas.openxmlformats.org/drawingml/2006/main">
              <a:ext uri="{FF2B5EF4-FFF2-40B4-BE49-F238E27FC236}">
                <a16:creationId xmlns:a16="http://schemas.microsoft.com/office/drawing/2014/main" id="{2000F722-C0CE-FDAF-EAFE-20BC4A7F4118}"/>
              </a:ext>
            </a:extLst>
          </p:cNvPr>
          <p:cNvSpPr>
            <a:spLocks xmlns:a="http://schemas.openxmlformats.org/drawingml/2006/main" noGrp="1"/>
          </p:cNvSpPr>
          <p:nvPr/>
        </p:nvSpPr>
        <p:spPr>
          <a:xfrm xmlns:a="http://schemas.openxmlformats.org/drawingml/2006/main">
            <a:off x="409043" y="437010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1" name="Footer Placeholder 10">
            <a:extLst xmlns:a="http://schemas.openxmlformats.org/drawingml/2006/main">
              <a:ext uri="{FF2B5EF4-FFF2-40B4-BE49-F238E27FC236}">
                <a16:creationId xmlns:a16="http://schemas.microsoft.com/office/drawing/2014/main" id="{A4694142-7504-448C-B110-ABCB1A6DD41E}"/>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12" name="Google Shape;534;p58">
            <a:extLst xmlns:a="http://schemas.openxmlformats.org/drawingml/2006/main">
              <a:ext uri="{FF2B5EF4-FFF2-40B4-BE49-F238E27FC236}">
                <a16:creationId xmlns:a16="http://schemas.microsoft.com/office/drawing/2014/main" id="{F393FB38-1005-6250-1642-93C1A76E0B77}"/>
              </a:ext>
            </a:extLst>
          </p:cNvPr>
          <p:cNvSpPr>
            <a:spLocks xmlns:a="http://schemas.openxmlformats.org/drawingml/2006/main" noGrp="1"/>
          </p:cNvSpPr>
          <p:nvPr/>
        </p:nvSpPr>
        <p:spPr>
          <a:xfrm xmlns:a="http://schemas.openxmlformats.org/drawingml/2006/main">
            <a:off x="393700" y="1649094"/>
            <a:ext cx="11404600" cy="63404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Also track comfort, skin effects, battery runtime, false alerts, missed hazards, weekly use, 90-day retention, paid-pilot conversion and repeat orders. These are targets, not reported results.</a:t>
            </a:r>
          </a:p>
        </p:txBody>
      </p:sp>
      <p:sp>
        <p:nvSpPr>
          <p:cNvPr id="13" name="Google Shape;534;p58">
            <a:extLst xmlns:a="http://schemas.openxmlformats.org/drawingml/2006/main">
              <a:ext uri="{FF2B5EF4-FFF2-40B4-BE49-F238E27FC236}">
                <a16:creationId xmlns:a16="http://schemas.microsoft.com/office/drawing/2014/main" id="{A0F4C075-109A-7DDE-18C9-18F128552C24}"/>
              </a:ext>
            </a:extLst>
          </p:cNvPr>
          <p:cNvSpPr>
            <a:spLocks xmlns:a="http://schemas.openxmlformats.org/drawingml/2006/main" noGrp="1"/>
          </p:cNvSpPr>
          <p:nvPr/>
        </p:nvSpPr>
        <p:spPr>
          <a:xfrm xmlns:a="http://schemas.openxmlformats.org/drawingml/2006/main">
            <a:off x="393699" y="1146566"/>
            <a:ext cx="11404599"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000">
                <a:solidFill>
                  <a:srgbClr val="000000"/>
                </a:solidFill>
                <a:latin typeface="Lora"/>
                <a:ea typeface="Lora"/>
                <a:cs typeface="Lora"/>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2000">
                <a:solidFill>
                  <a:srgbClr val="000000"/>
                </a:solidFill>
                <a:latin typeface="Lora"/>
                <a:ea typeface="Lora"/>
                <a:cs typeface="Lora"/>
              </a:defRPr>
            </a:pPr>
            <a:r>
              <a:rPr sz="2000">
                <a:solidFill>
                  <a:srgbClr val="000000"/>
                </a:solidFill>
                <a:latin typeface="Lora"/>
                <a:ea typeface="Lora"/>
                <a:cs typeface="Lora"/>
              </a:rPr>
              <a:t>Engineering targets and adoption evidence</a:t>
            </a:r>
            <a:endParaRPr sz="2000">
              <a:latin typeface="+mj-lt"/>
              <a:ea typeface="+mj-lt"/>
              <a:cs typeface="+mj-lt"/>
            </a:endParaRPr>
          </a:p>
        </p:txBody>
      </p:sp>
      <p:sp>
        <p:nvSpPr>
          <p:cNvPr id="14" name="TextBox 13">
            <a:extLst xmlns:a="http://schemas.openxmlformats.org/drawingml/2006/main">
              <a:ext uri="{FF2B5EF4-FFF2-40B4-BE49-F238E27FC236}">
                <a16:creationId xmlns:a16="http://schemas.microsoft.com/office/drawing/2014/main" id="{49DCE927-F1A4-A9ED-C839-844BB688547F}"/>
              </a:ext>
            </a:extLst>
          </p:cNvPr>
          <p:cNvSpPr>
            <a:spLocks xmlns:a="http://schemas.openxmlformats.org/drawingml/2006/main" noGrp="1"/>
          </p:cNvSpPr>
          <p:nvPr/>
        </p:nvSpPr>
        <p:spPr>
          <a:xfrm xmlns:a="http://schemas.openxmlformats.org/drawingml/2006/main">
            <a:off x="702967" y="2793808"/>
            <a:ext cx="4986886" cy="312725"/>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lgn="l">
              <a:defRPr sz="1800">
                <a:solidFill>
                  <a:srgbClr val="3357B8"/>
                </a:solidFill>
                <a:latin typeface="Helvetica Neue Medium"/>
                <a:ea typeface="Helvetica Neue Medium"/>
                <a:cs typeface="Helvetica Neue Medium"/>
              </a:defRPr>
            </a:defPPr>
            <a:lvl1pPr algn="l">
              <a:buNone/>
              <a:defRPr sz="1800">
                <a:solidFill>
                  <a:srgbClr val="3357B8"/>
                </a:solidFill>
                <a:latin typeface="Helvetica Neue Medium"/>
                <a:ea typeface="Helvetica Neue Medium"/>
                <a:cs typeface="Helvetica Neue Medium"/>
              </a:defRPr>
            </a:lvl1pPr>
            <a:lvl2pPr algn="l">
              <a:buNone/>
              <a:defRPr sz="1800">
                <a:solidFill>
                  <a:srgbClr val="3357B8"/>
                </a:solidFill>
                <a:latin typeface="Helvetica Neue Medium"/>
                <a:ea typeface="Helvetica Neue Medium"/>
                <a:cs typeface="Helvetica Neue Medium"/>
              </a:defRPr>
            </a:lvl2pPr>
            <a:lvl3pPr algn="l">
              <a:buNone/>
              <a:defRPr sz="1800">
                <a:solidFill>
                  <a:srgbClr val="3357B8"/>
                </a:solidFill>
                <a:latin typeface="Helvetica Neue Medium"/>
                <a:ea typeface="Helvetica Neue Medium"/>
                <a:cs typeface="Helvetica Neue Medium"/>
              </a:defRPr>
            </a:lvl3pPr>
            <a:lvl4pPr algn="l">
              <a:buNone/>
              <a:defRPr sz="1800">
                <a:solidFill>
                  <a:srgbClr val="3357B8"/>
                </a:solidFill>
                <a:latin typeface="Helvetica Neue Medium"/>
                <a:ea typeface="Helvetica Neue Medium"/>
                <a:cs typeface="Helvetica Neue Medium"/>
              </a:defRPr>
            </a:lvl4pPr>
            <a:lvl5pPr algn="l">
              <a:buNone/>
              <a:defRPr sz="1800">
                <a:solidFill>
                  <a:srgbClr val="3357B8"/>
                </a:solidFill>
                <a:latin typeface="Helvetica Neue Medium"/>
                <a:ea typeface="Helvetica Neue Medium"/>
                <a:cs typeface="Helvetica Neue Medium"/>
              </a:defRPr>
            </a:lvl5pPr>
            <a:lvl6pPr algn="l">
              <a:buNone/>
              <a:defRPr sz="1800">
                <a:solidFill>
                  <a:srgbClr val="3357B8"/>
                </a:solidFill>
                <a:latin typeface="Helvetica Neue Medium"/>
                <a:ea typeface="Helvetica Neue Medium"/>
                <a:cs typeface="Helvetica Neue Medium"/>
              </a:defRPr>
            </a:lvl6pPr>
            <a:lvl7pPr algn="l">
              <a:buNone/>
              <a:defRPr sz="1800">
                <a:solidFill>
                  <a:srgbClr val="3357B8"/>
                </a:solidFill>
                <a:latin typeface="Helvetica Neue Medium"/>
                <a:ea typeface="Helvetica Neue Medium"/>
                <a:cs typeface="Helvetica Neue Medium"/>
              </a:defRPr>
            </a:lvl7pPr>
            <a:lvl8pPr algn="l">
              <a:buNone/>
              <a:defRPr sz="1800">
                <a:solidFill>
                  <a:srgbClr val="3357B8"/>
                </a:solidFill>
                <a:latin typeface="Helvetica Neue Medium"/>
                <a:ea typeface="Helvetica Neue Medium"/>
                <a:cs typeface="Helvetica Neue Medium"/>
              </a:defRPr>
            </a:lvl8pPr>
            <a:lvl9pPr algn="l">
              <a:buNone/>
              <a:defRPr sz="1800">
                <a:solidFill>
                  <a:srgbClr val="3357B8"/>
                </a:solidFill>
                <a:latin typeface="Helvetica Neue Medium"/>
                <a:ea typeface="Helvetica Neue Medium"/>
                <a:cs typeface="Helvetica Neue Medium"/>
              </a:defRPr>
            </a:lvl9pPr>
          </a:lstStyle>
          <a:p xmlns:a="http://schemas.openxmlformats.org/drawingml/2006/main">
            <a:pPr marL="0" marR="0" lvl="0" indent="0" algn="l" defTabSz="914400">
              <a:lnSpc>
                <a:spcPct val="114000"/>
              </a:lnSpc>
              <a:spcBef>
                <a:spcPts val="0"/>
              </a:spcBef>
              <a:spcAft>
                <a:spcPts val="800"/>
              </a:spcAft>
              <a:buClrTx/>
              <a:buSzTx/>
              <a:buFontTx/>
              <a:buNone/>
              <a:defRPr sz="1800">
                <a:solidFill>
                  <a:srgbClr val="3357B8"/>
                </a:solidFill>
                <a:latin typeface="Helvetica Neue Medium"/>
                <a:ea typeface="Helvetica Neue Medium"/>
                <a:cs typeface="Helvetica Neue Medium"/>
              </a:defRPr>
            </a:pPr>
            <a:r>
              <a:rPr sz="1800" b="0" i="0" u="none" strike="noStrike" cap="none" spc="0" baseline="0">
                <a:ln>
                  <a:noFill/>
                </a:ln>
                <a:solidFill>
                  <a:srgbClr val="3357B8"/>
                </a:solidFill>
                <a:latin typeface="Helvetica Neue Medium"/>
                <a:ea typeface="Helvetica Neue Medium"/>
                <a:cs typeface="Helvetica Neue Medium"/>
              </a:rPr>
              <a:t>Latency below 100 ms</a:t>
            </a:r>
          </a:p>
        </p:txBody>
      </p:sp>
      <p:sp>
        <p:nvSpPr>
          <p:cNvPr id="16" name="Content Placeholder 10">
            <a:extLst xmlns:a="http://schemas.openxmlformats.org/drawingml/2006/main">
              <a:ext uri="{FF2B5EF4-FFF2-40B4-BE49-F238E27FC236}">
                <a16:creationId xmlns:a16="http://schemas.microsoft.com/office/drawing/2014/main" id="{B71DDDF3-A6F6-A2D9-7F68-A246AE82F73A}"/>
              </a:ext>
            </a:extLst>
          </p:cNvPr>
          <p:cNvSpPr>
            <a:spLocks xmlns:a="http://schemas.openxmlformats.org/drawingml/2006/main" noGrp="1"/>
          </p:cNvSpPr>
          <p:nvPr/>
        </p:nvSpPr>
        <p:spPr>
          <a:xfrm xmlns:a="http://schemas.openxmlformats.org/drawingml/2006/main">
            <a:off x="6558438" y="3250891"/>
            <a:ext cx="4986886" cy="59753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defRPr sz="1600">
                <a:solidFill>
                  <a:srgbClr val="000000"/>
                </a:solidFill>
                <a:latin typeface="Helvetica Neue"/>
                <a:ea typeface="Helvetica Neue"/>
                <a:cs typeface="Helvetica Neue"/>
              </a:defRPr>
            </a:pPr>
            <a:r>
              <a:rPr sz="1600" b="0" i="0" u="none" strike="noStrike" cap="none" spc="0" baseline="0">
                <a:ln>
                  <a:noFill/>
                </a:ln>
                <a:solidFill>
                  <a:srgbClr val="000000"/>
                </a:solidFill>
                <a:latin typeface="Helvetica Neue"/>
                <a:ea typeface="Helvetica Neue"/>
                <a:cs typeface="Helvetica Neue"/>
              </a:rPr>
              <a:t>Predefined supervised scenarios. Compare with baseline mobility aids and report hazard classes.</a:t>
            </a:r>
          </a:p>
        </p:txBody>
      </p:sp>
      <p:sp>
        <p:nvSpPr>
          <p:cNvPr id="17" name="TextBox 16">
            <a:extLst xmlns:a="http://schemas.openxmlformats.org/drawingml/2006/main">
              <a:ext uri="{FF2B5EF4-FFF2-40B4-BE49-F238E27FC236}">
                <a16:creationId xmlns:a16="http://schemas.microsoft.com/office/drawing/2014/main" id="{BAD06467-8163-39A0-0B9A-1A98533B6978}"/>
              </a:ext>
            </a:extLst>
          </p:cNvPr>
          <p:cNvSpPr>
            <a:spLocks xmlns:a="http://schemas.openxmlformats.org/drawingml/2006/main" noGrp="1"/>
          </p:cNvSpPr>
          <p:nvPr/>
        </p:nvSpPr>
        <p:spPr>
          <a:xfrm xmlns:a="http://schemas.openxmlformats.org/drawingml/2006/main">
            <a:off x="6555127" y="2793808"/>
            <a:ext cx="4986886" cy="312725"/>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lgn="l">
              <a:defRPr sz="1800">
                <a:solidFill>
                  <a:srgbClr val="3357B8"/>
                </a:solidFill>
                <a:latin typeface="Helvetica Neue Medium"/>
                <a:ea typeface="Helvetica Neue Medium"/>
                <a:cs typeface="Helvetica Neue Medium"/>
              </a:defRPr>
            </a:defPPr>
            <a:lvl1pPr algn="l">
              <a:buNone/>
              <a:defRPr sz="1800">
                <a:solidFill>
                  <a:srgbClr val="3357B8"/>
                </a:solidFill>
                <a:latin typeface="Helvetica Neue Medium"/>
                <a:ea typeface="Helvetica Neue Medium"/>
                <a:cs typeface="Helvetica Neue Medium"/>
              </a:defRPr>
            </a:lvl1pPr>
            <a:lvl2pPr algn="l">
              <a:buNone/>
              <a:defRPr sz="1800">
                <a:solidFill>
                  <a:srgbClr val="3357B8"/>
                </a:solidFill>
                <a:latin typeface="Helvetica Neue Medium"/>
                <a:ea typeface="Helvetica Neue Medium"/>
                <a:cs typeface="Helvetica Neue Medium"/>
              </a:defRPr>
            </a:lvl2pPr>
            <a:lvl3pPr algn="l">
              <a:buNone/>
              <a:defRPr sz="1800">
                <a:solidFill>
                  <a:srgbClr val="3357B8"/>
                </a:solidFill>
                <a:latin typeface="Helvetica Neue Medium"/>
                <a:ea typeface="Helvetica Neue Medium"/>
                <a:cs typeface="Helvetica Neue Medium"/>
              </a:defRPr>
            </a:lvl3pPr>
            <a:lvl4pPr algn="l">
              <a:buNone/>
              <a:defRPr sz="1800">
                <a:solidFill>
                  <a:srgbClr val="3357B8"/>
                </a:solidFill>
                <a:latin typeface="Helvetica Neue Medium"/>
                <a:ea typeface="Helvetica Neue Medium"/>
                <a:cs typeface="Helvetica Neue Medium"/>
              </a:defRPr>
            </a:lvl4pPr>
            <a:lvl5pPr algn="l">
              <a:buNone/>
              <a:defRPr sz="1800">
                <a:solidFill>
                  <a:srgbClr val="3357B8"/>
                </a:solidFill>
                <a:latin typeface="Helvetica Neue Medium"/>
                <a:ea typeface="Helvetica Neue Medium"/>
                <a:cs typeface="Helvetica Neue Medium"/>
              </a:defRPr>
            </a:lvl5pPr>
            <a:lvl6pPr algn="l">
              <a:buNone/>
              <a:defRPr sz="1800">
                <a:solidFill>
                  <a:srgbClr val="3357B8"/>
                </a:solidFill>
                <a:latin typeface="Helvetica Neue Medium"/>
                <a:ea typeface="Helvetica Neue Medium"/>
                <a:cs typeface="Helvetica Neue Medium"/>
              </a:defRPr>
            </a:lvl6pPr>
            <a:lvl7pPr algn="l">
              <a:buNone/>
              <a:defRPr sz="1800">
                <a:solidFill>
                  <a:srgbClr val="3357B8"/>
                </a:solidFill>
                <a:latin typeface="Helvetica Neue Medium"/>
                <a:ea typeface="Helvetica Neue Medium"/>
                <a:cs typeface="Helvetica Neue Medium"/>
              </a:defRPr>
            </a:lvl7pPr>
            <a:lvl8pPr algn="l">
              <a:buNone/>
              <a:defRPr sz="1800">
                <a:solidFill>
                  <a:srgbClr val="3357B8"/>
                </a:solidFill>
                <a:latin typeface="Helvetica Neue Medium"/>
                <a:ea typeface="Helvetica Neue Medium"/>
                <a:cs typeface="Helvetica Neue Medium"/>
              </a:defRPr>
            </a:lvl8pPr>
            <a:lvl9pPr algn="l">
              <a:buNone/>
              <a:defRPr sz="1800">
                <a:solidFill>
                  <a:srgbClr val="3357B8"/>
                </a:solidFill>
                <a:latin typeface="Helvetica Neue Medium"/>
                <a:ea typeface="Helvetica Neue Medium"/>
                <a:cs typeface="Helvetica Neue Medium"/>
              </a:defRPr>
            </a:lvl9pPr>
          </a:lstStyle>
          <a:p xmlns:a="http://schemas.openxmlformats.org/drawingml/2006/main">
            <a:pPr marL="0" marR="0" lvl="0" indent="0" algn="l" defTabSz="914400">
              <a:lnSpc>
                <a:spcPct val="114000"/>
              </a:lnSpc>
              <a:spcBef>
                <a:spcPts val="0"/>
              </a:spcBef>
              <a:spcAft>
                <a:spcPts val="800"/>
              </a:spcAft>
              <a:buClrTx/>
              <a:buSzTx/>
              <a:buFontTx/>
              <a:buNone/>
              <a:defRPr sz="1800">
                <a:solidFill>
                  <a:srgbClr val="3357B8"/>
                </a:solidFill>
                <a:latin typeface="Helvetica Neue Medium"/>
                <a:ea typeface="Helvetica Neue Medium"/>
                <a:cs typeface="Helvetica Neue Medium"/>
              </a:defRPr>
            </a:pPr>
            <a:r>
              <a:rPr sz="1800" b="0" i="0" u="none" strike="noStrike" cap="none" spc="0" baseline="0">
                <a:ln>
                  <a:noFill/>
                </a:ln>
                <a:solidFill>
                  <a:srgbClr val="3357B8"/>
                </a:solidFill>
                <a:latin typeface="Helvetica Neue Medium"/>
                <a:ea typeface="Helvetica Neue Medium"/>
                <a:cs typeface="Helvetica Neue Medium"/>
              </a:rPr>
              <a:t>Avoidance above 90%</a:t>
            </a:r>
          </a:p>
        </p:txBody>
      </p:sp>
      <p:sp>
        <p:nvSpPr>
          <p:cNvPr id="18" name="Content Placeholder 10">
            <a:extLst xmlns:a="http://schemas.openxmlformats.org/drawingml/2006/main">
              <a:ext uri="{FF2B5EF4-FFF2-40B4-BE49-F238E27FC236}">
                <a16:creationId xmlns:a16="http://schemas.microsoft.com/office/drawing/2014/main" id="{E61F5831-A6CA-0036-3E5C-283D4EBAFE55}"/>
              </a:ext>
            </a:extLst>
          </p:cNvPr>
          <p:cNvSpPr>
            <a:spLocks xmlns:a="http://schemas.openxmlformats.org/drawingml/2006/main" noGrp="1"/>
          </p:cNvSpPr>
          <p:nvPr/>
        </p:nvSpPr>
        <p:spPr>
          <a:xfrm xmlns:a="http://schemas.openxmlformats.org/drawingml/2006/main">
            <a:off x="706278" y="5094931"/>
            <a:ext cx="4986886" cy="59753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defRPr sz="1600">
                <a:solidFill>
                  <a:srgbClr val="000000"/>
                </a:solidFill>
                <a:latin typeface="Helvetica Neue"/>
                <a:ea typeface="Helvetica Neue"/>
                <a:cs typeface="Helvetica Neue"/>
              </a:defRPr>
            </a:pPr>
            <a:r>
              <a:rPr sz="1600" b="0" i="0" u="none" strike="noStrike" cap="none" spc="0" baseline="0">
                <a:ln>
                  <a:noFill/>
                </a:ln>
                <a:solidFill>
                  <a:srgbClr val="000000"/>
                </a:solidFill>
                <a:latin typeface="Helvetica Neue"/>
                <a:ea typeface="Helvetica Neue"/>
                <a:cs typeface="Helvetica Neue"/>
              </a:rPr>
              <a:t>Track supplier pricing, manufacturing yield, warranty cost and fully loaded device cost.</a:t>
            </a:r>
          </a:p>
        </p:txBody>
      </p:sp>
      <p:sp>
        <p:nvSpPr>
          <p:cNvPr id="19" name="TextBox 18">
            <a:extLst xmlns:a="http://schemas.openxmlformats.org/drawingml/2006/main">
              <a:ext uri="{FF2B5EF4-FFF2-40B4-BE49-F238E27FC236}">
                <a16:creationId xmlns:a16="http://schemas.microsoft.com/office/drawing/2014/main" id="{1283300B-2E76-54E3-B3E8-C4CE0DA323BE}"/>
              </a:ext>
            </a:extLst>
          </p:cNvPr>
          <p:cNvSpPr>
            <a:spLocks xmlns:a="http://schemas.openxmlformats.org/drawingml/2006/main" noGrp="1"/>
          </p:cNvSpPr>
          <p:nvPr/>
        </p:nvSpPr>
        <p:spPr>
          <a:xfrm xmlns:a="http://schemas.openxmlformats.org/drawingml/2006/main">
            <a:off x="702967" y="4637848"/>
            <a:ext cx="4986886" cy="312725"/>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lgn="l">
              <a:defRPr sz="1800">
                <a:solidFill>
                  <a:srgbClr val="3357B8"/>
                </a:solidFill>
                <a:latin typeface="Helvetica Neue Medium"/>
                <a:ea typeface="Helvetica Neue Medium"/>
                <a:cs typeface="Helvetica Neue Medium"/>
              </a:defRPr>
            </a:defPPr>
            <a:lvl1pPr algn="l">
              <a:buNone/>
              <a:defRPr sz="1800">
                <a:solidFill>
                  <a:srgbClr val="3357B8"/>
                </a:solidFill>
                <a:latin typeface="Helvetica Neue Medium"/>
                <a:ea typeface="Helvetica Neue Medium"/>
                <a:cs typeface="Helvetica Neue Medium"/>
              </a:defRPr>
            </a:lvl1pPr>
            <a:lvl2pPr algn="l">
              <a:buNone/>
              <a:defRPr sz="1800">
                <a:solidFill>
                  <a:srgbClr val="3357B8"/>
                </a:solidFill>
                <a:latin typeface="Helvetica Neue Medium"/>
                <a:ea typeface="Helvetica Neue Medium"/>
                <a:cs typeface="Helvetica Neue Medium"/>
              </a:defRPr>
            </a:lvl2pPr>
            <a:lvl3pPr algn="l">
              <a:buNone/>
              <a:defRPr sz="1800">
                <a:solidFill>
                  <a:srgbClr val="3357B8"/>
                </a:solidFill>
                <a:latin typeface="Helvetica Neue Medium"/>
                <a:ea typeface="Helvetica Neue Medium"/>
                <a:cs typeface="Helvetica Neue Medium"/>
              </a:defRPr>
            </a:lvl3pPr>
            <a:lvl4pPr algn="l">
              <a:buNone/>
              <a:defRPr sz="1800">
                <a:solidFill>
                  <a:srgbClr val="3357B8"/>
                </a:solidFill>
                <a:latin typeface="Helvetica Neue Medium"/>
                <a:ea typeface="Helvetica Neue Medium"/>
                <a:cs typeface="Helvetica Neue Medium"/>
              </a:defRPr>
            </a:lvl4pPr>
            <a:lvl5pPr algn="l">
              <a:buNone/>
              <a:defRPr sz="1800">
                <a:solidFill>
                  <a:srgbClr val="3357B8"/>
                </a:solidFill>
                <a:latin typeface="Helvetica Neue Medium"/>
                <a:ea typeface="Helvetica Neue Medium"/>
                <a:cs typeface="Helvetica Neue Medium"/>
              </a:defRPr>
            </a:lvl5pPr>
            <a:lvl6pPr algn="l">
              <a:buNone/>
              <a:defRPr sz="1800">
                <a:solidFill>
                  <a:srgbClr val="3357B8"/>
                </a:solidFill>
                <a:latin typeface="Helvetica Neue Medium"/>
                <a:ea typeface="Helvetica Neue Medium"/>
                <a:cs typeface="Helvetica Neue Medium"/>
              </a:defRPr>
            </a:lvl6pPr>
            <a:lvl7pPr algn="l">
              <a:buNone/>
              <a:defRPr sz="1800">
                <a:solidFill>
                  <a:srgbClr val="3357B8"/>
                </a:solidFill>
                <a:latin typeface="Helvetica Neue Medium"/>
                <a:ea typeface="Helvetica Neue Medium"/>
                <a:cs typeface="Helvetica Neue Medium"/>
              </a:defRPr>
            </a:lvl7pPr>
            <a:lvl8pPr algn="l">
              <a:buNone/>
              <a:defRPr sz="1800">
                <a:solidFill>
                  <a:srgbClr val="3357B8"/>
                </a:solidFill>
                <a:latin typeface="Helvetica Neue Medium"/>
                <a:ea typeface="Helvetica Neue Medium"/>
                <a:cs typeface="Helvetica Neue Medium"/>
              </a:defRPr>
            </a:lvl8pPr>
            <a:lvl9pPr algn="l">
              <a:buNone/>
              <a:defRPr sz="1800">
                <a:solidFill>
                  <a:srgbClr val="3357B8"/>
                </a:solidFill>
                <a:latin typeface="Helvetica Neue Medium"/>
                <a:ea typeface="Helvetica Neue Medium"/>
                <a:cs typeface="Helvetica Neue Medium"/>
              </a:defRPr>
            </a:lvl9pPr>
          </a:lstStyle>
          <a:p xmlns:a="http://schemas.openxmlformats.org/drawingml/2006/main">
            <a:pPr marL="0" marR="0" lvl="0" indent="0" algn="l" defTabSz="914400">
              <a:lnSpc>
                <a:spcPct val="114000"/>
              </a:lnSpc>
              <a:spcBef>
                <a:spcPts val="0"/>
              </a:spcBef>
              <a:spcAft>
                <a:spcPts val="800"/>
              </a:spcAft>
              <a:buClrTx/>
              <a:buSzTx/>
              <a:buFontTx/>
              <a:buNone/>
              <a:defRPr sz="1800">
                <a:solidFill>
                  <a:srgbClr val="3357B8"/>
                </a:solidFill>
                <a:latin typeface="Helvetica Neue Medium"/>
                <a:ea typeface="Helvetica Neue Medium"/>
                <a:cs typeface="Helvetica Neue Medium"/>
              </a:defRPr>
            </a:pPr>
            <a:r>
              <a:rPr sz="1800" b="0" i="0" u="none" strike="noStrike" cap="none" spc="0" baseline="0">
                <a:ln>
                  <a:noFill/>
                </a:ln>
                <a:solidFill>
                  <a:srgbClr val="3357B8"/>
                </a:solidFill>
                <a:latin typeface="Helvetica Neue Medium"/>
                <a:ea typeface="Helvetica Neue Medium"/>
                <a:cs typeface="Helvetica Neue Medium"/>
              </a:rPr>
              <a:t>BOM below $120</a:t>
            </a:r>
          </a:p>
        </p:txBody>
      </p:sp>
      <p:sp>
        <p:nvSpPr>
          <p:cNvPr id="20" name="Content Placeholder 10">
            <a:extLst xmlns:a="http://schemas.openxmlformats.org/drawingml/2006/main">
              <a:ext uri="{FF2B5EF4-FFF2-40B4-BE49-F238E27FC236}">
                <a16:creationId xmlns:a16="http://schemas.microsoft.com/office/drawing/2014/main" id="{91E87E4E-34C4-73A3-D9B4-5528035E3F32}"/>
              </a:ext>
            </a:extLst>
          </p:cNvPr>
          <p:cNvSpPr>
            <a:spLocks xmlns:a="http://schemas.openxmlformats.org/drawingml/2006/main" noGrp="1"/>
          </p:cNvSpPr>
          <p:nvPr/>
        </p:nvSpPr>
        <p:spPr>
          <a:xfrm xmlns:a="http://schemas.openxmlformats.org/drawingml/2006/main">
            <a:off x="6558438" y="5094931"/>
            <a:ext cx="4986886" cy="59753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defRPr sz="1600">
                <a:solidFill>
                  <a:srgbClr val="000000"/>
                </a:solidFill>
                <a:latin typeface="Helvetica Neue"/>
                <a:ea typeface="Helvetica Neue"/>
                <a:cs typeface="Helvetica Neue"/>
              </a:defRPr>
            </a:pPr>
            <a:r>
              <a:rPr sz="1600" b="0" i="0" u="none" strike="noStrike" cap="none" spc="0" baseline="0">
                <a:ln>
                  <a:noFill/>
                </a:ln>
                <a:solidFill>
                  <a:srgbClr val="000000"/>
                </a:solidFill>
                <a:latin typeface="Helvetica Neue"/>
                <a:ea typeface="Helvetica Neue"/>
                <a:cs typeface="Helvetica Neue"/>
              </a:rPr>
              <a:t>Hypothesis: ≤4 supervised hours for basic cue interpretation. Assess route competency separately.</a:t>
            </a:r>
          </a:p>
        </p:txBody>
      </p:sp>
      <p:sp>
        <p:nvSpPr>
          <p:cNvPr id="21" name="TextBox 20">
            <a:extLst xmlns:a="http://schemas.openxmlformats.org/drawingml/2006/main">
              <a:ext uri="{FF2B5EF4-FFF2-40B4-BE49-F238E27FC236}">
                <a16:creationId xmlns:a16="http://schemas.microsoft.com/office/drawing/2014/main" id="{4BBBD727-79F1-2502-A083-A18F5A754163}"/>
              </a:ext>
            </a:extLst>
          </p:cNvPr>
          <p:cNvSpPr>
            <a:spLocks xmlns:a="http://schemas.openxmlformats.org/drawingml/2006/main" noGrp="1"/>
          </p:cNvSpPr>
          <p:nvPr/>
        </p:nvSpPr>
        <p:spPr>
          <a:xfrm xmlns:a="http://schemas.openxmlformats.org/drawingml/2006/main">
            <a:off x="6555127" y="4637848"/>
            <a:ext cx="4986886" cy="312725"/>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lgn="l">
              <a:defRPr sz="1800">
                <a:solidFill>
                  <a:srgbClr val="3357B8"/>
                </a:solidFill>
                <a:latin typeface="Helvetica Neue Medium"/>
                <a:ea typeface="Helvetica Neue Medium"/>
                <a:cs typeface="Helvetica Neue Medium"/>
              </a:defRPr>
            </a:defPPr>
            <a:lvl1pPr algn="l">
              <a:buNone/>
              <a:defRPr sz="1800">
                <a:solidFill>
                  <a:srgbClr val="3357B8"/>
                </a:solidFill>
                <a:latin typeface="Helvetica Neue Medium"/>
                <a:ea typeface="Helvetica Neue Medium"/>
                <a:cs typeface="Helvetica Neue Medium"/>
              </a:defRPr>
            </a:lvl1pPr>
            <a:lvl2pPr algn="l">
              <a:buNone/>
              <a:defRPr sz="1800">
                <a:solidFill>
                  <a:srgbClr val="3357B8"/>
                </a:solidFill>
                <a:latin typeface="Helvetica Neue Medium"/>
                <a:ea typeface="Helvetica Neue Medium"/>
                <a:cs typeface="Helvetica Neue Medium"/>
              </a:defRPr>
            </a:lvl2pPr>
            <a:lvl3pPr algn="l">
              <a:buNone/>
              <a:defRPr sz="1800">
                <a:solidFill>
                  <a:srgbClr val="3357B8"/>
                </a:solidFill>
                <a:latin typeface="Helvetica Neue Medium"/>
                <a:ea typeface="Helvetica Neue Medium"/>
                <a:cs typeface="Helvetica Neue Medium"/>
              </a:defRPr>
            </a:lvl3pPr>
            <a:lvl4pPr algn="l">
              <a:buNone/>
              <a:defRPr sz="1800">
                <a:solidFill>
                  <a:srgbClr val="3357B8"/>
                </a:solidFill>
                <a:latin typeface="Helvetica Neue Medium"/>
                <a:ea typeface="Helvetica Neue Medium"/>
                <a:cs typeface="Helvetica Neue Medium"/>
              </a:defRPr>
            </a:lvl4pPr>
            <a:lvl5pPr algn="l">
              <a:buNone/>
              <a:defRPr sz="1800">
                <a:solidFill>
                  <a:srgbClr val="3357B8"/>
                </a:solidFill>
                <a:latin typeface="Helvetica Neue Medium"/>
                <a:ea typeface="Helvetica Neue Medium"/>
                <a:cs typeface="Helvetica Neue Medium"/>
              </a:defRPr>
            </a:lvl5pPr>
            <a:lvl6pPr algn="l">
              <a:buNone/>
              <a:defRPr sz="1800">
                <a:solidFill>
                  <a:srgbClr val="3357B8"/>
                </a:solidFill>
                <a:latin typeface="Helvetica Neue Medium"/>
                <a:ea typeface="Helvetica Neue Medium"/>
                <a:cs typeface="Helvetica Neue Medium"/>
              </a:defRPr>
            </a:lvl6pPr>
            <a:lvl7pPr algn="l">
              <a:buNone/>
              <a:defRPr sz="1800">
                <a:solidFill>
                  <a:srgbClr val="3357B8"/>
                </a:solidFill>
                <a:latin typeface="Helvetica Neue Medium"/>
                <a:ea typeface="Helvetica Neue Medium"/>
                <a:cs typeface="Helvetica Neue Medium"/>
              </a:defRPr>
            </a:lvl7pPr>
            <a:lvl8pPr algn="l">
              <a:buNone/>
              <a:defRPr sz="1800">
                <a:solidFill>
                  <a:srgbClr val="3357B8"/>
                </a:solidFill>
                <a:latin typeface="Helvetica Neue Medium"/>
                <a:ea typeface="Helvetica Neue Medium"/>
                <a:cs typeface="Helvetica Neue Medium"/>
              </a:defRPr>
            </a:lvl8pPr>
            <a:lvl9pPr algn="l">
              <a:buNone/>
              <a:defRPr sz="1800">
                <a:solidFill>
                  <a:srgbClr val="3357B8"/>
                </a:solidFill>
                <a:latin typeface="Helvetica Neue Medium"/>
                <a:ea typeface="Helvetica Neue Medium"/>
                <a:cs typeface="Helvetica Neue Medium"/>
              </a:defRPr>
            </a:lvl9pPr>
          </a:lstStyle>
          <a:p xmlns:a="http://schemas.openxmlformats.org/drawingml/2006/main">
            <a:pPr marL="0" marR="0" lvl="0" indent="0" algn="l" defTabSz="914400">
              <a:lnSpc>
                <a:spcPct val="114000"/>
              </a:lnSpc>
              <a:spcBef>
                <a:spcPts val="0"/>
              </a:spcBef>
              <a:spcAft>
                <a:spcPts val="800"/>
              </a:spcAft>
              <a:buClrTx/>
              <a:buSzTx/>
              <a:buFontTx/>
              <a:buNone/>
              <a:defRPr sz="1800">
                <a:solidFill>
                  <a:srgbClr val="3357B8"/>
                </a:solidFill>
                <a:latin typeface="Helvetica Neue Medium"/>
                <a:ea typeface="Helvetica Neue Medium"/>
                <a:cs typeface="Helvetica Neue Medium"/>
              </a:defRPr>
            </a:pPr>
            <a:r>
              <a:rPr sz="1800" b="0" i="0" u="none" strike="noStrike" cap="none" spc="0" baseline="0">
                <a:ln>
                  <a:noFill/>
                </a:ln>
                <a:solidFill>
                  <a:srgbClr val="3357B8"/>
                </a:solidFill>
                <a:latin typeface="Helvetica Neue Medium"/>
                <a:ea typeface="Helvetica Neue Medium"/>
                <a:cs typeface="Helvetica Neue Medium"/>
              </a:rPr>
              <a:t>Adaptation hours</a:t>
            </a:r>
          </a:p>
        </p:txBody>
      </p:sp>
    </p:spTree>
    <p:extLst>
      <p:ext uri="{BB962C8B-B14F-4D97-AF65-F5344CB8AC3E}">
        <p14:creationId xmlns:p14="http://schemas.microsoft.com/office/powerpoint/2010/main" val="217953532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CCB27A2-1D9F-6514-0821-C7CC3F675523}"/>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6</a:t>
            </a:fld>
            <a:endParaRPr/>
          </a:p>
        </p:txBody>
      </p:sp>
      <p:sp>
        <p:nvSpPr>
          <p:cNvPr id="10" name="Rounded Rectangle 9">
            <a:extLst xmlns:a="http://schemas.openxmlformats.org/drawingml/2006/main">
              <a:ext uri="{FF2B5EF4-FFF2-40B4-BE49-F238E27FC236}">
                <a16:creationId xmlns:a16="http://schemas.microsoft.com/office/drawing/2014/main" id="{8B4C5563-C118-E2D4-2A1A-F84171FF9E48}"/>
              </a:ext>
            </a:extLst>
          </p:cNvPr>
          <p:cNvSpPr>
            <a:spLocks xmlns:a="http://schemas.openxmlformats.org/drawingml/2006/main" noGrp="1"/>
          </p:cNvSpPr>
          <p:nvPr/>
        </p:nvSpPr>
        <p:spPr>
          <a:xfrm xmlns:a="http://schemas.openxmlformats.org/drawingml/2006/main">
            <a:off x="4308953" y="3365501"/>
            <a:ext cx="3568700" cy="26289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1" name="Rounded Rectangle 10">
            <a:extLst xmlns:a="http://schemas.openxmlformats.org/drawingml/2006/main">
              <a:ext uri="{FF2B5EF4-FFF2-40B4-BE49-F238E27FC236}">
                <a16:creationId xmlns:a16="http://schemas.microsoft.com/office/drawing/2014/main" id="{87EC77EB-07E7-2818-9132-6416EC5EFF5D}"/>
              </a:ext>
            </a:extLst>
          </p:cNvPr>
          <p:cNvSpPr>
            <a:spLocks xmlns:a="http://schemas.openxmlformats.org/drawingml/2006/main" noGrp="1"/>
          </p:cNvSpPr>
          <p:nvPr/>
        </p:nvSpPr>
        <p:spPr>
          <a:xfrm xmlns:a="http://schemas.openxmlformats.org/drawingml/2006/main">
            <a:off x="8229600" y="3365501"/>
            <a:ext cx="3568700" cy="26289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2" name="Content Placeholder 9">
            <a:extLst xmlns:a="http://schemas.openxmlformats.org/drawingml/2006/main">
              <a:ext uri="{FF2B5EF4-FFF2-40B4-BE49-F238E27FC236}">
                <a16:creationId xmlns:a16="http://schemas.microsoft.com/office/drawing/2014/main" id="{14F9DBD7-0427-326B-17D5-5DD215C447E9}"/>
              </a:ext>
            </a:extLst>
          </p:cNvPr>
          <p:cNvSpPr>
            <a:spLocks xmlns:a="http://schemas.openxmlformats.org/drawingml/2006/main" noGrp="1"/>
          </p:cNvSpPr>
          <p:nvPr/>
        </p:nvSpPr>
        <p:spPr>
          <a:xfrm xmlns:a="http://schemas.openxmlformats.org/drawingml/2006/main">
            <a:off x="4621821"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defPPr algn="l">
              <a:defRPr sz="1600">
                <a:solidFill>
                  <a:srgbClr val="3357B8"/>
                </a:solidFill>
                <a:latin typeface="Roboto Medium"/>
                <a:ea typeface="Roboto Medium"/>
                <a:cs typeface="Roboto Medium"/>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Aft>
                <a:spcPts val="800"/>
              </a:spcAft>
              <a:buNone/>
              <a:defRPr sz="1600">
                <a:solidFill>
                  <a:srgbClr val="3357B8"/>
                </a:solidFill>
                <a:latin typeface="Roboto Medium"/>
                <a:ea typeface="Roboto Medium"/>
                <a:cs typeface="Roboto Medium"/>
              </a:defRPr>
            </a:pPr>
            <a:r>
              <a:rPr>
                <a:solidFill>
                  <a:srgbClr val="3357B8"/>
                </a:solidFill>
                <a:latin typeface="Roboto Medium"/>
                <a:ea typeface="Roboto Medium"/>
                <a:cs typeface="Roboto Medium"/>
              </a:rPr>
              <a:t>Physical displacement</a:t>
            </a:r>
          </a:p>
          <a:p xmlns:a="http://schemas.openxmlformats.org/drawingml/2006/main">
            <a:pPr marL="0" indent="0" algn="l">
              <a:buNone/>
              <a:defRPr sz="1600">
                <a:solidFill>
                  <a:srgbClr val="3357B8"/>
                </a:solidFill>
                <a:latin typeface="Roboto Medium"/>
                <a:ea typeface="Roboto Medium"/>
                <a:cs typeface="Roboto Medium"/>
              </a:defRPr>
            </a:pPr>
            <a:r>
              <a:rPr b="0">
                <a:solidFill>
                  <a:srgbClr val="000000"/>
                </a:solidFill>
                <a:latin typeface="Roboto"/>
                <a:ea typeface="Roboto"/>
                <a:cs typeface="Roboto"/>
              </a:rPr>
              <a:t>Test sustained recognition versus vibration. Build consent-based user and navigation evidence.</a:t>
            </a:r>
          </a:p>
        </p:txBody>
      </p:sp>
      <p:sp>
        <p:nvSpPr>
          <p:cNvPr id="13" name="Content Placeholder 10">
            <a:extLst xmlns:a="http://schemas.openxmlformats.org/drawingml/2006/main">
              <a:ext uri="{FF2B5EF4-FFF2-40B4-BE49-F238E27FC236}">
                <a16:creationId xmlns:a16="http://schemas.microsoft.com/office/drawing/2014/main" id="{A81FFF27-06E1-B925-B772-E8C07A029EE7}"/>
              </a:ext>
            </a:extLst>
          </p:cNvPr>
          <p:cNvSpPr>
            <a:spLocks xmlns:a="http://schemas.openxmlformats.org/drawingml/2006/main" noGrp="1"/>
          </p:cNvSpPr>
          <p:nvPr/>
        </p:nvSpPr>
        <p:spPr>
          <a:xfrm xmlns:a="http://schemas.openxmlformats.org/drawingml/2006/main">
            <a:off x="853609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defPPr algn="l">
              <a:defRPr sz="1600">
                <a:solidFill>
                  <a:srgbClr val="3357B8"/>
                </a:solidFill>
                <a:latin typeface="Roboto Medium"/>
                <a:ea typeface="Roboto Medium"/>
                <a:cs typeface="Roboto Medium"/>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Aft>
                <a:spcPts val="800"/>
              </a:spcAft>
              <a:buNone/>
              <a:defRPr sz="1600">
                <a:solidFill>
                  <a:srgbClr val="3357B8"/>
                </a:solidFill>
                <a:latin typeface="Roboto Medium"/>
                <a:ea typeface="Roboto Medium"/>
                <a:cs typeface="Roboto Medium"/>
              </a:defRPr>
            </a:pPr>
            <a:r>
              <a:rPr>
                <a:solidFill>
                  <a:srgbClr val="3357B8"/>
                </a:solidFill>
                <a:latin typeface="Roboto Medium"/>
                <a:ea typeface="Roboto Medium"/>
                <a:cs typeface="Roboto Medium"/>
              </a:rPr>
              <a:t>Frugal supply chain</a:t>
            </a:r>
          </a:p>
          <a:p xmlns:a="http://schemas.openxmlformats.org/drawingml/2006/main">
            <a:pPr marL="0" indent="0" algn="l">
              <a:buNone/>
              <a:defRPr sz="1600">
                <a:solidFill>
                  <a:srgbClr val="3357B8"/>
                </a:solidFill>
                <a:latin typeface="Roboto Medium"/>
                <a:ea typeface="Roboto Medium"/>
                <a:cs typeface="Roboto Medium"/>
              </a:defRPr>
            </a:pPr>
            <a:r>
              <a:rPr b="0">
                <a:solidFill>
                  <a:srgbClr val="000000"/>
                </a:solidFill>
                <a:latin typeface="Roboto"/>
                <a:ea typeface="Roboto"/>
                <a:cs typeface="Roboto"/>
              </a:rPr>
              <a:t>Design for local assembly, modular repair and alternate suppliers. Build trusted NGO access.</a:t>
            </a:r>
          </a:p>
        </p:txBody>
      </p:sp>
      <p:sp>
        <p:nvSpPr>
          <p:cNvPr id="14" name="Google Shape;340;p61">
            <a:extLst xmlns:a="http://schemas.openxmlformats.org/drawingml/2006/main">
              <a:ext uri="{FF2B5EF4-FFF2-40B4-BE49-F238E27FC236}">
                <a16:creationId xmlns:a16="http://schemas.microsoft.com/office/drawing/2014/main" id="{D182FC54-B4D0-2FD9-7909-F4321F70186F}"/>
              </a:ext>
            </a:extLst>
          </p:cNvPr>
          <p:cNvSpPr>
            <a:spLocks xmlns:a="http://schemas.openxmlformats.org/drawingml/2006/main" noGrp="1"/>
          </p:cNvSpPr>
          <p:nvPr/>
        </p:nvSpPr>
        <p:spPr>
          <a:xfrm xmlns:a="http://schemas.openxmlformats.org/drawingml/2006/main">
            <a:off x="46276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5" name="Google Shape;340;p61">
            <a:extLst xmlns:a="http://schemas.openxmlformats.org/drawingml/2006/main">
              <a:ext uri="{FF2B5EF4-FFF2-40B4-BE49-F238E27FC236}">
                <a16:creationId xmlns:a16="http://schemas.microsoft.com/office/drawing/2014/main" id="{12304657-C94E-6AEC-95B3-FF04FD52D51C}"/>
              </a:ext>
            </a:extLst>
          </p:cNvPr>
          <p:cNvSpPr>
            <a:spLocks xmlns:a="http://schemas.openxmlformats.org/drawingml/2006/main" noGrp="1"/>
          </p:cNvSpPr>
          <p:nvPr/>
        </p:nvSpPr>
        <p:spPr>
          <a:xfrm xmlns:a="http://schemas.openxmlformats.org/drawingml/2006/main">
            <a:off x="8533270" y="3694102"/>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 name="Footer Placeholder 1">
            <a:extLst xmlns:a="http://schemas.openxmlformats.org/drawingml/2006/main">
              <a:ext uri="{FF2B5EF4-FFF2-40B4-BE49-F238E27FC236}">
                <a16:creationId xmlns:a16="http://schemas.microsoft.com/office/drawing/2014/main" id="{7FAC9A03-119F-393D-2295-2587BE7C4F73}"/>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4" name="Title 3">
            <a:extLst xmlns:a="http://schemas.openxmlformats.org/drawingml/2006/main">
              <a:ext uri="{FF2B5EF4-FFF2-40B4-BE49-F238E27FC236}">
                <a16:creationId xmlns:a16="http://schemas.microsoft.com/office/drawing/2014/main" id="{2F7C895E-DE9C-ED5D-5936-715D047B60E4}"/>
              </a:ext>
            </a:extLst>
          </p:cNvPr>
          <p:cNvSpPr>
            <a:spLocks xmlns:a="http://schemas.openxmlformats.org/drawingml/2006/main" noGrp="1"/>
          </p:cNvSpPr>
          <p:nvPr>
            <p:ph type="title" idx="0"/>
          </p:nvPr>
        </p:nvSpPr>
        <p:spPr>
          <a:xfrm xmlns:a="http://schemas.openxmlformats.org/drawingml/2006/main">
            <a:off x="393700" y="344008"/>
            <a:ext cx="11404600" cy="755665"/>
          </a:xfrm>
        </p:spPr>
        <p:txBody>
          <a:bodyPr xmlns:a="http://schemas.openxmlformats.org/drawingml/2006/main">
            <a:noAutofit/>
          </a:bodyPr>
          <a:lstStyle xmlns:a="http://schemas.openxmlformats.org/drawingml/2006/main">
            <a:defPPr algn="l">
              <a:defRPr sz="2900" b="1">
                <a:solidFill>
                  <a:srgbClr val="3357B8"/>
                </a:solidFill>
                <a:latin typeface="Lora SemiBold"/>
                <a:ea typeface="Lora SemiBold"/>
                <a:cs typeface="Lora SemiBold"/>
              </a:defRPr>
            </a:defPPr>
            <a:lvl1pPr algn="l">
              <a:buNone/>
              <a:defRPr sz="2900" b="1">
                <a:solidFill>
                  <a:srgbClr val="3357B8"/>
                </a:solidFill>
                <a:latin typeface="Lora SemiBold"/>
                <a:ea typeface="Lora SemiBold"/>
                <a:cs typeface="Lora SemiBold"/>
              </a:defRPr>
            </a:lvl1pPr>
            <a:lvl2pPr algn="l">
              <a:buNone/>
              <a:defRPr sz="2900" b="1">
                <a:solidFill>
                  <a:srgbClr val="3357B8"/>
                </a:solidFill>
                <a:latin typeface="Lora SemiBold"/>
                <a:ea typeface="Lora SemiBold"/>
                <a:cs typeface="Lora SemiBold"/>
              </a:defRPr>
            </a:lvl2pPr>
            <a:lvl3pPr algn="l">
              <a:buNone/>
              <a:defRPr sz="2900" b="1">
                <a:solidFill>
                  <a:srgbClr val="3357B8"/>
                </a:solidFill>
                <a:latin typeface="Lora SemiBold"/>
                <a:ea typeface="Lora SemiBold"/>
                <a:cs typeface="Lora SemiBold"/>
              </a:defRPr>
            </a:lvl3pPr>
            <a:lvl4pPr algn="l">
              <a:buNone/>
              <a:defRPr sz="2900" b="1">
                <a:solidFill>
                  <a:srgbClr val="3357B8"/>
                </a:solidFill>
                <a:latin typeface="Lora SemiBold"/>
                <a:ea typeface="Lora SemiBold"/>
                <a:cs typeface="Lora SemiBold"/>
              </a:defRPr>
            </a:lvl4pPr>
            <a:lvl5pPr algn="l">
              <a:buNone/>
              <a:defRPr sz="2900" b="1">
                <a:solidFill>
                  <a:srgbClr val="3357B8"/>
                </a:solidFill>
                <a:latin typeface="Lora SemiBold"/>
                <a:ea typeface="Lora SemiBold"/>
                <a:cs typeface="Lora SemiBold"/>
              </a:defRPr>
            </a:lvl5pPr>
            <a:lvl6pPr algn="l">
              <a:buNone/>
              <a:defRPr sz="2900" b="1">
                <a:solidFill>
                  <a:srgbClr val="3357B8"/>
                </a:solidFill>
                <a:latin typeface="Lora SemiBold"/>
                <a:ea typeface="Lora SemiBold"/>
                <a:cs typeface="Lora SemiBold"/>
              </a:defRPr>
            </a:lvl6pPr>
            <a:lvl7pPr algn="l">
              <a:buNone/>
              <a:defRPr sz="2900" b="1">
                <a:solidFill>
                  <a:srgbClr val="3357B8"/>
                </a:solidFill>
                <a:latin typeface="Lora SemiBold"/>
                <a:ea typeface="Lora SemiBold"/>
                <a:cs typeface="Lora SemiBold"/>
              </a:defRPr>
            </a:lvl7pPr>
            <a:lvl8pPr algn="l">
              <a:buNone/>
              <a:defRPr sz="2900" b="1">
                <a:solidFill>
                  <a:srgbClr val="3357B8"/>
                </a:solidFill>
                <a:latin typeface="Lora SemiBold"/>
                <a:ea typeface="Lora SemiBold"/>
                <a:cs typeface="Lora SemiBold"/>
              </a:defRPr>
            </a:lvl8pPr>
            <a:lvl9pPr algn="l">
              <a:buNone/>
              <a:defRPr sz="2900" b="1">
                <a:solidFill>
                  <a:srgbClr val="3357B8"/>
                </a:solidFill>
                <a:latin typeface="Lora SemiBold"/>
                <a:ea typeface="Lora SemiBold"/>
                <a:cs typeface="Lora SemiBold"/>
              </a:defRPr>
            </a:lvl9pPr>
          </a:lstStyle>
          <a:p xmlns:a="http://schemas.openxmlformats.org/drawingml/2006/main">
            <a:pPr algn="l">
              <a:buNone/>
              <a:defRPr sz="2900" b="1">
                <a:solidFill>
                  <a:srgbClr val="3357B8"/>
                </a:solidFill>
                <a:latin typeface="Lora SemiBold"/>
                <a:ea typeface="Lora SemiBold"/>
                <a:cs typeface="Lora SemiBold"/>
              </a:defRPr>
            </a:pPr>
            <a:r>
              <a:rPr sz="2900" b="1">
                <a:solidFill>
                  <a:srgbClr val="3357B8"/>
                </a:solidFill>
                <a:latin typeface="Lora SemiBold"/>
                <a:ea typeface="Lora SemiBold"/>
                <a:cs typeface="Lora SemiBold"/>
              </a:rPr>
              <a:t>9. Unfair advantage</a:t>
            </a:r>
          </a:p>
        </p:txBody>
      </p:sp>
      <p:sp>
        <p:nvSpPr>
          <p:cNvPr id="5" name="Rounded Rectangle 4">
            <a:extLst xmlns:a="http://schemas.openxmlformats.org/drawingml/2006/main">
              <a:ext uri="{FF2B5EF4-FFF2-40B4-BE49-F238E27FC236}">
                <a16:creationId xmlns:a16="http://schemas.microsoft.com/office/drawing/2014/main" id="{E49F3E50-E7DD-037F-1687-7A3A08473928}"/>
              </a:ext>
            </a:extLst>
          </p:cNvPr>
          <p:cNvSpPr>
            <a:spLocks xmlns:a="http://schemas.openxmlformats.org/drawingml/2006/main" noGrp="1"/>
          </p:cNvSpPr>
          <p:nvPr/>
        </p:nvSpPr>
        <p:spPr>
          <a:xfrm xmlns:a="http://schemas.openxmlformats.org/drawingml/2006/main">
            <a:off x="422753" y="3365501"/>
            <a:ext cx="3568700" cy="26289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6" name="Content Placeholder 9">
            <a:extLst xmlns:a="http://schemas.openxmlformats.org/drawingml/2006/main">
              <a:ext uri="{FF2B5EF4-FFF2-40B4-BE49-F238E27FC236}">
                <a16:creationId xmlns:a16="http://schemas.microsoft.com/office/drawing/2014/main" id="{895137EF-1168-9543-8134-200AA74D8FBB}"/>
              </a:ext>
            </a:extLst>
          </p:cNvPr>
          <p:cNvSpPr>
            <a:spLocks xmlns:a="http://schemas.openxmlformats.org/drawingml/2006/main" noGrp="1"/>
          </p:cNvSpPr>
          <p:nvPr/>
        </p:nvSpPr>
        <p:spPr>
          <a:xfrm xmlns:a="http://schemas.openxmlformats.org/drawingml/2006/main">
            <a:off x="735621"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defPPr algn="l">
              <a:defRPr sz="1600">
                <a:solidFill>
                  <a:srgbClr val="3357B8"/>
                </a:solidFill>
                <a:latin typeface="Roboto Medium"/>
                <a:ea typeface="Roboto Medium"/>
                <a:cs typeface="Roboto Medium"/>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spcAft>
                <a:spcPts val="800"/>
              </a:spcAft>
              <a:buNone/>
              <a:defRPr sz="1600">
                <a:solidFill>
                  <a:srgbClr val="3357B8"/>
                </a:solidFill>
                <a:latin typeface="Roboto Medium"/>
                <a:ea typeface="Roboto Medium"/>
                <a:cs typeface="Roboto Medium"/>
              </a:defRPr>
            </a:pPr>
            <a:r>
              <a:rPr>
                <a:solidFill>
                  <a:srgbClr val="3357B8"/>
                </a:solidFill>
                <a:latin typeface="Roboto Medium"/>
                <a:ea typeface="Roboto Medium"/>
                <a:cs typeface="Roboto Medium"/>
              </a:rPr>
              <a:t>Corridor implementation</a:t>
            </a:r>
          </a:p>
          <a:p xmlns:a="http://schemas.openxmlformats.org/drawingml/2006/main">
            <a:pPr marL="0" indent="0" algn="l">
              <a:buNone/>
              <a:defRPr sz="1600">
                <a:solidFill>
                  <a:srgbClr val="3357B8"/>
                </a:solidFill>
                <a:latin typeface="Roboto Medium"/>
                <a:ea typeface="Roboto Medium"/>
                <a:cs typeface="Roboto Medium"/>
              </a:defRPr>
            </a:pPr>
            <a:r>
              <a:rPr b="0">
                <a:solidFill>
                  <a:srgbClr val="000000"/>
                </a:solidFill>
                <a:latin typeface="Roboto"/>
                <a:ea typeface="Roboto"/>
                <a:cs typeface="Roboto"/>
              </a:rPr>
              <a:t>Protect fusion, calibration and tactile encoding. RANSAC itself is an established method.</a:t>
            </a:r>
          </a:p>
        </p:txBody>
      </p:sp>
      <p:sp>
        <p:nvSpPr>
          <p:cNvPr id="7" name="Google Shape;340;p61">
            <a:extLst xmlns:a="http://schemas.openxmlformats.org/drawingml/2006/main">
              <a:ext uri="{FF2B5EF4-FFF2-40B4-BE49-F238E27FC236}">
                <a16:creationId xmlns:a16="http://schemas.microsoft.com/office/drawing/2014/main" id="{A926CAA1-5F44-3769-A410-E058BAEE3B13}"/>
              </a:ext>
            </a:extLst>
          </p:cNvPr>
          <p:cNvSpPr>
            <a:spLocks xmlns:a="http://schemas.openxmlformats.org/drawingml/2006/main" noGrp="1"/>
          </p:cNvSpPr>
          <p:nvPr/>
        </p:nvSpPr>
        <p:spPr>
          <a:xfrm xmlns:a="http://schemas.openxmlformats.org/drawingml/2006/main">
            <a:off x="7414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7" name="Google Shape;534;p58">
            <a:extLst xmlns:a="http://schemas.openxmlformats.org/drawingml/2006/main">
              <a:ext uri="{FF2B5EF4-FFF2-40B4-BE49-F238E27FC236}">
                <a16:creationId xmlns:a16="http://schemas.microsoft.com/office/drawing/2014/main" id="{208EF3D1-5C57-8D4F-49C8-21BD74420786}"/>
              </a:ext>
            </a:extLst>
          </p:cNvPr>
          <p:cNvSpPr>
            <a:spLocks xmlns:a="http://schemas.openxmlformats.org/drawingml/2006/main" noGrp="1"/>
          </p:cNvSpPr>
          <p:nvPr/>
        </p:nvSpPr>
        <p:spPr>
          <a:xfrm xmlns:a="http://schemas.openxmlformats.org/drawingml/2006/main">
            <a:off x="393700" y="1820543"/>
            <a:ext cx="11404600" cy="132661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7Sense already uses physical forehead pixels. Ally Vision must prove an advantage in affordability, usability and local support. At $399, its target price is about 10% of the supplied $4,000 benchmark.</a:t>
            </a:r>
          </a:p>
          <a:p xmlns:a="http://schemas.openxmlformats.org/drawingml/2006/main">
            <a:pPr marL="0" indent="0" algn="l">
              <a:lnSpc>
                <a:spcPct val="114000"/>
              </a:lnSpc>
              <a:spcBef>
                <a:spcPts val="0"/>
              </a:spcBef>
              <a:spcAft>
                <a:spcPts val="800"/>
              </a:spcAft>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An Estonian retailer lists 7Sense at €5,995. Feature and service scope differ.</a:t>
            </a:r>
          </a:p>
        </p:txBody>
      </p:sp>
      <p:sp>
        <p:nvSpPr>
          <p:cNvPr id="18" name="Google Shape;534;p58">
            <a:extLst xmlns:a="http://schemas.openxmlformats.org/drawingml/2006/main">
              <a:ext uri="{FF2B5EF4-FFF2-40B4-BE49-F238E27FC236}">
                <a16:creationId xmlns:a16="http://schemas.microsoft.com/office/drawing/2014/main" id="{93CCF932-231F-7EA0-6520-FFB192B4EFA5}"/>
              </a:ext>
            </a:extLst>
          </p:cNvPr>
          <p:cNvSpPr>
            <a:spLocks xmlns:a="http://schemas.openxmlformats.org/drawingml/2006/main" noGrp="1"/>
          </p:cNvSpPr>
          <p:nvPr/>
        </p:nvSpPr>
        <p:spPr>
          <a:xfrm xmlns:a="http://schemas.openxmlformats.org/drawingml/2006/main">
            <a:off x="393699" y="1318016"/>
            <a:ext cx="11404599"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000">
                <a:solidFill>
                  <a:srgbClr val="000000"/>
                </a:solidFill>
                <a:latin typeface="Lora"/>
                <a:ea typeface="Lora"/>
                <a:cs typeface="Lora"/>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2000">
                <a:solidFill>
                  <a:srgbClr val="000000"/>
                </a:solidFill>
                <a:latin typeface="Lora"/>
                <a:ea typeface="Lora"/>
                <a:cs typeface="Lora"/>
              </a:defRPr>
            </a:pPr>
            <a:r>
              <a:rPr sz="2000">
                <a:solidFill>
                  <a:srgbClr val="000000"/>
                </a:solidFill>
                <a:latin typeface="Lora"/>
                <a:ea typeface="Lora"/>
                <a:cs typeface="Lora"/>
              </a:rPr>
              <a:t>Defensibility must extend beyond the core algorithm</a:t>
            </a:r>
            <a:endParaRPr sz="2000">
              <a:latin typeface="+mj-lt"/>
              <a:ea typeface="+mj-lt"/>
              <a:cs typeface="+mj-lt"/>
            </a:endParaRPr>
          </a:p>
        </p:txBody>
      </p:sp>
    </p:spTree>
    <p:extLst>
      <p:ext uri="{BB962C8B-B14F-4D97-AF65-F5344CB8AC3E}">
        <p14:creationId xmlns:p14="http://schemas.microsoft.com/office/powerpoint/2010/main" val="156618307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C936F667-D10C-5292-AA3B-96BE2CAC84D9}"/>
              </a:ext>
            </a:extLst>
          </p:cNvPr>
          <p:cNvSpPr>
            <a:spLocks xmlns:a="http://schemas.openxmlformats.org/drawingml/2006/main" noGrp="1"/>
          </p:cNvSpPr>
          <p:nvPr>
            <p:ph idx="1"/>
          </p:nvPr>
        </p:nvSpPr>
        <p:spPr>
          <a:xfrm xmlns:a="http://schemas.openxmlformats.org/drawingml/2006/main">
            <a:off x="393700" y="2192694"/>
            <a:ext cx="5537200" cy="380170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400">
                <a:solidFill>
                  <a:srgbClr val="000000"/>
                </a:solidFill>
                <a:latin typeface="Roboto"/>
                <a:ea typeface="Roboto"/>
                <a:cs typeface="Roboto"/>
              </a:defRPr>
            </a:defPPr>
            <a:lvl1pPr algn="l">
              <a:buNone/>
              <a:defRPr sz="1400">
                <a:solidFill>
                  <a:srgbClr val="000000"/>
                </a:solidFill>
                <a:latin typeface="Roboto"/>
                <a:ea typeface="Roboto"/>
                <a:cs typeface="Roboto"/>
              </a:defRPr>
            </a:lvl1pPr>
            <a:lvl2pPr algn="l">
              <a:buNone/>
              <a:defRPr sz="1400">
                <a:solidFill>
                  <a:srgbClr val="000000"/>
                </a:solidFill>
                <a:latin typeface="Roboto"/>
                <a:ea typeface="Roboto"/>
                <a:cs typeface="Roboto"/>
              </a:defRPr>
            </a:lvl2pPr>
            <a:lvl3pPr algn="l">
              <a:buNone/>
              <a:defRPr sz="1400">
                <a:solidFill>
                  <a:srgbClr val="000000"/>
                </a:solidFill>
                <a:latin typeface="Roboto"/>
                <a:ea typeface="Roboto"/>
                <a:cs typeface="Roboto"/>
              </a:defRPr>
            </a:lvl3pPr>
            <a:lvl4pPr algn="l">
              <a:buNone/>
              <a:defRPr sz="1400">
                <a:solidFill>
                  <a:srgbClr val="000000"/>
                </a:solidFill>
                <a:latin typeface="Roboto"/>
                <a:ea typeface="Roboto"/>
                <a:cs typeface="Roboto"/>
              </a:defRPr>
            </a:lvl4pPr>
            <a:lvl5pPr algn="l">
              <a:buNone/>
              <a:defRPr sz="1400">
                <a:solidFill>
                  <a:srgbClr val="000000"/>
                </a:solidFill>
                <a:latin typeface="Roboto"/>
                <a:ea typeface="Roboto"/>
                <a:cs typeface="Roboto"/>
              </a:defRPr>
            </a:lvl5pPr>
            <a:lvl6pPr algn="l">
              <a:buNone/>
              <a:defRPr sz="1400">
                <a:solidFill>
                  <a:srgbClr val="000000"/>
                </a:solidFill>
                <a:latin typeface="Roboto"/>
                <a:ea typeface="Roboto"/>
                <a:cs typeface="Roboto"/>
              </a:defRPr>
            </a:lvl6pPr>
            <a:lvl7pPr algn="l">
              <a:buNone/>
              <a:defRPr sz="1400">
                <a:solidFill>
                  <a:srgbClr val="000000"/>
                </a:solidFill>
                <a:latin typeface="Roboto"/>
                <a:ea typeface="Roboto"/>
                <a:cs typeface="Roboto"/>
              </a:defRPr>
            </a:lvl7pPr>
            <a:lvl8pPr algn="l">
              <a:buNone/>
              <a:defRPr sz="1400">
                <a:solidFill>
                  <a:srgbClr val="000000"/>
                </a:solidFill>
                <a:latin typeface="Roboto"/>
                <a:ea typeface="Roboto"/>
                <a:cs typeface="Roboto"/>
              </a:defRPr>
            </a:lvl8pPr>
            <a:lvl9pPr algn="l">
              <a:buNone/>
              <a:defRPr sz="1400">
                <a:solidFill>
                  <a:srgbClr val="000000"/>
                </a:solidFill>
                <a:latin typeface="Roboto"/>
                <a:ea typeface="Roboto"/>
                <a:cs typeface="Roboto"/>
              </a:defRPr>
            </a:lvl9pPr>
          </a:lstStyle>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Customers: blind adults, institutional buyers and CSR sponsors.</a:t>
            </a:r>
          </a:p>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Value proposition: affordable tactile spatial awareness with ear-free and hands-free operation.</a:t>
            </a:r>
          </a:p>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Channels: NGOs, rehabilitation partners, sponsored cohorts and subsidized direct sales.</a:t>
            </a:r>
          </a:p>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Relationships: fitting, competency-based onboarding, accessible support and follow-up.</a:t>
            </a:r>
          </a:p>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Revenue: hardware, annual maintenance, separately scoped services and development grants.</a:t>
            </a: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7</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55026"/>
            <a:ext cx="7835900" cy="102927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900" b="1">
                <a:solidFill>
                  <a:srgbClr val="3357B8"/>
                </a:solidFill>
                <a:latin typeface="Lora SemiBold"/>
                <a:ea typeface="Lora SemiBold"/>
                <a:cs typeface="Lora SemiBold"/>
              </a:defRPr>
            </a:defPPr>
            <a:lvl1pPr algn="l">
              <a:buNone/>
              <a:defRPr sz="2900" b="1">
                <a:solidFill>
                  <a:srgbClr val="3357B8"/>
                </a:solidFill>
                <a:latin typeface="Lora SemiBold"/>
                <a:ea typeface="Lora SemiBold"/>
                <a:cs typeface="Lora SemiBold"/>
              </a:defRPr>
            </a:lvl1pPr>
            <a:lvl2pPr algn="l">
              <a:buNone/>
              <a:defRPr sz="2900" b="1">
                <a:solidFill>
                  <a:srgbClr val="3357B8"/>
                </a:solidFill>
                <a:latin typeface="Lora SemiBold"/>
                <a:ea typeface="Lora SemiBold"/>
                <a:cs typeface="Lora SemiBold"/>
              </a:defRPr>
            </a:lvl2pPr>
            <a:lvl3pPr algn="l">
              <a:buNone/>
              <a:defRPr sz="2900" b="1">
                <a:solidFill>
                  <a:srgbClr val="3357B8"/>
                </a:solidFill>
                <a:latin typeface="Lora SemiBold"/>
                <a:ea typeface="Lora SemiBold"/>
                <a:cs typeface="Lora SemiBold"/>
              </a:defRPr>
            </a:lvl3pPr>
            <a:lvl4pPr algn="l">
              <a:buNone/>
              <a:defRPr sz="2900" b="1">
                <a:solidFill>
                  <a:srgbClr val="3357B8"/>
                </a:solidFill>
                <a:latin typeface="Lora SemiBold"/>
                <a:ea typeface="Lora SemiBold"/>
                <a:cs typeface="Lora SemiBold"/>
              </a:defRPr>
            </a:lvl4pPr>
            <a:lvl5pPr algn="l">
              <a:buNone/>
              <a:defRPr sz="2900" b="1">
                <a:solidFill>
                  <a:srgbClr val="3357B8"/>
                </a:solidFill>
                <a:latin typeface="Lora SemiBold"/>
                <a:ea typeface="Lora SemiBold"/>
                <a:cs typeface="Lora SemiBold"/>
              </a:defRPr>
            </a:lvl5pPr>
            <a:lvl6pPr algn="l">
              <a:buNone/>
              <a:defRPr sz="2900" b="1">
                <a:solidFill>
                  <a:srgbClr val="3357B8"/>
                </a:solidFill>
                <a:latin typeface="Lora SemiBold"/>
                <a:ea typeface="Lora SemiBold"/>
                <a:cs typeface="Lora SemiBold"/>
              </a:defRPr>
            </a:lvl6pPr>
            <a:lvl7pPr algn="l">
              <a:buNone/>
              <a:defRPr sz="2900" b="1">
                <a:solidFill>
                  <a:srgbClr val="3357B8"/>
                </a:solidFill>
                <a:latin typeface="Lora SemiBold"/>
                <a:ea typeface="Lora SemiBold"/>
                <a:cs typeface="Lora SemiBold"/>
              </a:defRPr>
            </a:lvl7pPr>
            <a:lvl8pPr algn="l">
              <a:buNone/>
              <a:defRPr sz="2900" b="1">
                <a:solidFill>
                  <a:srgbClr val="3357B8"/>
                </a:solidFill>
                <a:latin typeface="Lora SemiBold"/>
                <a:ea typeface="Lora SemiBold"/>
                <a:cs typeface="Lora SemiBold"/>
              </a:defRPr>
            </a:lvl8pPr>
            <a:lvl9pPr algn="l">
              <a:buNone/>
              <a:defRPr sz="2900" b="1">
                <a:solidFill>
                  <a:srgbClr val="3357B8"/>
                </a:solidFill>
                <a:latin typeface="Lora SemiBold"/>
                <a:ea typeface="Lora SemiBold"/>
                <a:cs typeface="Lora SemiBold"/>
              </a:defRPr>
            </a:lvl9pPr>
          </a:lstStyle>
          <a:p xmlns:a="http://schemas.openxmlformats.org/drawingml/2006/main">
            <a:pPr algn="l">
              <a:buNone/>
              <a:defRPr sz="2900" b="1">
                <a:solidFill>
                  <a:srgbClr val="3357B8"/>
                </a:solidFill>
                <a:latin typeface="Lora SemiBold"/>
                <a:ea typeface="Lora SemiBold"/>
                <a:cs typeface="Lora SemiBold"/>
              </a:defRPr>
            </a:pPr>
            <a:r>
              <a:rPr sz="2900" b="1">
                <a:solidFill>
                  <a:srgbClr val="3357B8"/>
                </a:solidFill>
                <a:latin typeface="Lora SemiBold"/>
                <a:ea typeface="Lora SemiBold"/>
                <a:cs typeface="Lora SemiBold"/>
              </a:rPr>
              <a:t>Business Model Canvas</a:t>
            </a:r>
          </a:p>
        </p:txBody>
      </p:sp>
      <p:sp>
        <p:nvSpPr>
          <p:cNvPr id="2" name="Google Shape;534;p58">
            <a:extLst xmlns:a="http://schemas.openxmlformats.org/drawingml/2006/main">
              <a:ext uri="{FF2B5EF4-FFF2-40B4-BE49-F238E27FC236}">
                <a16:creationId xmlns:a16="http://schemas.microsoft.com/office/drawing/2014/main" id="{A4A94F3C-B1B2-7289-7098-7C66C8A291D6}"/>
              </a:ext>
            </a:extLst>
          </p:cNvPr>
          <p:cNvSpPr>
            <a:spLocks xmlns:a="http://schemas.openxmlformats.org/drawingml/2006/main" noGrp="1"/>
          </p:cNvSpPr>
          <p:nvPr/>
        </p:nvSpPr>
        <p:spPr>
          <a:xfrm xmlns:a="http://schemas.openxmlformats.org/drawingml/2006/main">
            <a:off x="6265111" y="2192694"/>
            <a:ext cx="5537200" cy="380170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400">
                <a:solidFill>
                  <a:srgbClr val="000000"/>
                </a:solidFill>
                <a:latin typeface="Roboto"/>
                <a:ea typeface="Roboto"/>
                <a:cs typeface="Roboto"/>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Key resources: hardware designs, Edge AI firmware, engineers, user evidence and working capital.</a:t>
            </a:r>
          </a:p>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Key activities: R&amp;D, clinical/usability testing, manufacturing, calibration, training and repair.</a:t>
            </a:r>
          </a:p>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Key partners: blind-led organizations, mobility instructors, universities, suppliers and CSR funders.</a:t>
            </a:r>
          </a:p>
          <a:p xmlns:a="http://schemas.openxmlformats.org/drawingml/2006/main">
            <a:pPr marL="165100" indent="-88900" algn="l">
              <a:spcAft>
                <a:spcPts val="800"/>
              </a:spcAft>
              <a:buChar char="•"/>
              <a:defRPr sz="1400">
                <a:solidFill>
                  <a:srgbClr val="000000"/>
                </a:solidFill>
                <a:latin typeface="Roboto"/>
                <a:ea typeface="Roboto"/>
                <a:cs typeface="Roboto"/>
              </a:defRPr>
            </a:pPr>
            <a:r>
              <a:rPr sz="1400">
                <a:solidFill>
                  <a:srgbClr val="000000"/>
                </a:solidFill>
                <a:latin typeface="Roboto"/>
                <a:ea typeface="Roboto"/>
                <a:cs typeface="Roboto"/>
              </a:rPr>
              <a:t>Cost structure: components, assembly, logistics, warranty, deployment, R&amp;D, staff and tooling.</a:t>
            </a:r>
          </a:p>
        </p:txBody>
      </p:sp>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3700" y="1310936"/>
            <a:ext cx="5537200" cy="719318"/>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000">
                <a:solidFill>
                  <a:srgbClr val="000000"/>
                </a:solidFill>
                <a:latin typeface="Lora"/>
                <a:ea typeface="Lora"/>
                <a:cs typeface="Lora"/>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2000">
                <a:solidFill>
                  <a:srgbClr val="000000"/>
                </a:solidFill>
                <a:latin typeface="Lora"/>
                <a:ea typeface="Lora"/>
                <a:cs typeface="Lora"/>
              </a:defRPr>
            </a:pPr>
            <a:r>
              <a:rPr sz="2000">
                <a:solidFill>
                  <a:srgbClr val="000000"/>
                </a:solidFill>
                <a:latin typeface="Lora"/>
                <a:ea typeface="Lora"/>
                <a:cs typeface="Lora"/>
              </a:rPr>
              <a:t>Nine blocks for a supported B2B2C business</a:t>
            </a:r>
          </a:p>
        </p:txBody>
      </p:sp>
    </p:spTree>
    <p:extLst>
      <p:ext uri="{BB962C8B-B14F-4D97-AF65-F5344CB8AC3E}">
        <p14:creationId xmlns:p14="http://schemas.microsoft.com/office/powerpoint/2010/main" val="54622172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9EE8A1CA-4617-FF10-E8D0-B582B7F48A83}"/>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13</a:t>
            </a:fld>
            <a:endParaRPr/>
          </a:p>
        </p:txBody>
      </p:sp>
      <p:sp>
        <p:nvSpPr>
          <p:cNvPr id="533" name="Google Shape;533;p58">
            <a:extLst xmlns:a="http://schemas.openxmlformats.org/drawingml/2006/main">
              <a:ext uri="{FF2B5EF4-FFF2-40B4-BE49-F238E27FC236}">
                <a16:creationId xmlns:a16="http://schemas.microsoft.com/office/drawing/2014/main" id="{68499D35-F61B-DF1C-10A6-EA04E8D00662}"/>
              </a:ext>
            </a:extLst>
          </p:cNvPr>
          <p:cNvSpPr>
            <a:spLocks xmlns:a="http://schemas.openxmlformats.org/drawingml/2006/main" noGrp="1"/>
          </p:cNvSpPr>
          <p:nvPr>
            <p:ph type="title" idx="0"/>
          </p:nvPr>
        </p:nvSpPr>
        <p:spPr>
          <a:xfrm xmlns:a="http://schemas.openxmlformats.org/drawingml/2006/main">
            <a:off x="393700" y="344009"/>
            <a:ext cx="11404600" cy="6973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900" b="1">
                <a:solidFill>
                  <a:srgbClr val="3357B8"/>
                </a:solidFill>
                <a:latin typeface="Lora SemiBold"/>
                <a:ea typeface="Lora SemiBold"/>
                <a:cs typeface="Lora SemiBold"/>
              </a:defRPr>
            </a:defPPr>
            <a:lvl1pPr algn="l">
              <a:buNone/>
              <a:defRPr sz="2900" b="1">
                <a:solidFill>
                  <a:srgbClr val="3357B8"/>
                </a:solidFill>
                <a:latin typeface="Lora SemiBold"/>
                <a:ea typeface="Lora SemiBold"/>
                <a:cs typeface="Lora SemiBold"/>
              </a:defRPr>
            </a:lvl1pPr>
            <a:lvl2pPr algn="l">
              <a:buNone/>
              <a:defRPr sz="2900" b="1">
                <a:solidFill>
                  <a:srgbClr val="3357B8"/>
                </a:solidFill>
                <a:latin typeface="Lora SemiBold"/>
                <a:ea typeface="Lora SemiBold"/>
                <a:cs typeface="Lora SemiBold"/>
              </a:defRPr>
            </a:lvl2pPr>
            <a:lvl3pPr algn="l">
              <a:buNone/>
              <a:defRPr sz="2900" b="1">
                <a:solidFill>
                  <a:srgbClr val="3357B8"/>
                </a:solidFill>
                <a:latin typeface="Lora SemiBold"/>
                <a:ea typeface="Lora SemiBold"/>
                <a:cs typeface="Lora SemiBold"/>
              </a:defRPr>
            </a:lvl3pPr>
            <a:lvl4pPr algn="l">
              <a:buNone/>
              <a:defRPr sz="2900" b="1">
                <a:solidFill>
                  <a:srgbClr val="3357B8"/>
                </a:solidFill>
                <a:latin typeface="Lora SemiBold"/>
                <a:ea typeface="Lora SemiBold"/>
                <a:cs typeface="Lora SemiBold"/>
              </a:defRPr>
            </a:lvl4pPr>
            <a:lvl5pPr algn="l">
              <a:buNone/>
              <a:defRPr sz="2900" b="1">
                <a:solidFill>
                  <a:srgbClr val="3357B8"/>
                </a:solidFill>
                <a:latin typeface="Lora SemiBold"/>
                <a:ea typeface="Lora SemiBold"/>
                <a:cs typeface="Lora SemiBold"/>
              </a:defRPr>
            </a:lvl5pPr>
            <a:lvl6pPr algn="l">
              <a:buNone/>
              <a:defRPr sz="2900" b="1">
                <a:solidFill>
                  <a:srgbClr val="3357B8"/>
                </a:solidFill>
                <a:latin typeface="Lora SemiBold"/>
                <a:ea typeface="Lora SemiBold"/>
                <a:cs typeface="Lora SemiBold"/>
              </a:defRPr>
            </a:lvl6pPr>
            <a:lvl7pPr algn="l">
              <a:buNone/>
              <a:defRPr sz="2900" b="1">
                <a:solidFill>
                  <a:srgbClr val="3357B8"/>
                </a:solidFill>
                <a:latin typeface="Lora SemiBold"/>
                <a:ea typeface="Lora SemiBold"/>
                <a:cs typeface="Lora SemiBold"/>
              </a:defRPr>
            </a:lvl7pPr>
            <a:lvl8pPr algn="l">
              <a:buNone/>
              <a:defRPr sz="2900" b="1">
                <a:solidFill>
                  <a:srgbClr val="3357B8"/>
                </a:solidFill>
                <a:latin typeface="Lora SemiBold"/>
                <a:ea typeface="Lora SemiBold"/>
                <a:cs typeface="Lora SemiBold"/>
              </a:defRPr>
            </a:lvl8pPr>
            <a:lvl9pPr algn="l">
              <a:buNone/>
              <a:defRPr sz="2900" b="1">
                <a:solidFill>
                  <a:srgbClr val="3357B8"/>
                </a:solidFill>
                <a:latin typeface="Lora SemiBold"/>
                <a:ea typeface="Lora SemiBold"/>
                <a:cs typeface="Lora SemiBold"/>
              </a:defRPr>
            </a:lvl9pPr>
          </a:lstStyle>
          <a:p xmlns:a="http://schemas.openxmlformats.org/drawingml/2006/main">
            <a:pPr algn="l">
              <a:buNone/>
              <a:defRPr sz="2900" b="1">
                <a:solidFill>
                  <a:srgbClr val="3357B8"/>
                </a:solidFill>
                <a:latin typeface="Lora SemiBold"/>
                <a:ea typeface="Lora SemiBold"/>
                <a:cs typeface="Lora SemiBold"/>
              </a:defRPr>
            </a:pPr>
            <a:r>
              <a:rPr sz="2900" b="1">
                <a:solidFill>
                  <a:srgbClr val="3357B8"/>
                </a:solidFill>
                <a:latin typeface="Lora SemiBold"/>
                <a:ea typeface="Lora SemiBold"/>
                <a:cs typeface="Lora SemiBold"/>
              </a:rPr>
              <a:t>Illustrative development roadmap</a:t>
            </a:r>
            <a:endParaRPr>
              <a:solidFill>
                <a:schemeClr val="accent1"/>
              </a:solidFill>
            </a:endParaRPr>
          </a:p>
        </p:txBody>
      </p:sp>
      <p:graphicFrame>
        <p:nvGraphicFramePr>
          <p:cNvPr id="4" name="Google Shape;953;p80">
            <a:extLst xmlns:a="http://schemas.openxmlformats.org/drawingml/2006/main">
              <a:ext uri="{FF2B5EF4-FFF2-40B4-BE49-F238E27FC236}">
                <a16:creationId xmlns:a16="http://schemas.microsoft.com/office/drawing/2014/main" id="{D2F7F1D5-5D6A-45F2-89F5-AA5D519D9B00}"/>
              </a:ext>
            </a:extLst>
          </p:cNvPr>
          <p:cNvGraphicFramePr/>
          <p:nvPr/>
        </p:nvGraphicFramePr>
        <p:xfrm>
          <a:off xmlns:a="http://schemas.openxmlformats.org/drawingml/2006/main" x="393699" y="1379875"/>
          <a:ext xmlns:a="http://schemas.openxmlformats.org/drawingml/2006/main" cx="11404600" cy="4614525"/>
        </p:xfrm>
        <a:graphic xmlns:a="http://schemas.openxmlformats.org/drawingml/2006/main">
          <a:graphicData uri="http://schemas.openxmlformats.org/drawingml/2006/table">
            <a:tbl>
              <a:tblPr/>
              <a:tblGrid>
                <a:gridCol w="2280920"/>
                <a:gridCol w="2280920"/>
                <a:gridCol w="2280920"/>
                <a:gridCol w="2280920"/>
                <a:gridCol w="2280920"/>
              </a:tblGrid>
              <a:tr h="4614525">
                <a:tc>
                  <a:txBody>
                    <a:bodyPr/>
                    <a:lstStyle/>
                    <a:p>
                      <a:pPr marL="0" lvl="0" indent="0" algn="l">
                        <a:spcBef>
                          <a:spcPts val="0"/>
                        </a:spcBef>
                        <a:spcAft>
                          <a:spcPts val="0"/>
                        </a:spcAft>
                        <a:buNone/>
                      </a:pPr>
                      <a:r>
                        <a:rPr sz="1600">
                          <a:solidFill>
                            <a:schemeClr val="accent2">
                              <a:lumMod val="75000"/>
                            </a:schemeClr>
                          </a:solidFill>
                        </a:rPr>
                        <a:t>Months 0–2</a:t>
                      </a:r>
                      <a:endParaRPr sz="1600">
                        <a:solidFill>
                          <a:schemeClr val="accent2">
                            <a:lumMod val="75000"/>
                          </a:schemeClr>
                        </a:solidFill>
                      </a:endParaRPr>
                    </a:p>
                  </a:txBody>
                  <a:tcPr marL="137150" marR="91425" marT="0" marB="91425">
                    <a:lnL w="12700" cmpd="sng">
                      <a:solidFill>
                        <a:schemeClr val="accent2">
                          <a:lumMod val="75000"/>
                        </a:schemeClr>
                      </a:solidFill>
                      <a:prstDash val="solid"/>
                    </a:lnL>
                    <a:lnR w="12700" cmpd="sng">
                      <a:solidFill>
                        <a:schemeClr val="accent2">
                          <a:lumMod val="75000"/>
                        </a:schemeClr>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accent2">
                              <a:lumMod val="75000"/>
                            </a:schemeClr>
                          </a:solidFill>
                        </a:rPr>
                        <a:t>Months 3–4</a:t>
                      </a:r>
                      <a:endParaRPr sz="1600">
                        <a:solidFill>
                          <a:schemeClr val="accent2">
                            <a:lumMod val="75000"/>
                          </a:schemeClr>
                        </a:solidFill>
                      </a:endParaRPr>
                    </a:p>
                  </a:txBody>
                  <a:tcPr marL="137150" marR="91425" marT="0" marB="91425">
                    <a:lnL w="12700" cmpd="sng">
                      <a:solidFill>
                        <a:schemeClr val="accent2">
                          <a:lumMod val="75000"/>
                        </a:schemeClr>
                      </a:solidFill>
                      <a:prstDash val="solid"/>
                    </a:lnL>
                    <a:lnR w="12700" cmpd="sng">
                      <a:solidFill>
                        <a:schemeClr val="accent2">
                          <a:lumMod val="75000"/>
                        </a:schemeClr>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accent2">
                              <a:lumMod val="75000"/>
                            </a:schemeClr>
                          </a:solidFill>
                        </a:rPr>
                        <a:t>Months 5–6</a:t>
                      </a:r>
                      <a:endParaRPr sz="1600">
                        <a:solidFill>
                          <a:schemeClr val="accent2">
                            <a:lumMod val="75000"/>
                          </a:schemeClr>
                        </a:solidFill>
                      </a:endParaRPr>
                    </a:p>
                  </a:txBody>
                  <a:tcPr marL="137150" marR="91425" marT="0" marB="91425">
                    <a:lnL w="12700" cmpd="sng">
                      <a:solidFill>
                        <a:schemeClr val="accent2">
                          <a:lumMod val="75000"/>
                        </a:schemeClr>
                      </a:solidFill>
                      <a:prstDash val="solid"/>
                    </a:lnL>
                    <a:lnR w="12700" cmpd="sng">
                      <a:solidFill>
                        <a:schemeClr val="accent2">
                          <a:lumMod val="75000"/>
                        </a:schemeClr>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accent2">
                              <a:lumMod val="75000"/>
                            </a:schemeClr>
                          </a:solidFill>
                        </a:rPr>
                        <a:t>Months 7–9</a:t>
                      </a:r>
                      <a:endParaRPr sz="1600">
                        <a:solidFill>
                          <a:schemeClr val="accent2">
                            <a:lumMod val="75000"/>
                          </a:schemeClr>
                        </a:solidFill>
                      </a:endParaRPr>
                    </a:p>
                  </a:txBody>
                  <a:tcPr marL="137150" marR="91425" marT="0" marB="91425">
                    <a:lnL w="12700" cmpd="sng">
                      <a:solidFill>
                        <a:schemeClr val="accent2">
                          <a:lumMod val="75000"/>
                        </a:schemeClr>
                      </a:solidFill>
                      <a:prstDash val="solid"/>
                    </a:lnL>
                    <a:lnR w="12700" cmpd="sng">
                      <a:solidFill>
                        <a:schemeClr val="accent2">
                          <a:lumMod val="75000"/>
                        </a:schemeClr>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accent2">
                              <a:lumMod val="75000"/>
                            </a:schemeClr>
                          </a:solidFill>
                        </a:rPr>
                        <a:t>Months 10–12</a:t>
                      </a:r>
                      <a:endParaRPr sz="1600">
                        <a:solidFill>
                          <a:schemeClr val="accent2">
                            <a:lumMod val="75000"/>
                          </a:schemeClr>
                        </a:solidFill>
                      </a:endParaRPr>
                    </a:p>
                  </a:txBody>
                  <a:tcPr marL="137150" marR="91425" marT="0" marB="91425">
                    <a:lnL w="12700" cmpd="sng">
                      <a:solidFill>
                        <a:schemeClr val="accent2">
                          <a:lumMod val="75000"/>
                        </a:schemeClr>
                      </a:solidFill>
                      <a:prstDash val="solid"/>
                    </a:lnL>
                    <a:lnR w="12700" cmpd="sng">
                      <a:solidFill>
                        <a:schemeClr val="accent2">
                          <a:lumMod val="75000"/>
                        </a:schemeClr>
                      </a:solidFill>
                      <a:prstDash val="solid"/>
                    </a:lnR>
                    <a:lnT w="9525" cmpd="sng">
                      <a:solidFill>
                        <a:srgbClr val="9E9E9E">
                          <a:alpha val="0"/>
                        </a:srgbClr>
                      </a:solidFill>
                      <a:prstDash val="solid"/>
                    </a:lnT>
                    <a:lnB w="9525" cmpd="sng">
                      <a:solidFill>
                        <a:srgbClr val="9E9E9E">
                          <a:alpha val="0"/>
                        </a:srgbClr>
                      </a:solidFill>
                      <a:prstDash val="solid"/>
                    </a:lnB>
                  </a:tcPr>
                </a:tc>
              </a:tr>
            </a:tbl>
          </a:graphicData>
        </a:graphic>
      </p:graphicFrame>
      <p:sp>
        <p:nvSpPr>
          <p:cNvPr id="5" name="Google Shape;955;p80">
            <a:extLst xmlns:a="http://schemas.openxmlformats.org/drawingml/2006/main">
              <a:ext uri="{FF2B5EF4-FFF2-40B4-BE49-F238E27FC236}">
                <a16:creationId xmlns:a16="http://schemas.microsoft.com/office/drawing/2014/main" id="{EA32D89C-6778-2FE2-6D40-ABA6EAAD7EC1}"/>
              </a:ext>
            </a:extLst>
          </p:cNvPr>
          <p:cNvSpPr>
            <a:spLocks xmlns:a="http://schemas.openxmlformats.org/drawingml/2006/main" noGrp="1"/>
          </p:cNvSpPr>
          <p:nvPr/>
        </p:nvSpPr>
        <p:spPr>
          <a:xfrm xmlns:a="http://schemas.openxmlformats.org/drawingml/2006/main">
            <a:off x="4721718" y="4107740"/>
            <a:ext cx="4562665" cy="513300"/>
          </a:xfrm>
          <a:prstGeom xmlns:a="http://schemas.openxmlformats.org/drawingml/2006/main" prst="roundRect">
            <a:avLst>
              <a:gd name="adj" fmla="val 11479"/>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defPPr algn="l">
              <a:defRPr sz="1500">
                <a:solidFill>
                  <a:srgbClr val="FAFCFE"/>
                </a:solidFill>
                <a:latin typeface="Roboto Medium"/>
                <a:ea typeface="Roboto Medium"/>
                <a:cs typeface="Roboto Medium"/>
              </a:defRPr>
            </a:defPPr>
            <a:lvl1pPr algn="l">
              <a:buNone/>
              <a:defRPr sz="1500">
                <a:solidFill>
                  <a:srgbClr val="FAFCFE"/>
                </a:solidFill>
                <a:latin typeface="Roboto Medium"/>
                <a:ea typeface="Roboto Medium"/>
                <a:cs typeface="Roboto Medium"/>
              </a:defRPr>
            </a:lvl1pPr>
            <a:lvl2pPr algn="l">
              <a:buNone/>
              <a:defRPr sz="1500">
                <a:solidFill>
                  <a:srgbClr val="FAFCFE"/>
                </a:solidFill>
                <a:latin typeface="Roboto Medium"/>
                <a:ea typeface="Roboto Medium"/>
                <a:cs typeface="Roboto Medium"/>
              </a:defRPr>
            </a:lvl2pPr>
            <a:lvl3pPr algn="l">
              <a:buNone/>
              <a:defRPr sz="1500">
                <a:solidFill>
                  <a:srgbClr val="FAFCFE"/>
                </a:solidFill>
                <a:latin typeface="Roboto Medium"/>
                <a:ea typeface="Roboto Medium"/>
                <a:cs typeface="Roboto Medium"/>
              </a:defRPr>
            </a:lvl3pPr>
            <a:lvl4pPr algn="l">
              <a:buNone/>
              <a:defRPr sz="1500">
                <a:solidFill>
                  <a:srgbClr val="FAFCFE"/>
                </a:solidFill>
                <a:latin typeface="Roboto Medium"/>
                <a:ea typeface="Roboto Medium"/>
                <a:cs typeface="Roboto Medium"/>
              </a:defRPr>
            </a:lvl4pPr>
            <a:lvl5pPr algn="l">
              <a:buNone/>
              <a:defRPr sz="1500">
                <a:solidFill>
                  <a:srgbClr val="FAFCFE"/>
                </a:solidFill>
                <a:latin typeface="Roboto Medium"/>
                <a:ea typeface="Roboto Medium"/>
                <a:cs typeface="Roboto Medium"/>
              </a:defRPr>
            </a:lvl5pPr>
            <a:lvl6pPr algn="l">
              <a:buNone/>
              <a:defRPr sz="1500">
                <a:solidFill>
                  <a:srgbClr val="FAFCFE"/>
                </a:solidFill>
                <a:latin typeface="Roboto Medium"/>
                <a:ea typeface="Roboto Medium"/>
                <a:cs typeface="Roboto Medium"/>
              </a:defRPr>
            </a:lvl6pPr>
            <a:lvl7pPr algn="l">
              <a:buNone/>
              <a:defRPr sz="1500">
                <a:solidFill>
                  <a:srgbClr val="FAFCFE"/>
                </a:solidFill>
                <a:latin typeface="Roboto Medium"/>
                <a:ea typeface="Roboto Medium"/>
                <a:cs typeface="Roboto Medium"/>
              </a:defRPr>
            </a:lvl7pPr>
            <a:lvl8pPr algn="l">
              <a:buNone/>
              <a:defRPr sz="1500">
                <a:solidFill>
                  <a:srgbClr val="FAFCFE"/>
                </a:solidFill>
                <a:latin typeface="Roboto Medium"/>
                <a:ea typeface="Roboto Medium"/>
                <a:cs typeface="Roboto Medium"/>
              </a:defRPr>
            </a:lvl8pPr>
            <a:lvl9pPr algn="l">
              <a:buNone/>
              <a:defRPr sz="1500">
                <a:solidFill>
                  <a:srgbClr val="FAFCFE"/>
                </a:solidFill>
                <a:latin typeface="Roboto Medium"/>
                <a:ea typeface="Roboto Medium"/>
                <a:cs typeface="Roboto Medium"/>
              </a:defRPr>
            </a:lvl9pPr>
          </a:lstStyle>
          <a:p xmlns:a="http://schemas.openxmlformats.org/drawingml/2006/main">
            <a:pPr algn="l">
              <a:buNone/>
              <a:defRPr sz="1500">
                <a:solidFill>
                  <a:srgbClr val="FAFCFE"/>
                </a:solidFill>
                <a:latin typeface="Roboto Medium"/>
                <a:ea typeface="Roboto Medium"/>
                <a:cs typeface="Roboto Medium"/>
              </a:defRPr>
            </a:pPr>
            <a:r>
              <a:rPr sz="1500">
                <a:solidFill>
                  <a:srgbClr val="FAFCFE"/>
                </a:solidFill>
                <a:latin typeface="Roboto Medium"/>
                <a:ea typeface="Roboto Medium"/>
                <a:cs typeface="Roboto Medium"/>
              </a:rPr>
              <a:t>Supplier validation and pilot build</a:t>
            </a:r>
          </a:p>
        </p:txBody>
      </p:sp>
      <p:sp>
        <p:nvSpPr>
          <p:cNvPr id="6" name="Google Shape;957;p80">
            <a:extLst xmlns:a="http://schemas.openxmlformats.org/drawingml/2006/main">
              <a:ext uri="{FF2B5EF4-FFF2-40B4-BE49-F238E27FC236}">
                <a16:creationId xmlns:a16="http://schemas.microsoft.com/office/drawing/2014/main" id="{D5359B3A-662D-9283-F7D8-9D5DCD655B5B}"/>
              </a:ext>
            </a:extLst>
          </p:cNvPr>
          <p:cNvSpPr>
            <a:spLocks xmlns:a="http://schemas.openxmlformats.org/drawingml/2006/main" noGrp="1"/>
          </p:cNvSpPr>
          <p:nvPr/>
        </p:nvSpPr>
        <p:spPr>
          <a:xfrm xmlns:a="http://schemas.openxmlformats.org/drawingml/2006/main">
            <a:off x="584093" y="5478390"/>
            <a:ext cx="11026708" cy="513300"/>
          </a:xfrm>
          <a:prstGeom xmlns:a="http://schemas.openxmlformats.org/drawingml/2006/main" prst="roundRect">
            <a:avLst>
              <a:gd name="adj" fmla="val 11479"/>
            </a:avLst>
          </a:prstGeom>
          <a:solidFill xmlns:a="http://schemas.openxmlformats.org/drawingml/2006/main">
            <a:schemeClr val="bg2"/>
          </a:solidFill>
          <a:ln xmlns:a="http://schemas.openxmlformats.org/drawingml/2006/main" w="12700">
            <a:solidFill>
              <a:schemeClr val="accent1"/>
            </a:solidFill>
          </a:ln>
        </p:spPr>
        <p:txBody>
          <a:bodyPr xmlns:a="http://schemas.openxmlformats.org/drawingml/2006/main" spcFirstLastPara="1" wrap="square" lIns="210300" tIns="121875" rIns="121875" bIns="121875" anchor="ctr">
            <a:noAutofit/>
          </a:bodyPr>
          <a:lstStyle xmlns:a="http://schemas.openxmlformats.org/drawingml/2006/main">
            <a:defPPr algn="l">
              <a:defRPr sz="1500">
                <a:solidFill>
                  <a:srgbClr val="3357B8"/>
                </a:solidFill>
                <a:latin typeface="Roboto Medium"/>
                <a:ea typeface="Roboto Medium"/>
                <a:cs typeface="Roboto Medium"/>
              </a:defRPr>
            </a:defPPr>
            <a:lvl1pPr algn="l">
              <a:buNone/>
              <a:defRPr sz="1500">
                <a:solidFill>
                  <a:srgbClr val="3357B8"/>
                </a:solidFill>
                <a:latin typeface="Roboto Medium"/>
                <a:ea typeface="Roboto Medium"/>
                <a:cs typeface="Roboto Medium"/>
              </a:defRPr>
            </a:lvl1pPr>
            <a:lvl2pPr algn="l">
              <a:buNone/>
              <a:defRPr sz="1500">
                <a:solidFill>
                  <a:srgbClr val="3357B8"/>
                </a:solidFill>
                <a:latin typeface="Roboto Medium"/>
                <a:ea typeface="Roboto Medium"/>
                <a:cs typeface="Roboto Medium"/>
              </a:defRPr>
            </a:lvl2pPr>
            <a:lvl3pPr algn="l">
              <a:buNone/>
              <a:defRPr sz="1500">
                <a:solidFill>
                  <a:srgbClr val="3357B8"/>
                </a:solidFill>
                <a:latin typeface="Roboto Medium"/>
                <a:ea typeface="Roboto Medium"/>
                <a:cs typeface="Roboto Medium"/>
              </a:defRPr>
            </a:lvl3pPr>
            <a:lvl4pPr algn="l">
              <a:buNone/>
              <a:defRPr sz="1500">
                <a:solidFill>
                  <a:srgbClr val="3357B8"/>
                </a:solidFill>
                <a:latin typeface="Roboto Medium"/>
                <a:ea typeface="Roboto Medium"/>
                <a:cs typeface="Roboto Medium"/>
              </a:defRPr>
            </a:lvl4pPr>
            <a:lvl5pPr algn="l">
              <a:buNone/>
              <a:defRPr sz="1500">
                <a:solidFill>
                  <a:srgbClr val="3357B8"/>
                </a:solidFill>
                <a:latin typeface="Roboto Medium"/>
                <a:ea typeface="Roboto Medium"/>
                <a:cs typeface="Roboto Medium"/>
              </a:defRPr>
            </a:lvl5pPr>
            <a:lvl6pPr algn="l">
              <a:buNone/>
              <a:defRPr sz="1500">
                <a:solidFill>
                  <a:srgbClr val="3357B8"/>
                </a:solidFill>
                <a:latin typeface="Roboto Medium"/>
                <a:ea typeface="Roboto Medium"/>
                <a:cs typeface="Roboto Medium"/>
              </a:defRPr>
            </a:lvl6pPr>
            <a:lvl7pPr algn="l">
              <a:buNone/>
              <a:defRPr sz="1500">
                <a:solidFill>
                  <a:srgbClr val="3357B8"/>
                </a:solidFill>
                <a:latin typeface="Roboto Medium"/>
                <a:ea typeface="Roboto Medium"/>
                <a:cs typeface="Roboto Medium"/>
              </a:defRPr>
            </a:lvl7pPr>
            <a:lvl8pPr algn="l">
              <a:buNone/>
              <a:defRPr sz="1500">
                <a:solidFill>
                  <a:srgbClr val="3357B8"/>
                </a:solidFill>
                <a:latin typeface="Roboto Medium"/>
                <a:ea typeface="Roboto Medium"/>
                <a:cs typeface="Roboto Medium"/>
              </a:defRPr>
            </a:lvl8pPr>
            <a:lvl9pPr algn="l">
              <a:buNone/>
              <a:defRPr sz="1500">
                <a:solidFill>
                  <a:srgbClr val="3357B8"/>
                </a:solidFill>
                <a:latin typeface="Roboto Medium"/>
                <a:ea typeface="Roboto Medium"/>
                <a:cs typeface="Roboto Medium"/>
              </a:defRPr>
            </a:lvl9pPr>
          </a:lstStyle>
          <a:p xmlns:a="http://schemas.openxmlformats.org/drawingml/2006/main">
            <a:pPr algn="l">
              <a:buNone/>
              <a:defRPr sz="1500">
                <a:solidFill>
                  <a:srgbClr val="3357B8"/>
                </a:solidFill>
                <a:latin typeface="Roboto Medium"/>
                <a:ea typeface="Roboto Medium"/>
                <a:cs typeface="Roboto Medium"/>
              </a:defRPr>
            </a:pPr>
            <a:r>
              <a:rPr sz="1500">
                <a:solidFill>
                  <a:srgbClr val="3357B8"/>
                </a:solidFill>
                <a:latin typeface="Roboto Medium"/>
                <a:ea typeface="Roboto Medium"/>
                <a:cs typeface="Roboto Medium"/>
              </a:rPr>
              <a:t>Quality, repair planning and consent-based impact measurement</a:t>
            </a:r>
            <a:endParaRPr sz="1500">
              <a:solidFill>
                <a:schemeClr val="accent1"/>
              </a:solidFill>
              <a:latin typeface="Roboto Medium"/>
              <a:ea typeface="Roboto Medium"/>
              <a:cs typeface="Roboto Medium"/>
            </a:endParaRPr>
          </a:p>
        </p:txBody>
      </p:sp>
      <p:sp>
        <p:nvSpPr>
          <p:cNvPr id="7" name="Google Shape;960;p80">
            <a:extLst xmlns:a="http://schemas.openxmlformats.org/drawingml/2006/main">
              <a:ext uri="{FF2B5EF4-FFF2-40B4-BE49-F238E27FC236}">
                <a16:creationId xmlns:a16="http://schemas.microsoft.com/office/drawing/2014/main" id="{2293B6C0-CD6E-C9F0-68F7-73F7B726A1EF}"/>
              </a:ext>
            </a:extLst>
          </p:cNvPr>
          <p:cNvSpPr>
            <a:spLocks xmlns:a="http://schemas.openxmlformats.org/drawingml/2006/main" noGrp="1"/>
          </p:cNvSpPr>
          <p:nvPr/>
        </p:nvSpPr>
        <p:spPr>
          <a:xfrm xmlns:a="http://schemas.openxmlformats.org/drawingml/2006/main">
            <a:off x="7522794" y="4754965"/>
            <a:ext cx="4088008" cy="513300"/>
          </a:xfrm>
          <a:prstGeom xmlns:a="http://schemas.openxmlformats.org/drawingml/2006/main" prst="roundRect">
            <a:avLst>
              <a:gd name="adj" fmla="val 11479"/>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defPPr algn="l">
              <a:defRPr sz="1500">
                <a:solidFill>
                  <a:srgbClr val="FAFCFE"/>
                </a:solidFill>
                <a:latin typeface="Roboto Medium"/>
                <a:ea typeface="Roboto Medium"/>
                <a:cs typeface="Roboto Medium"/>
              </a:defRPr>
            </a:defPPr>
            <a:lvl1pPr algn="l">
              <a:buNone/>
              <a:defRPr sz="1500">
                <a:solidFill>
                  <a:srgbClr val="FAFCFE"/>
                </a:solidFill>
                <a:latin typeface="Roboto Medium"/>
                <a:ea typeface="Roboto Medium"/>
                <a:cs typeface="Roboto Medium"/>
              </a:defRPr>
            </a:lvl1pPr>
            <a:lvl2pPr algn="l">
              <a:buNone/>
              <a:defRPr sz="1500">
                <a:solidFill>
                  <a:srgbClr val="FAFCFE"/>
                </a:solidFill>
                <a:latin typeface="Roboto Medium"/>
                <a:ea typeface="Roboto Medium"/>
                <a:cs typeface="Roboto Medium"/>
              </a:defRPr>
            </a:lvl2pPr>
            <a:lvl3pPr algn="l">
              <a:buNone/>
              <a:defRPr sz="1500">
                <a:solidFill>
                  <a:srgbClr val="FAFCFE"/>
                </a:solidFill>
                <a:latin typeface="Roboto Medium"/>
                <a:ea typeface="Roboto Medium"/>
                <a:cs typeface="Roboto Medium"/>
              </a:defRPr>
            </a:lvl3pPr>
            <a:lvl4pPr algn="l">
              <a:buNone/>
              <a:defRPr sz="1500">
                <a:solidFill>
                  <a:srgbClr val="FAFCFE"/>
                </a:solidFill>
                <a:latin typeface="Roboto Medium"/>
                <a:ea typeface="Roboto Medium"/>
                <a:cs typeface="Roboto Medium"/>
              </a:defRPr>
            </a:lvl4pPr>
            <a:lvl5pPr algn="l">
              <a:buNone/>
              <a:defRPr sz="1500">
                <a:solidFill>
                  <a:srgbClr val="FAFCFE"/>
                </a:solidFill>
                <a:latin typeface="Roboto Medium"/>
                <a:ea typeface="Roboto Medium"/>
                <a:cs typeface="Roboto Medium"/>
              </a:defRPr>
            </a:lvl5pPr>
            <a:lvl6pPr algn="l">
              <a:buNone/>
              <a:defRPr sz="1500">
                <a:solidFill>
                  <a:srgbClr val="FAFCFE"/>
                </a:solidFill>
                <a:latin typeface="Roboto Medium"/>
                <a:ea typeface="Roboto Medium"/>
                <a:cs typeface="Roboto Medium"/>
              </a:defRPr>
            </a:lvl6pPr>
            <a:lvl7pPr algn="l">
              <a:buNone/>
              <a:defRPr sz="1500">
                <a:solidFill>
                  <a:srgbClr val="FAFCFE"/>
                </a:solidFill>
                <a:latin typeface="Roboto Medium"/>
                <a:ea typeface="Roboto Medium"/>
                <a:cs typeface="Roboto Medium"/>
              </a:defRPr>
            </a:lvl7pPr>
            <a:lvl8pPr algn="l">
              <a:buNone/>
              <a:defRPr sz="1500">
                <a:solidFill>
                  <a:srgbClr val="FAFCFE"/>
                </a:solidFill>
                <a:latin typeface="Roboto Medium"/>
                <a:ea typeface="Roboto Medium"/>
                <a:cs typeface="Roboto Medium"/>
              </a:defRPr>
            </a:lvl8pPr>
            <a:lvl9pPr algn="l">
              <a:buNone/>
              <a:defRPr sz="1500">
                <a:solidFill>
                  <a:srgbClr val="FAFCFE"/>
                </a:solidFill>
                <a:latin typeface="Roboto Medium"/>
                <a:ea typeface="Roboto Medium"/>
                <a:cs typeface="Roboto Medium"/>
              </a:defRPr>
            </a:lvl9pPr>
          </a:lstStyle>
          <a:p xmlns:a="http://schemas.openxmlformats.org/drawingml/2006/main">
            <a:pPr algn="l">
              <a:buNone/>
              <a:defRPr sz="1500">
                <a:solidFill>
                  <a:srgbClr val="FAFCFE"/>
                </a:solidFill>
                <a:latin typeface="Roboto Medium"/>
                <a:ea typeface="Roboto Medium"/>
                <a:cs typeface="Roboto Medium"/>
              </a:defRPr>
            </a:pPr>
            <a:r>
              <a:rPr sz="1500">
                <a:solidFill>
                  <a:srgbClr val="FAFCFE"/>
                </a:solidFill>
                <a:latin typeface="Roboto Medium"/>
                <a:ea typeface="Roboto Medium"/>
                <a:cs typeface="Roboto Medium"/>
              </a:rPr>
              <a:t>Paid NGO / CSR deployment pilots</a:t>
            </a:r>
          </a:p>
        </p:txBody>
      </p:sp>
      <p:sp>
        <p:nvSpPr>
          <p:cNvPr id="8" name="Google Shape;963;p80">
            <a:extLst xmlns:a="http://schemas.openxmlformats.org/drawingml/2006/main">
              <a:ext uri="{FF2B5EF4-FFF2-40B4-BE49-F238E27FC236}">
                <a16:creationId xmlns:a16="http://schemas.microsoft.com/office/drawing/2014/main" id="{0F4F3439-EC29-4518-4A3E-7436F8578035}"/>
              </a:ext>
            </a:extLst>
          </p:cNvPr>
          <p:cNvSpPr>
            <a:spLocks xmlns:a="http://schemas.openxmlformats.org/drawingml/2006/main" noGrp="1"/>
          </p:cNvSpPr>
          <p:nvPr/>
        </p:nvSpPr>
        <p:spPr>
          <a:xfrm xmlns:a="http://schemas.openxmlformats.org/drawingml/2006/main">
            <a:off x="2819968" y="3403140"/>
            <a:ext cx="8790833" cy="513300"/>
          </a:xfrm>
          <a:prstGeom xmlns:a="http://schemas.openxmlformats.org/drawingml/2006/main" prst="roundRect">
            <a:avLst>
              <a:gd name="adj" fmla="val 11479"/>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defPPr algn="l">
              <a:defRPr sz="1500">
                <a:solidFill>
                  <a:srgbClr val="FAFCFE"/>
                </a:solidFill>
                <a:latin typeface="Roboto Medium"/>
                <a:ea typeface="Roboto Medium"/>
                <a:cs typeface="Roboto Medium"/>
              </a:defRPr>
            </a:defPPr>
            <a:lvl1pPr algn="l">
              <a:buNone/>
              <a:defRPr sz="1500">
                <a:solidFill>
                  <a:srgbClr val="FAFCFE"/>
                </a:solidFill>
                <a:latin typeface="Roboto Medium"/>
                <a:ea typeface="Roboto Medium"/>
                <a:cs typeface="Roboto Medium"/>
              </a:defRPr>
            </a:lvl1pPr>
            <a:lvl2pPr algn="l">
              <a:buNone/>
              <a:defRPr sz="1500">
                <a:solidFill>
                  <a:srgbClr val="FAFCFE"/>
                </a:solidFill>
                <a:latin typeface="Roboto Medium"/>
                <a:ea typeface="Roboto Medium"/>
                <a:cs typeface="Roboto Medium"/>
              </a:defRPr>
            </a:lvl2pPr>
            <a:lvl3pPr algn="l">
              <a:buNone/>
              <a:defRPr sz="1500">
                <a:solidFill>
                  <a:srgbClr val="FAFCFE"/>
                </a:solidFill>
                <a:latin typeface="Roboto Medium"/>
                <a:ea typeface="Roboto Medium"/>
                <a:cs typeface="Roboto Medium"/>
              </a:defRPr>
            </a:lvl3pPr>
            <a:lvl4pPr algn="l">
              <a:buNone/>
              <a:defRPr sz="1500">
                <a:solidFill>
                  <a:srgbClr val="FAFCFE"/>
                </a:solidFill>
                <a:latin typeface="Roboto Medium"/>
                <a:ea typeface="Roboto Medium"/>
                <a:cs typeface="Roboto Medium"/>
              </a:defRPr>
            </a:lvl4pPr>
            <a:lvl5pPr algn="l">
              <a:buNone/>
              <a:defRPr sz="1500">
                <a:solidFill>
                  <a:srgbClr val="FAFCFE"/>
                </a:solidFill>
                <a:latin typeface="Roboto Medium"/>
                <a:ea typeface="Roboto Medium"/>
                <a:cs typeface="Roboto Medium"/>
              </a:defRPr>
            </a:lvl5pPr>
            <a:lvl6pPr algn="l">
              <a:buNone/>
              <a:defRPr sz="1500">
                <a:solidFill>
                  <a:srgbClr val="FAFCFE"/>
                </a:solidFill>
                <a:latin typeface="Roboto Medium"/>
                <a:ea typeface="Roboto Medium"/>
                <a:cs typeface="Roboto Medium"/>
              </a:defRPr>
            </a:lvl6pPr>
            <a:lvl7pPr algn="l">
              <a:buNone/>
              <a:defRPr sz="1500">
                <a:solidFill>
                  <a:srgbClr val="FAFCFE"/>
                </a:solidFill>
                <a:latin typeface="Roboto Medium"/>
                <a:ea typeface="Roboto Medium"/>
                <a:cs typeface="Roboto Medium"/>
              </a:defRPr>
            </a:lvl7pPr>
            <a:lvl8pPr algn="l">
              <a:buNone/>
              <a:defRPr sz="1500">
                <a:solidFill>
                  <a:srgbClr val="FAFCFE"/>
                </a:solidFill>
                <a:latin typeface="Roboto Medium"/>
                <a:ea typeface="Roboto Medium"/>
                <a:cs typeface="Roboto Medium"/>
              </a:defRPr>
            </a:lvl8pPr>
            <a:lvl9pPr algn="l">
              <a:buNone/>
              <a:defRPr sz="1500">
                <a:solidFill>
                  <a:srgbClr val="FAFCFE"/>
                </a:solidFill>
                <a:latin typeface="Roboto Medium"/>
                <a:ea typeface="Roboto Medium"/>
                <a:cs typeface="Roboto Medium"/>
              </a:defRPr>
            </a:lvl9pPr>
          </a:lstStyle>
          <a:p xmlns:a="http://schemas.openxmlformats.org/drawingml/2006/main">
            <a:pPr algn="l">
              <a:buNone/>
              <a:defRPr sz="1500">
                <a:solidFill>
                  <a:srgbClr val="FAFCFE"/>
                </a:solidFill>
                <a:latin typeface="Roboto Medium"/>
                <a:ea typeface="Roboto Medium"/>
                <a:cs typeface="Roboto Medium"/>
              </a:defRPr>
            </a:pPr>
            <a:r>
              <a:rPr sz="1500">
                <a:solidFill>
                  <a:srgbClr val="FAFCFE"/>
                </a:solidFill>
                <a:latin typeface="Roboto Medium"/>
                <a:ea typeface="Roboto Medium"/>
                <a:cs typeface="Roboto Medium"/>
              </a:rPr>
              <a:t>Supervised user testing and refinement</a:t>
            </a:r>
          </a:p>
        </p:txBody>
      </p:sp>
      <p:sp>
        <p:nvSpPr>
          <p:cNvPr id="9" name="Google Shape;966;p80">
            <a:extLst xmlns:a="http://schemas.openxmlformats.org/drawingml/2006/main">
              <a:ext uri="{FF2B5EF4-FFF2-40B4-BE49-F238E27FC236}">
                <a16:creationId xmlns:a16="http://schemas.microsoft.com/office/drawing/2014/main" id="{1D07E5FD-0BEC-93D6-2CF5-BC908A51553C}"/>
              </a:ext>
            </a:extLst>
          </p:cNvPr>
          <p:cNvSpPr>
            <a:spLocks xmlns:a="http://schemas.openxmlformats.org/drawingml/2006/main" noGrp="1"/>
          </p:cNvSpPr>
          <p:nvPr/>
        </p:nvSpPr>
        <p:spPr>
          <a:xfrm xmlns:a="http://schemas.openxmlformats.org/drawingml/2006/main">
            <a:off x="2819968" y="2698515"/>
            <a:ext cx="6408538" cy="513300"/>
          </a:xfrm>
          <a:prstGeom xmlns:a="http://schemas.openxmlformats.org/drawingml/2006/main" prst="roundRect">
            <a:avLst>
              <a:gd name="adj" fmla="val 11479"/>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defPPr algn="l">
              <a:defRPr sz="1500">
                <a:solidFill>
                  <a:srgbClr val="FAFCFE"/>
                </a:solidFill>
                <a:latin typeface="Roboto Medium"/>
                <a:ea typeface="Roboto Medium"/>
                <a:cs typeface="Roboto Medium"/>
              </a:defRPr>
            </a:defPPr>
            <a:lvl1pPr algn="l">
              <a:buNone/>
              <a:defRPr sz="1500">
                <a:solidFill>
                  <a:srgbClr val="FAFCFE"/>
                </a:solidFill>
                <a:latin typeface="Roboto Medium"/>
                <a:ea typeface="Roboto Medium"/>
                <a:cs typeface="Roboto Medium"/>
              </a:defRPr>
            </a:lvl1pPr>
            <a:lvl2pPr algn="l">
              <a:buNone/>
              <a:defRPr sz="1500">
                <a:solidFill>
                  <a:srgbClr val="FAFCFE"/>
                </a:solidFill>
                <a:latin typeface="Roboto Medium"/>
                <a:ea typeface="Roboto Medium"/>
                <a:cs typeface="Roboto Medium"/>
              </a:defRPr>
            </a:lvl2pPr>
            <a:lvl3pPr algn="l">
              <a:buNone/>
              <a:defRPr sz="1500">
                <a:solidFill>
                  <a:srgbClr val="FAFCFE"/>
                </a:solidFill>
                <a:latin typeface="Roboto Medium"/>
                <a:ea typeface="Roboto Medium"/>
                <a:cs typeface="Roboto Medium"/>
              </a:defRPr>
            </a:lvl3pPr>
            <a:lvl4pPr algn="l">
              <a:buNone/>
              <a:defRPr sz="1500">
                <a:solidFill>
                  <a:srgbClr val="FAFCFE"/>
                </a:solidFill>
                <a:latin typeface="Roboto Medium"/>
                <a:ea typeface="Roboto Medium"/>
                <a:cs typeface="Roboto Medium"/>
              </a:defRPr>
            </a:lvl4pPr>
            <a:lvl5pPr algn="l">
              <a:buNone/>
              <a:defRPr sz="1500">
                <a:solidFill>
                  <a:srgbClr val="FAFCFE"/>
                </a:solidFill>
                <a:latin typeface="Roboto Medium"/>
                <a:ea typeface="Roboto Medium"/>
                <a:cs typeface="Roboto Medium"/>
              </a:defRPr>
            </a:lvl5pPr>
            <a:lvl6pPr algn="l">
              <a:buNone/>
              <a:defRPr sz="1500">
                <a:solidFill>
                  <a:srgbClr val="FAFCFE"/>
                </a:solidFill>
                <a:latin typeface="Roboto Medium"/>
                <a:ea typeface="Roboto Medium"/>
                <a:cs typeface="Roboto Medium"/>
              </a:defRPr>
            </a:lvl6pPr>
            <a:lvl7pPr algn="l">
              <a:buNone/>
              <a:defRPr sz="1500">
                <a:solidFill>
                  <a:srgbClr val="FAFCFE"/>
                </a:solidFill>
                <a:latin typeface="Roboto Medium"/>
                <a:ea typeface="Roboto Medium"/>
                <a:cs typeface="Roboto Medium"/>
              </a:defRPr>
            </a:lvl7pPr>
            <a:lvl8pPr algn="l">
              <a:buNone/>
              <a:defRPr sz="1500">
                <a:solidFill>
                  <a:srgbClr val="FAFCFE"/>
                </a:solidFill>
                <a:latin typeface="Roboto Medium"/>
                <a:ea typeface="Roboto Medium"/>
                <a:cs typeface="Roboto Medium"/>
              </a:defRPr>
            </a:lvl8pPr>
            <a:lvl9pPr algn="l">
              <a:buNone/>
              <a:defRPr sz="1500">
                <a:solidFill>
                  <a:srgbClr val="FAFCFE"/>
                </a:solidFill>
                <a:latin typeface="Roboto Medium"/>
                <a:ea typeface="Roboto Medium"/>
                <a:cs typeface="Roboto Medium"/>
              </a:defRPr>
            </a:lvl9pPr>
          </a:lstStyle>
          <a:p xmlns:a="http://schemas.openxmlformats.org/drawingml/2006/main">
            <a:pPr algn="l">
              <a:buNone/>
              <a:defRPr sz="1500">
                <a:solidFill>
                  <a:srgbClr val="FAFCFE"/>
                </a:solidFill>
                <a:latin typeface="Roboto Medium"/>
                <a:ea typeface="Roboto Medium"/>
                <a:cs typeface="Roboto Medium"/>
              </a:defRPr>
            </a:pPr>
            <a:r>
              <a:rPr sz="1500">
                <a:solidFill>
                  <a:srgbClr val="FAFCFE"/>
                </a:solidFill>
                <a:latin typeface="Roboto Medium"/>
                <a:ea typeface="Roboto Medium"/>
                <a:cs typeface="Roboto Medium"/>
              </a:rPr>
              <a:t>Hardware and Edge AI integration</a:t>
            </a:r>
          </a:p>
        </p:txBody>
      </p:sp>
      <p:sp>
        <p:nvSpPr>
          <p:cNvPr id="10" name="Google Shape;969;p80">
            <a:extLst xmlns:a="http://schemas.openxmlformats.org/drawingml/2006/main">
              <a:ext uri="{FF2B5EF4-FFF2-40B4-BE49-F238E27FC236}">
                <a16:creationId xmlns:a16="http://schemas.microsoft.com/office/drawing/2014/main" id="{0AB147C5-D3F9-0847-C2A5-2A90154B1A3C}"/>
              </a:ext>
            </a:extLst>
          </p:cNvPr>
          <p:cNvSpPr>
            <a:spLocks xmlns:a="http://schemas.openxmlformats.org/drawingml/2006/main" noGrp="1"/>
          </p:cNvSpPr>
          <p:nvPr/>
        </p:nvSpPr>
        <p:spPr>
          <a:xfrm xmlns:a="http://schemas.openxmlformats.org/drawingml/2006/main">
            <a:off x="507893" y="1975090"/>
            <a:ext cx="4185180" cy="513300"/>
          </a:xfrm>
          <a:prstGeom xmlns:a="http://schemas.openxmlformats.org/drawingml/2006/main" prst="roundRect">
            <a:avLst>
              <a:gd name="adj" fmla="val 11479"/>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defPPr algn="l">
              <a:defRPr sz="1500">
                <a:solidFill>
                  <a:srgbClr val="FAFCFE"/>
                </a:solidFill>
                <a:latin typeface="Roboto Medium"/>
                <a:ea typeface="Roboto Medium"/>
                <a:cs typeface="Roboto Medium"/>
              </a:defRPr>
            </a:defPPr>
            <a:lvl1pPr algn="l">
              <a:buNone/>
              <a:defRPr sz="1500">
                <a:solidFill>
                  <a:srgbClr val="FAFCFE"/>
                </a:solidFill>
                <a:latin typeface="Roboto Medium"/>
                <a:ea typeface="Roboto Medium"/>
                <a:cs typeface="Roboto Medium"/>
              </a:defRPr>
            </a:lvl1pPr>
            <a:lvl2pPr algn="l">
              <a:buNone/>
              <a:defRPr sz="1500">
                <a:solidFill>
                  <a:srgbClr val="FAFCFE"/>
                </a:solidFill>
                <a:latin typeface="Roboto Medium"/>
                <a:ea typeface="Roboto Medium"/>
                <a:cs typeface="Roboto Medium"/>
              </a:defRPr>
            </a:lvl2pPr>
            <a:lvl3pPr algn="l">
              <a:buNone/>
              <a:defRPr sz="1500">
                <a:solidFill>
                  <a:srgbClr val="FAFCFE"/>
                </a:solidFill>
                <a:latin typeface="Roboto Medium"/>
                <a:ea typeface="Roboto Medium"/>
                <a:cs typeface="Roboto Medium"/>
              </a:defRPr>
            </a:lvl3pPr>
            <a:lvl4pPr algn="l">
              <a:buNone/>
              <a:defRPr sz="1500">
                <a:solidFill>
                  <a:srgbClr val="FAFCFE"/>
                </a:solidFill>
                <a:latin typeface="Roboto Medium"/>
                <a:ea typeface="Roboto Medium"/>
                <a:cs typeface="Roboto Medium"/>
              </a:defRPr>
            </a:lvl4pPr>
            <a:lvl5pPr algn="l">
              <a:buNone/>
              <a:defRPr sz="1500">
                <a:solidFill>
                  <a:srgbClr val="FAFCFE"/>
                </a:solidFill>
                <a:latin typeface="Roboto Medium"/>
                <a:ea typeface="Roboto Medium"/>
                <a:cs typeface="Roboto Medium"/>
              </a:defRPr>
            </a:lvl5pPr>
            <a:lvl6pPr algn="l">
              <a:buNone/>
              <a:defRPr sz="1500">
                <a:solidFill>
                  <a:srgbClr val="FAFCFE"/>
                </a:solidFill>
                <a:latin typeface="Roboto Medium"/>
                <a:ea typeface="Roboto Medium"/>
                <a:cs typeface="Roboto Medium"/>
              </a:defRPr>
            </a:lvl6pPr>
            <a:lvl7pPr algn="l">
              <a:buNone/>
              <a:defRPr sz="1500">
                <a:solidFill>
                  <a:srgbClr val="FAFCFE"/>
                </a:solidFill>
                <a:latin typeface="Roboto Medium"/>
                <a:ea typeface="Roboto Medium"/>
                <a:cs typeface="Roboto Medium"/>
              </a:defRPr>
            </a:lvl7pPr>
            <a:lvl8pPr algn="l">
              <a:buNone/>
              <a:defRPr sz="1500">
                <a:solidFill>
                  <a:srgbClr val="FAFCFE"/>
                </a:solidFill>
                <a:latin typeface="Roboto Medium"/>
                <a:ea typeface="Roboto Medium"/>
                <a:cs typeface="Roboto Medium"/>
              </a:defRPr>
            </a:lvl8pPr>
            <a:lvl9pPr algn="l">
              <a:buNone/>
              <a:defRPr sz="1500">
                <a:solidFill>
                  <a:srgbClr val="FAFCFE"/>
                </a:solidFill>
                <a:latin typeface="Roboto Medium"/>
                <a:ea typeface="Roboto Medium"/>
                <a:cs typeface="Roboto Medium"/>
              </a:defRPr>
            </a:lvl9pPr>
          </a:lstStyle>
          <a:p xmlns:a="http://schemas.openxmlformats.org/drawingml/2006/main">
            <a:pPr algn="l">
              <a:buNone/>
              <a:defRPr sz="1500">
                <a:solidFill>
                  <a:srgbClr val="FAFCFE"/>
                </a:solidFill>
                <a:latin typeface="Roboto Medium"/>
                <a:ea typeface="Roboto Medium"/>
                <a:cs typeface="Roboto Medium"/>
              </a:defRPr>
            </a:pPr>
            <a:r>
              <a:rPr sz="1500">
                <a:solidFill>
                  <a:srgbClr val="FAFCFE"/>
                </a:solidFill>
                <a:latin typeface="Roboto Medium"/>
                <a:ea typeface="Roboto Medium"/>
                <a:cs typeface="Roboto Medium"/>
              </a:rPr>
              <a:t>Co-design and requirements</a:t>
            </a:r>
            <a:endParaRPr sz="1500">
              <a:solidFill>
                <a:schemeClr val="bg2"/>
              </a:solidFill>
              <a:latin typeface="Roboto Medium"/>
              <a:ea typeface="Roboto Medium"/>
              <a:cs typeface="Roboto Medium"/>
            </a:endParaRPr>
          </a:p>
        </p:txBody>
      </p:sp>
      <p:sp>
        <p:nvSpPr>
          <p:cNvPr id="11" name="Footer Placeholder 10">
            <a:extLst xmlns:a="http://schemas.openxmlformats.org/drawingml/2006/main">
              <a:ext uri="{FF2B5EF4-FFF2-40B4-BE49-F238E27FC236}">
                <a16:creationId xmlns:a16="http://schemas.microsoft.com/office/drawing/2014/main" id="{F06ADB7A-E0CB-A418-3590-620B0C5F17EB}"/>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243517153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3F372AB6-C057-482B-98D8-DFF60EA7D908}"/>
              </a:ext>
            </a:extLst>
          </p:cNvPr>
          <p:cNvSpPr>
            <a:spLocks xmlns:a="http://schemas.openxmlformats.org/drawingml/2006/main" noGrp="1"/>
          </p:cNvSpPr>
          <p:nvPr>
            <p:ph idx="1"/>
          </p:nvPr>
        </p:nvSpPr>
        <p:spPr>
          <a:xfrm xmlns:a="http://schemas.openxmlformats.org/drawingml/2006/main">
            <a:off x="393699" y="2812968"/>
            <a:ext cx="5537200" cy="186590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algn="l">
              <a:buNone/>
              <a:defRPr sz="1600">
                <a:solidFill>
                  <a:srgbClr val="000000"/>
                </a:solidFill>
                <a:latin typeface="Helvetica Neue"/>
                <a:ea typeface="Helvetica Neue"/>
                <a:cs typeface="Helvetica Neue"/>
              </a:defRPr>
            </a:lvl1pPr>
            <a:lvl2pPr algn="l">
              <a:buNone/>
              <a:defRPr sz="1600">
                <a:solidFill>
                  <a:srgbClr val="000000"/>
                </a:solidFill>
                <a:latin typeface="Helvetica Neue"/>
                <a:ea typeface="Helvetica Neue"/>
                <a:cs typeface="Helvetica Neue"/>
              </a:defRPr>
            </a:lvl2pPr>
            <a:lvl3pPr algn="l">
              <a:buNone/>
              <a:defRPr sz="1600">
                <a:solidFill>
                  <a:srgbClr val="000000"/>
                </a:solidFill>
                <a:latin typeface="Helvetica Neue"/>
                <a:ea typeface="Helvetica Neue"/>
                <a:cs typeface="Helvetica Neue"/>
              </a:defRPr>
            </a:lvl3pPr>
            <a:lvl4pPr algn="l">
              <a:buNone/>
              <a:defRPr sz="1600">
                <a:solidFill>
                  <a:srgbClr val="000000"/>
                </a:solidFill>
                <a:latin typeface="Helvetica Neue"/>
                <a:ea typeface="Helvetica Neue"/>
                <a:cs typeface="Helvetica Neue"/>
              </a:defRPr>
            </a:lvl4pPr>
            <a:lvl5pPr algn="l">
              <a:buNone/>
              <a:defRPr sz="1600">
                <a:solidFill>
                  <a:srgbClr val="000000"/>
                </a:solidFill>
                <a:latin typeface="Helvetica Neue"/>
                <a:ea typeface="Helvetica Neue"/>
                <a:cs typeface="Helvetica Neue"/>
              </a:defRPr>
            </a:lvl5pPr>
            <a:lvl6pPr algn="l">
              <a:buNone/>
              <a:defRPr sz="1600">
                <a:solidFill>
                  <a:srgbClr val="000000"/>
                </a:solidFill>
                <a:latin typeface="Helvetica Neue"/>
                <a:ea typeface="Helvetica Neue"/>
                <a:cs typeface="Helvetica Neue"/>
              </a:defRPr>
            </a:lvl6pPr>
            <a:lvl7pPr algn="l">
              <a:buNone/>
              <a:defRPr sz="1600">
                <a:solidFill>
                  <a:srgbClr val="000000"/>
                </a:solidFill>
                <a:latin typeface="Helvetica Neue"/>
                <a:ea typeface="Helvetica Neue"/>
                <a:cs typeface="Helvetica Neue"/>
              </a:defRPr>
            </a:lvl7pPr>
            <a:lvl8pPr algn="l">
              <a:buNone/>
              <a:defRPr sz="1600">
                <a:solidFill>
                  <a:srgbClr val="000000"/>
                </a:solidFill>
                <a:latin typeface="Helvetica Neue"/>
                <a:ea typeface="Helvetica Neue"/>
                <a:cs typeface="Helvetica Neue"/>
              </a:defRPr>
            </a:lvl8pPr>
            <a:lvl9pPr algn="l">
              <a:buNone/>
              <a:defRPr sz="1600">
                <a:solidFill>
                  <a:srgbClr val="000000"/>
                </a:solidFill>
                <a:latin typeface="Helvetica Neue"/>
                <a:ea typeface="Helvetica Neue"/>
                <a:cs typeface="Helvetica Neue"/>
              </a:defRPr>
            </a:lvl9pPr>
          </a:lstStyle>
          <a:p xmlns:a="http://schemas.openxmlformats.org/drawingml/2006/main">
            <a:pPr marL="0" indent="0" algn="l">
              <a:lnSpc>
                <a:spcPct val="114000"/>
              </a:lnSpc>
              <a:spcBef>
                <a:spcPts val="0"/>
              </a:spcBef>
              <a:spcAft>
                <a:spcPts val="800"/>
              </a:spcAft>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Ally Vision combines affordable hardware with trusted local deployment. NGOs identify suitable users and deliver training. Banks and telecoms fund access through CSR cohorts. Repeat institutional orders provide the main route to scale.</a:t>
            </a:r>
          </a:p>
        </p:txBody>
      </p:sp>
      <p:sp>
        <p:nvSpPr>
          <p:cNvPr id="532" name="Google Shape;532;p58">
            <a:extLst xmlns:a="http://schemas.openxmlformats.org/drawingml/2006/main">
              <a:ext uri="{FF2B5EF4-FFF2-40B4-BE49-F238E27FC236}">
                <a16:creationId xmlns:a16="http://schemas.microsoft.com/office/drawing/2014/main" id="{72FFD810-FFEB-42CA-A531-1F475D032898}"/>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3</a:t>
            </a:fld>
            <a:endParaRPr/>
          </a:p>
        </p:txBody>
      </p:sp>
      <p:sp>
        <p:nvSpPr>
          <p:cNvPr id="2" name="Footer Placeholder 1">
            <a:extLst xmlns:a="http://schemas.openxmlformats.org/drawingml/2006/main">
              <a:ext uri="{FF2B5EF4-FFF2-40B4-BE49-F238E27FC236}">
                <a16:creationId xmlns:a16="http://schemas.microsoft.com/office/drawing/2014/main" id="{51941D6B-3AD0-04BD-76AF-506638666AC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5" name="Google Shape;534;p58">
            <a:extLst xmlns:a="http://schemas.openxmlformats.org/drawingml/2006/main">
              <a:ext uri="{FF2B5EF4-FFF2-40B4-BE49-F238E27FC236}">
                <a16:creationId xmlns:a16="http://schemas.microsoft.com/office/drawing/2014/main" id="{A3548D03-1D0F-655D-DD48-D4BF5C80F44D}"/>
              </a:ext>
            </a:extLst>
          </p:cNvPr>
          <p:cNvSpPr>
            <a:spLocks xmlns:a="http://schemas.openxmlformats.org/drawingml/2006/main" noGrp="1"/>
          </p:cNvSpPr>
          <p:nvPr/>
        </p:nvSpPr>
        <p:spPr>
          <a:xfrm xmlns:a="http://schemas.openxmlformats.org/drawingml/2006/main">
            <a:off x="393700" y="2111025"/>
            <a:ext cx="1844403"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000">
                <a:solidFill>
                  <a:srgbClr val="000000"/>
                </a:solidFill>
                <a:latin typeface="Lora"/>
                <a:ea typeface="Lora"/>
                <a:cs typeface="Lora"/>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2000">
                <a:solidFill>
                  <a:srgbClr val="000000"/>
                </a:solidFill>
                <a:latin typeface="Lora"/>
                <a:ea typeface="Lora"/>
                <a:cs typeface="Lora"/>
              </a:defRPr>
            </a:pPr>
            <a:r>
              <a:rPr sz="2000">
                <a:solidFill>
                  <a:srgbClr val="000000"/>
                </a:solidFill>
                <a:latin typeface="Lora"/>
                <a:ea typeface="Lora"/>
                <a:cs typeface="Lora"/>
              </a:rPr>
              <a:t>Model status</a:t>
            </a:r>
            <a:endParaRPr sz="2000">
              <a:latin typeface="+mj-lt"/>
              <a:ea typeface="+mj-lt"/>
              <a:cs typeface="+mj-lt"/>
            </a:endParaRPr>
          </a:p>
        </p:txBody>
      </p:sp>
      <p:sp>
        <p:nvSpPr>
          <p:cNvPr id="6" name="Google Shape;534;p58">
            <a:extLst xmlns:a="http://schemas.openxmlformats.org/drawingml/2006/main">
              <a:ext uri="{FF2B5EF4-FFF2-40B4-BE49-F238E27FC236}">
                <a16:creationId xmlns:a16="http://schemas.microsoft.com/office/drawing/2014/main" id="{4051D0BE-5D22-BCB4-EADF-44F16643D9F5}"/>
              </a:ext>
            </a:extLst>
          </p:cNvPr>
          <p:cNvSpPr>
            <a:spLocks xmlns:a="http://schemas.openxmlformats.org/drawingml/2006/main" noGrp="1"/>
          </p:cNvSpPr>
          <p:nvPr/>
        </p:nvSpPr>
        <p:spPr>
          <a:xfrm xmlns:a="http://schemas.openxmlformats.org/drawingml/2006/main">
            <a:off x="6260109" y="2826992"/>
            <a:ext cx="5537200" cy="100108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An 80% institutional / 20% direct mix yields $319 average revenue and $115 contribution per device in the base case.</a:t>
            </a:r>
          </a:p>
        </p:txBody>
      </p:sp>
      <p:sp>
        <p:nvSpPr>
          <p:cNvPr id="7" name="Google Shape;534;p58">
            <a:extLst xmlns:a="http://schemas.openxmlformats.org/drawingml/2006/main">
              <a:ext uri="{FF2B5EF4-FFF2-40B4-BE49-F238E27FC236}">
                <a16:creationId xmlns:a16="http://schemas.microsoft.com/office/drawing/2014/main" id="{EE26938C-7FB7-798D-7C48-988932737F6D}"/>
              </a:ext>
            </a:extLst>
          </p:cNvPr>
          <p:cNvSpPr>
            <a:spLocks xmlns:a="http://schemas.openxmlformats.org/drawingml/2006/main" noGrp="1"/>
          </p:cNvSpPr>
          <p:nvPr/>
        </p:nvSpPr>
        <p:spPr>
          <a:xfrm xmlns:a="http://schemas.openxmlformats.org/drawingml/2006/main">
            <a:off x="6260109" y="2344035"/>
            <a:ext cx="5537200"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000">
                <a:solidFill>
                  <a:srgbClr val="000000"/>
                </a:solidFill>
                <a:latin typeface="Lora"/>
                <a:ea typeface="Lora"/>
                <a:cs typeface="Lora"/>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2000">
                <a:solidFill>
                  <a:srgbClr val="000000"/>
                </a:solidFill>
                <a:latin typeface="Lora"/>
                <a:ea typeface="Lora"/>
                <a:cs typeface="Lora"/>
              </a:defRPr>
            </a:pPr>
            <a:r>
              <a:rPr sz="2000">
                <a:solidFill>
                  <a:srgbClr val="000000"/>
                </a:solidFill>
                <a:latin typeface="Lora"/>
                <a:ea typeface="Lora"/>
                <a:cs typeface="Lora"/>
              </a:rPr>
              <a:t>Economic engine</a:t>
            </a:r>
            <a:endParaRPr sz="2000">
              <a:latin typeface="+mj-lt"/>
              <a:ea typeface="+mj-lt"/>
              <a:cs typeface="+mj-lt"/>
            </a:endParaRPr>
          </a:p>
        </p:txBody>
      </p:sp>
      <p:sp>
        <p:nvSpPr>
          <p:cNvPr id="10" name="Title 2">
            <a:extLst xmlns:a="http://schemas.openxmlformats.org/drawingml/2006/main">
              <a:ext uri="{FF2B5EF4-FFF2-40B4-BE49-F238E27FC236}">
                <a16:creationId xmlns:a16="http://schemas.microsoft.com/office/drawing/2014/main" id="{944AF173-BF22-B5ED-B88F-9080D8699E64}"/>
              </a:ext>
            </a:extLst>
          </p:cNvPr>
          <p:cNvSpPr>
            <a:spLocks xmlns:a="http://schemas.openxmlformats.org/drawingml/2006/main" noGrp="1"/>
          </p:cNvSpPr>
          <p:nvPr>
            <p:ph type="title" idx="0"/>
          </p:nvPr>
        </p:nvSpPr>
        <p:spPr>
          <a:xfrm xmlns:a="http://schemas.openxmlformats.org/drawingml/2006/main">
            <a:off x="393699" y="1046195"/>
            <a:ext cx="11403610" cy="623819"/>
          </a:xfrm>
        </p:spPr>
        <p:txBody>
          <a:bodyPr xmlns:a="http://schemas.openxmlformats.org/drawingml/2006/main">
            <a:noAutofit/>
          </a:bodyPr>
          <a:lstStyle xmlns:a="http://schemas.openxmlformats.org/drawingml/2006/main">
            <a:defPPr algn="l">
              <a:defRPr sz="2900" b="1">
                <a:solidFill>
                  <a:srgbClr val="000000"/>
                </a:solidFill>
                <a:latin typeface="Lora SemiBold"/>
                <a:ea typeface="Lora SemiBold"/>
                <a:cs typeface="Lora SemiBold"/>
              </a:defRPr>
            </a:defPPr>
            <a:lvl1pPr algn="l">
              <a:buNone/>
              <a:defRPr sz="2900" b="1">
                <a:solidFill>
                  <a:srgbClr val="000000"/>
                </a:solidFill>
                <a:latin typeface="Lora SemiBold"/>
                <a:ea typeface="Lora SemiBold"/>
                <a:cs typeface="Lora SemiBold"/>
              </a:defRPr>
            </a:lvl1pPr>
            <a:lvl2pPr algn="l">
              <a:buNone/>
              <a:defRPr sz="2900" b="1">
                <a:solidFill>
                  <a:srgbClr val="000000"/>
                </a:solidFill>
                <a:latin typeface="Lora SemiBold"/>
                <a:ea typeface="Lora SemiBold"/>
                <a:cs typeface="Lora SemiBold"/>
              </a:defRPr>
            </a:lvl2pPr>
            <a:lvl3pPr algn="l">
              <a:buNone/>
              <a:defRPr sz="2900" b="1">
                <a:solidFill>
                  <a:srgbClr val="000000"/>
                </a:solidFill>
                <a:latin typeface="Lora SemiBold"/>
                <a:ea typeface="Lora SemiBold"/>
                <a:cs typeface="Lora SemiBold"/>
              </a:defRPr>
            </a:lvl3pPr>
            <a:lvl4pPr algn="l">
              <a:buNone/>
              <a:defRPr sz="2900" b="1">
                <a:solidFill>
                  <a:srgbClr val="000000"/>
                </a:solidFill>
                <a:latin typeface="Lora SemiBold"/>
                <a:ea typeface="Lora SemiBold"/>
                <a:cs typeface="Lora SemiBold"/>
              </a:defRPr>
            </a:lvl4pPr>
            <a:lvl5pPr algn="l">
              <a:buNone/>
              <a:defRPr sz="2900" b="1">
                <a:solidFill>
                  <a:srgbClr val="000000"/>
                </a:solidFill>
                <a:latin typeface="Lora SemiBold"/>
                <a:ea typeface="Lora SemiBold"/>
                <a:cs typeface="Lora SemiBold"/>
              </a:defRPr>
            </a:lvl5pPr>
            <a:lvl6pPr algn="l">
              <a:buNone/>
              <a:defRPr sz="2900" b="1">
                <a:solidFill>
                  <a:srgbClr val="000000"/>
                </a:solidFill>
                <a:latin typeface="Lora SemiBold"/>
                <a:ea typeface="Lora SemiBold"/>
                <a:cs typeface="Lora SemiBold"/>
              </a:defRPr>
            </a:lvl6pPr>
            <a:lvl7pPr algn="l">
              <a:buNone/>
              <a:defRPr sz="2900" b="1">
                <a:solidFill>
                  <a:srgbClr val="000000"/>
                </a:solidFill>
                <a:latin typeface="Lora SemiBold"/>
                <a:ea typeface="Lora SemiBold"/>
                <a:cs typeface="Lora SemiBold"/>
              </a:defRPr>
            </a:lvl7pPr>
            <a:lvl8pPr algn="l">
              <a:buNone/>
              <a:defRPr sz="2900" b="1">
                <a:solidFill>
                  <a:srgbClr val="000000"/>
                </a:solidFill>
                <a:latin typeface="Lora SemiBold"/>
                <a:ea typeface="Lora SemiBold"/>
                <a:cs typeface="Lora SemiBold"/>
              </a:defRPr>
            </a:lvl8pPr>
            <a:lvl9pPr algn="l">
              <a:buNone/>
              <a:defRPr sz="2900" b="1">
                <a:solidFill>
                  <a:srgbClr val="000000"/>
                </a:solidFill>
                <a:latin typeface="Lora SemiBold"/>
                <a:ea typeface="Lora SemiBold"/>
                <a:cs typeface="Lora SemiBold"/>
              </a:defRPr>
            </a:lvl9pPr>
          </a:lstStyle>
          <a:p xmlns:a="http://schemas.openxmlformats.org/drawingml/2006/main">
            <a:pPr algn="l">
              <a:buNone/>
              <a:defRPr sz="2900" b="1">
                <a:solidFill>
                  <a:srgbClr val="000000"/>
                </a:solidFill>
                <a:latin typeface="Lora SemiBold"/>
                <a:ea typeface="Lora SemiBold"/>
                <a:cs typeface="Lora SemiBold"/>
              </a:defRPr>
            </a:pPr>
            <a:r>
              <a:rPr sz="2900" b="1">
                <a:solidFill>
                  <a:srgbClr val="000000"/>
                </a:solidFill>
                <a:latin typeface="Lora SemiBold"/>
                <a:ea typeface="Lora SemiBold"/>
                <a:cs typeface="Lora SemiBold"/>
              </a:rPr>
              <a:t>Executive summary: revenue and scale logic</a:t>
            </a:r>
          </a:p>
        </p:txBody>
      </p:sp>
      <p:sp>
        <p:nvSpPr>
          <p:cNvPr id="11" name="Subtitle 4">
            <a:extLst xmlns:a="http://schemas.openxmlformats.org/drawingml/2006/main">
              <a:ext uri="{FF2B5EF4-FFF2-40B4-BE49-F238E27FC236}">
                <a16:creationId xmlns:a16="http://schemas.microsoft.com/office/drawing/2014/main" id="{42E9C51D-AB09-8D83-4157-006D57137348}"/>
              </a:ext>
            </a:extLst>
          </p:cNvPr>
          <p:cNvSpPr>
            <a:spLocks xmlns:a="http://schemas.openxmlformats.org/drawingml/2006/main" noGrp="1"/>
          </p:cNvSpPr>
          <p:nvPr/>
        </p:nvSpPr>
        <p:spPr>
          <a:xfrm xmlns:a="http://schemas.openxmlformats.org/drawingml/2006/main">
            <a:off x="393699" y="392242"/>
            <a:ext cx="3578411" cy="34517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defPPr algn="l">
              <a:defRPr sz="1800">
                <a:solidFill>
                  <a:srgbClr val="3357B8"/>
                </a:solidFill>
                <a:latin typeface="Roboto Medium"/>
                <a:ea typeface="Roboto Medium"/>
                <a:cs typeface="Roboto Medium"/>
              </a:defRPr>
            </a:defPPr>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l">
              <a:buNone/>
              <a:defRPr sz="1800">
                <a:solidFill>
                  <a:srgbClr val="3357B8"/>
                </a:solidFill>
                <a:latin typeface="Roboto Medium"/>
                <a:ea typeface="Roboto Medium"/>
                <a:cs typeface="Roboto Medium"/>
              </a:defRPr>
            </a:pPr>
            <a:r>
              <a:rPr sz="1800">
                <a:solidFill>
                  <a:srgbClr val="3357B8"/>
                </a:solidFill>
                <a:latin typeface="Roboto Medium"/>
                <a:ea typeface="Roboto Medium"/>
                <a:cs typeface="Roboto Medium"/>
              </a:rPr>
              <a:t>Executive summary</a:t>
            </a:r>
          </a:p>
        </p:txBody>
      </p:sp>
      <p:sp>
        <p:nvSpPr>
          <p:cNvPr id="15" name="Straight Connector 14">
            <a:extLst xmlns:a="http://schemas.openxmlformats.org/drawingml/2006/main">
              <a:ext uri="{FF2B5EF4-FFF2-40B4-BE49-F238E27FC236}">
                <a16:creationId xmlns:a16="http://schemas.microsoft.com/office/drawing/2014/main" id="{54B3FB9B-21E2-44DF-B3DF-B5453D33720C}"/>
              </a:ext>
            </a:extLst>
          </p:cNvPr>
          <p:cNvSpPr>
            <a:spLocks xmlns:a="http://schemas.openxmlformats.org/drawingml/2006/main" noGrp="1"/>
          </p:cNvSpPr>
          <p:nvPr/>
        </p:nvSpPr>
        <p:spPr>
          <a:xfrm xmlns:a="http://schemas.openxmlformats.org/drawingml/2006/main">
            <a:off x="6261100" y="4039769"/>
            <a:ext cx="5537200" cy="0"/>
          </a:xfrm>
          <a:prstGeom xmlns:a="http://schemas.openxmlformats.org/drawingml/2006/main" prst="line">
            <a:avLst/>
          </a:prstGeom>
          <a:ln xmlns:a="http://schemas.openxmlformats.org/drawingml/2006/main" w="12700">
            <a:solidFill>
              <a:schemeClr val="accent2">
                <a:lumMod val="90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Google Shape;534;p58">
            <a:extLst xmlns:a="http://schemas.openxmlformats.org/drawingml/2006/main">
              <a:ext uri="{FF2B5EF4-FFF2-40B4-BE49-F238E27FC236}">
                <a16:creationId xmlns:a16="http://schemas.microsoft.com/office/drawing/2014/main" id="{108E1773-B682-C5EE-6944-58546A384F37}"/>
              </a:ext>
            </a:extLst>
          </p:cNvPr>
          <p:cNvSpPr>
            <a:spLocks xmlns:a="http://schemas.openxmlformats.org/drawingml/2006/main" noGrp="1"/>
          </p:cNvSpPr>
          <p:nvPr/>
        </p:nvSpPr>
        <p:spPr>
          <a:xfrm xmlns:a="http://schemas.openxmlformats.org/drawingml/2006/main">
            <a:off x="6260109" y="4867987"/>
            <a:ext cx="5537200" cy="120023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Validate tactile usability and comfort, secure supplier quotations, and convert paid pilots into repeat funded orders.</a:t>
            </a:r>
          </a:p>
        </p:txBody>
      </p:sp>
      <p:sp>
        <p:nvSpPr>
          <p:cNvPr id="17" name="Google Shape;534;p58">
            <a:extLst xmlns:a="http://schemas.openxmlformats.org/drawingml/2006/main">
              <a:ext uri="{FF2B5EF4-FFF2-40B4-BE49-F238E27FC236}">
                <a16:creationId xmlns:a16="http://schemas.microsoft.com/office/drawing/2014/main" id="{1C1F2FD8-0D30-C7BF-5234-6F0EE46F0DC3}"/>
              </a:ext>
            </a:extLst>
          </p:cNvPr>
          <p:cNvSpPr>
            <a:spLocks xmlns:a="http://schemas.openxmlformats.org/drawingml/2006/main" noGrp="1"/>
          </p:cNvSpPr>
          <p:nvPr/>
        </p:nvSpPr>
        <p:spPr>
          <a:xfrm xmlns:a="http://schemas.openxmlformats.org/drawingml/2006/main">
            <a:off x="6260109" y="4385030"/>
            <a:ext cx="5537200"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2000">
                <a:solidFill>
                  <a:srgbClr val="000000"/>
                </a:solidFill>
                <a:latin typeface="Lora"/>
                <a:ea typeface="Lora"/>
                <a:cs typeface="Lora"/>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2000">
                <a:solidFill>
                  <a:srgbClr val="000000"/>
                </a:solidFill>
                <a:latin typeface="Lora"/>
                <a:ea typeface="Lora"/>
                <a:cs typeface="Lora"/>
              </a:defRPr>
            </a:pPr>
            <a:r>
              <a:rPr sz="2000">
                <a:solidFill>
                  <a:srgbClr val="000000"/>
                </a:solidFill>
                <a:latin typeface="Lora"/>
                <a:ea typeface="Lora"/>
                <a:cs typeface="Lora"/>
              </a:rPr>
              <a:t>Next investment priorities</a:t>
            </a:r>
            <a:endParaRPr sz="2000">
              <a:latin typeface="+mj-lt"/>
              <a:ea typeface="+mj-lt"/>
              <a:cs typeface="+mj-lt"/>
            </a:endParaRPr>
          </a:p>
        </p:txBody>
      </p:sp>
      <p:sp>
        <p:nvSpPr>
          <p:cNvPr id="3" name="Rounded Rectangle 2">
            <a:extLst xmlns:a="http://schemas.openxmlformats.org/drawingml/2006/main">
              <a:ext uri="{FF2B5EF4-FFF2-40B4-BE49-F238E27FC236}">
                <a16:creationId xmlns:a16="http://schemas.microsoft.com/office/drawing/2014/main" id="{F16B487F-1A7A-C301-4AB8-8DC1C19839AB}"/>
              </a:ext>
            </a:extLst>
          </p:cNvPr>
          <p:cNvSpPr>
            <a:spLocks xmlns:a="http://schemas.openxmlformats.org/drawingml/2006/main" noGrp="1"/>
          </p:cNvSpPr>
          <p:nvPr/>
        </p:nvSpPr>
        <p:spPr>
          <a:xfrm xmlns:a="http://schemas.openxmlformats.org/drawingml/2006/main">
            <a:off x="2349499" y="2093356"/>
            <a:ext cx="2271780" cy="402442"/>
          </a:xfrm>
          <a:prstGeom xmlns:a="http://schemas.openxmlformats.org/drawingml/2006/main" prst="roundRect">
            <a:avLst>
              <a:gd name="adj" fmla="val 15738"/>
            </a:avLst>
          </a:prstGeom>
          <a:solidFill xmlns:a="http://schemas.openxmlformats.org/drawingml/2006/main">
            <a:schemeClr val="accent1">
              <a:alpha val="24648"/>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noAutofit/>
          </a:bodyPr>
          <a:lstStyle xmlns:a="http://schemas.openxmlformats.org/drawingml/2006/main">
            <a:defPPr algn="ctr">
              <a:defRPr sz="1800">
                <a:solidFill>
                  <a:srgbClr val="3357B8"/>
                </a:solidFill>
                <a:latin typeface="Roboto"/>
                <a:ea typeface="Roboto"/>
                <a:cs typeface="Roboto"/>
              </a:defRPr>
            </a:defPPr>
            <a:lvl1pPr algn="ctr">
              <a:buNone/>
              <a:defRPr sz="1800">
                <a:solidFill>
                  <a:srgbClr val="3357B8"/>
                </a:solidFill>
                <a:latin typeface="Roboto"/>
                <a:ea typeface="Roboto"/>
                <a:cs typeface="Roboto"/>
              </a:defRPr>
            </a:lvl1pPr>
            <a:lvl2pPr algn="ctr">
              <a:buNone/>
              <a:defRPr sz="1800">
                <a:solidFill>
                  <a:srgbClr val="3357B8"/>
                </a:solidFill>
                <a:latin typeface="Roboto"/>
                <a:ea typeface="Roboto"/>
                <a:cs typeface="Roboto"/>
              </a:defRPr>
            </a:lvl2pPr>
            <a:lvl3pPr algn="ctr">
              <a:buNone/>
              <a:defRPr sz="1800">
                <a:solidFill>
                  <a:srgbClr val="3357B8"/>
                </a:solidFill>
                <a:latin typeface="Roboto"/>
                <a:ea typeface="Roboto"/>
                <a:cs typeface="Roboto"/>
              </a:defRPr>
            </a:lvl3pPr>
            <a:lvl4pPr algn="ctr">
              <a:buNone/>
              <a:defRPr sz="1800">
                <a:solidFill>
                  <a:srgbClr val="3357B8"/>
                </a:solidFill>
                <a:latin typeface="Roboto"/>
                <a:ea typeface="Roboto"/>
                <a:cs typeface="Roboto"/>
              </a:defRPr>
            </a:lvl4pPr>
            <a:lvl5pPr algn="ctr">
              <a:buNone/>
              <a:defRPr sz="1800">
                <a:solidFill>
                  <a:srgbClr val="3357B8"/>
                </a:solidFill>
                <a:latin typeface="Roboto"/>
                <a:ea typeface="Roboto"/>
                <a:cs typeface="Roboto"/>
              </a:defRPr>
            </a:lvl5pPr>
            <a:lvl6pPr algn="ctr">
              <a:buNone/>
              <a:defRPr sz="1800">
                <a:solidFill>
                  <a:srgbClr val="3357B8"/>
                </a:solidFill>
                <a:latin typeface="Roboto"/>
                <a:ea typeface="Roboto"/>
                <a:cs typeface="Roboto"/>
              </a:defRPr>
            </a:lvl6pPr>
            <a:lvl7pPr algn="ctr">
              <a:buNone/>
              <a:defRPr sz="1800">
                <a:solidFill>
                  <a:srgbClr val="3357B8"/>
                </a:solidFill>
                <a:latin typeface="Roboto"/>
                <a:ea typeface="Roboto"/>
                <a:cs typeface="Roboto"/>
              </a:defRPr>
            </a:lvl7pPr>
            <a:lvl8pPr algn="ctr">
              <a:buNone/>
              <a:defRPr sz="1800">
                <a:solidFill>
                  <a:srgbClr val="3357B8"/>
                </a:solidFill>
                <a:latin typeface="Roboto"/>
                <a:ea typeface="Roboto"/>
                <a:cs typeface="Roboto"/>
              </a:defRPr>
            </a:lvl8pPr>
            <a:lvl9pPr algn="ctr">
              <a:buNone/>
              <a:defRPr sz="1800">
                <a:solidFill>
                  <a:srgbClr val="3357B8"/>
                </a:solidFill>
                <a:latin typeface="Roboto"/>
                <a:ea typeface="Roboto"/>
                <a:cs typeface="Roboto"/>
              </a:defRPr>
            </a:lvl9pPr>
          </a:lstStyle>
          <a:p xmlns:a="http://schemas.openxmlformats.org/drawingml/2006/main">
            <a:pPr algn="ctr">
              <a:buNone/>
              <a:defRPr sz="1800">
                <a:solidFill>
                  <a:srgbClr val="3357B8"/>
                </a:solidFill>
                <a:latin typeface="Roboto"/>
                <a:ea typeface="Roboto"/>
                <a:cs typeface="Roboto"/>
              </a:defRPr>
            </a:pPr>
            <a:r>
              <a:rPr sz="1800">
                <a:solidFill>
                  <a:srgbClr val="3357B8"/>
                </a:solidFill>
                <a:latin typeface="Roboto"/>
                <a:ea typeface="Roboto"/>
                <a:cs typeface="Roboto"/>
              </a:rPr>
              <a:t>Planning case</a:t>
            </a:r>
          </a:p>
        </p:txBody>
      </p:sp>
      <p:sp>
        <p:nvSpPr>
          <p:cNvPr id="14" name="TextBox 13">
            <a:extLst xmlns:a="http://schemas.openxmlformats.org/drawingml/2006/main">
              <a:ext uri="{FF2B5EF4-FFF2-40B4-BE49-F238E27FC236}">
                <a16:creationId xmlns:a16="http://schemas.microsoft.com/office/drawing/2014/main" id="{F3AF61EC-DBA0-BFB1-3293-0BF5DB670691}"/>
              </a:ext>
            </a:extLst>
          </p:cNvPr>
          <p:cNvSpPr>
            <a:spLocks xmlns:a="http://schemas.openxmlformats.org/drawingml/2006/main" noGrp="1"/>
          </p:cNvSpPr>
          <p:nvPr/>
        </p:nvSpPr>
        <p:spPr>
          <a:xfrm xmlns:a="http://schemas.openxmlformats.org/drawingml/2006/main">
            <a:off x="393699" y="4756098"/>
            <a:ext cx="5537199" cy="312725"/>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defPPr algn="l">
              <a:defRPr sz="1800">
                <a:solidFill>
                  <a:srgbClr val="3357B8"/>
                </a:solidFill>
                <a:latin typeface="Helvetica Neue Medium"/>
                <a:ea typeface="Helvetica Neue Medium"/>
                <a:cs typeface="Helvetica Neue Medium"/>
              </a:defRPr>
            </a:defPPr>
            <a:lvl1pPr algn="l">
              <a:buNone/>
              <a:defRPr sz="1800">
                <a:solidFill>
                  <a:srgbClr val="3357B8"/>
                </a:solidFill>
                <a:latin typeface="Helvetica Neue Medium"/>
                <a:ea typeface="Helvetica Neue Medium"/>
                <a:cs typeface="Helvetica Neue Medium"/>
              </a:defRPr>
            </a:lvl1pPr>
            <a:lvl2pPr algn="l">
              <a:buNone/>
              <a:defRPr sz="1800">
                <a:solidFill>
                  <a:srgbClr val="3357B8"/>
                </a:solidFill>
                <a:latin typeface="Helvetica Neue Medium"/>
                <a:ea typeface="Helvetica Neue Medium"/>
                <a:cs typeface="Helvetica Neue Medium"/>
              </a:defRPr>
            </a:lvl2pPr>
            <a:lvl3pPr algn="l">
              <a:buNone/>
              <a:defRPr sz="1800">
                <a:solidFill>
                  <a:srgbClr val="3357B8"/>
                </a:solidFill>
                <a:latin typeface="Helvetica Neue Medium"/>
                <a:ea typeface="Helvetica Neue Medium"/>
                <a:cs typeface="Helvetica Neue Medium"/>
              </a:defRPr>
            </a:lvl3pPr>
            <a:lvl4pPr algn="l">
              <a:buNone/>
              <a:defRPr sz="1800">
                <a:solidFill>
                  <a:srgbClr val="3357B8"/>
                </a:solidFill>
                <a:latin typeface="Helvetica Neue Medium"/>
                <a:ea typeface="Helvetica Neue Medium"/>
                <a:cs typeface="Helvetica Neue Medium"/>
              </a:defRPr>
            </a:lvl4pPr>
            <a:lvl5pPr algn="l">
              <a:buNone/>
              <a:defRPr sz="1800">
                <a:solidFill>
                  <a:srgbClr val="3357B8"/>
                </a:solidFill>
                <a:latin typeface="Helvetica Neue Medium"/>
                <a:ea typeface="Helvetica Neue Medium"/>
                <a:cs typeface="Helvetica Neue Medium"/>
              </a:defRPr>
            </a:lvl5pPr>
            <a:lvl6pPr algn="l">
              <a:buNone/>
              <a:defRPr sz="1800">
                <a:solidFill>
                  <a:srgbClr val="3357B8"/>
                </a:solidFill>
                <a:latin typeface="Helvetica Neue Medium"/>
                <a:ea typeface="Helvetica Neue Medium"/>
                <a:cs typeface="Helvetica Neue Medium"/>
              </a:defRPr>
            </a:lvl6pPr>
            <a:lvl7pPr algn="l">
              <a:buNone/>
              <a:defRPr sz="1800">
                <a:solidFill>
                  <a:srgbClr val="3357B8"/>
                </a:solidFill>
                <a:latin typeface="Helvetica Neue Medium"/>
                <a:ea typeface="Helvetica Neue Medium"/>
                <a:cs typeface="Helvetica Neue Medium"/>
              </a:defRPr>
            </a:lvl7pPr>
            <a:lvl8pPr algn="l">
              <a:buNone/>
              <a:defRPr sz="1800">
                <a:solidFill>
                  <a:srgbClr val="3357B8"/>
                </a:solidFill>
                <a:latin typeface="Helvetica Neue Medium"/>
                <a:ea typeface="Helvetica Neue Medium"/>
                <a:cs typeface="Helvetica Neue Medium"/>
              </a:defRPr>
            </a:lvl8pPr>
            <a:lvl9pPr algn="l">
              <a:buNone/>
              <a:defRPr sz="1800">
                <a:solidFill>
                  <a:srgbClr val="3357B8"/>
                </a:solidFill>
                <a:latin typeface="Helvetica Neue Medium"/>
                <a:ea typeface="Helvetica Neue Medium"/>
                <a:cs typeface="Helvetica Neue Medium"/>
              </a:defRPr>
            </a:lvl9pPr>
          </a:lstStyle>
          <a:p xmlns:a="http://schemas.openxmlformats.org/drawingml/2006/main">
            <a:pPr marL="0" marR="0" lvl="0" indent="0" algn="l" defTabSz="914400">
              <a:lnSpc>
                <a:spcPct val="114000"/>
              </a:lnSpc>
              <a:spcBef>
                <a:spcPts val="0"/>
              </a:spcBef>
              <a:spcAft>
                <a:spcPts val="800"/>
              </a:spcAft>
              <a:buClrTx/>
              <a:buSzTx/>
              <a:buFontTx/>
              <a:buNone/>
              <a:defRPr sz="1800">
                <a:solidFill>
                  <a:srgbClr val="3357B8"/>
                </a:solidFill>
                <a:latin typeface="Helvetica Neue Medium"/>
                <a:ea typeface="Helvetica Neue Medium"/>
                <a:cs typeface="Helvetica Neue Medium"/>
              </a:defRPr>
            </a:pPr>
            <a:r>
              <a:rPr sz="1800" b="0" i="0" u="none" strike="noStrike" cap="none" spc="0" baseline="0">
                <a:ln>
                  <a:noFill/>
                </a:ln>
                <a:solidFill>
                  <a:srgbClr val="3357B8"/>
                </a:solidFill>
                <a:latin typeface="Helvetica Neue Medium"/>
                <a:ea typeface="Helvetica Neue Medium"/>
                <a:cs typeface="Helvetica Neue Medium"/>
              </a:rPr>
              <a:t>Scale threshold</a:t>
            </a:r>
          </a:p>
        </p:txBody>
      </p:sp>
      <p:sp>
        <p:nvSpPr>
          <p:cNvPr id="18" name="Google Shape;534;p58">
            <a:extLst xmlns:a="http://schemas.openxmlformats.org/drawingml/2006/main">
              <a:ext uri="{FF2B5EF4-FFF2-40B4-BE49-F238E27FC236}">
                <a16:creationId xmlns:a16="http://schemas.microsoft.com/office/drawing/2014/main" id="{47E14DB1-10CD-1A00-06DC-F11F90562A04}"/>
              </a:ext>
            </a:extLst>
          </p:cNvPr>
          <p:cNvSpPr>
            <a:spLocks xmlns:a="http://schemas.openxmlformats.org/drawingml/2006/main" noGrp="1"/>
          </p:cNvSpPr>
          <p:nvPr/>
        </p:nvSpPr>
        <p:spPr>
          <a:xfrm xmlns:a="http://schemas.openxmlformats.org/drawingml/2006/main">
            <a:off x="386251" y="5134071"/>
            <a:ext cx="5537200" cy="86032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defPPr algn="l">
              <a:defRPr sz="1600">
                <a:solidFill>
                  <a:srgbClr val="000000"/>
                </a:solidFill>
                <a:latin typeface="Helvetica Neue"/>
                <a:ea typeface="Helvetica Neue"/>
                <a:cs typeface="Helvetica Neue"/>
              </a:defRPr>
            </a:defPPr>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600">
                <a:solidFill>
                  <a:srgbClr val="000000"/>
                </a:solidFill>
                <a:latin typeface="Helvetica Neue"/>
                <a:ea typeface="Helvetica Neue"/>
                <a:cs typeface="Helvetica Neue"/>
              </a:defRPr>
            </a:pPr>
            <a:r>
              <a:rPr sz="1600">
                <a:solidFill>
                  <a:srgbClr val="000000"/>
                </a:solidFill>
                <a:latin typeface="Helvetica Neue"/>
                <a:ea typeface="Helvetica Neue"/>
                <a:cs typeface="Helvetica Neue"/>
              </a:rPr>
              <a:t>About 1,566 annual devices cover $180k fixed costs. Maintenance supports retention and adds modest recurring income.</a:t>
            </a:r>
          </a:p>
        </p:txBody>
      </p:sp>
    </p:spTree>
    <p:extLst>
      <p:ext uri="{BB962C8B-B14F-4D97-AF65-F5344CB8AC3E}">
        <p14:creationId xmlns:p14="http://schemas.microsoft.com/office/powerpoint/2010/main" val="115145367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32011EE4-C416-3EA2-180D-62404CE47D07}"/>
              </a:ext>
            </a:extLst>
          </p:cNvPr>
          <p:cNvSpPr>
            <a:spLocks xmlns:a="http://schemas.openxmlformats.org/drawingml/2006/main" noGrp="1"/>
          </p:cNvSpPr>
          <p:nvPr>
            <p:ph type="ctrTitle" idx="0"/>
          </p:nvPr>
        </p:nvSpPr>
        <p:spPr>
          <a:xfrm xmlns:a="http://schemas.openxmlformats.org/drawingml/2006/main">
            <a:off x="393700" y="937510"/>
            <a:ext cx="9448800" cy="2491490"/>
          </a:xfrm>
        </p:spPr>
        <p:txBody>
          <a:bodyPr xmlns:a="http://schemas.openxmlformats.org/drawingml/2006/main">
            <a:noAutofit/>
          </a:bodyPr>
          <a:lstStyle xmlns:a="http://schemas.openxmlformats.org/drawingml/2006/main">
            <a:defPPr algn="l">
              <a:defRPr sz="6500" b="1">
                <a:solidFill>
                  <a:srgbClr val="3357B8"/>
                </a:solidFill>
                <a:latin typeface="Lora SemiBold"/>
                <a:ea typeface="Lora SemiBold"/>
                <a:cs typeface="Lora SemiBold"/>
              </a:defRPr>
            </a:defPPr>
            <a:lvl1pPr algn="l">
              <a:buNone/>
              <a:defRPr sz="6500" b="1">
                <a:solidFill>
                  <a:srgbClr val="3357B8"/>
                </a:solidFill>
                <a:latin typeface="Lora SemiBold"/>
                <a:ea typeface="Lora SemiBold"/>
                <a:cs typeface="Lora SemiBold"/>
              </a:defRPr>
            </a:lvl1pPr>
            <a:lvl2pPr algn="l">
              <a:buNone/>
              <a:defRPr sz="6500" b="1">
                <a:solidFill>
                  <a:srgbClr val="3357B8"/>
                </a:solidFill>
                <a:latin typeface="Lora SemiBold"/>
                <a:ea typeface="Lora SemiBold"/>
                <a:cs typeface="Lora SemiBold"/>
              </a:defRPr>
            </a:lvl2pPr>
            <a:lvl3pPr algn="l">
              <a:buNone/>
              <a:defRPr sz="6500" b="1">
                <a:solidFill>
                  <a:srgbClr val="3357B8"/>
                </a:solidFill>
                <a:latin typeface="Lora SemiBold"/>
                <a:ea typeface="Lora SemiBold"/>
                <a:cs typeface="Lora SemiBold"/>
              </a:defRPr>
            </a:lvl3pPr>
            <a:lvl4pPr algn="l">
              <a:buNone/>
              <a:defRPr sz="6500" b="1">
                <a:solidFill>
                  <a:srgbClr val="3357B8"/>
                </a:solidFill>
                <a:latin typeface="Lora SemiBold"/>
                <a:ea typeface="Lora SemiBold"/>
                <a:cs typeface="Lora SemiBold"/>
              </a:defRPr>
            </a:lvl4pPr>
            <a:lvl5pPr algn="l">
              <a:buNone/>
              <a:defRPr sz="6500" b="1">
                <a:solidFill>
                  <a:srgbClr val="3357B8"/>
                </a:solidFill>
                <a:latin typeface="Lora SemiBold"/>
                <a:ea typeface="Lora SemiBold"/>
                <a:cs typeface="Lora SemiBold"/>
              </a:defRPr>
            </a:lvl5pPr>
            <a:lvl6pPr algn="l">
              <a:buNone/>
              <a:defRPr sz="6500" b="1">
                <a:solidFill>
                  <a:srgbClr val="3357B8"/>
                </a:solidFill>
                <a:latin typeface="Lora SemiBold"/>
                <a:ea typeface="Lora SemiBold"/>
                <a:cs typeface="Lora SemiBold"/>
              </a:defRPr>
            </a:lvl6pPr>
            <a:lvl7pPr algn="l">
              <a:buNone/>
              <a:defRPr sz="6500" b="1">
                <a:solidFill>
                  <a:srgbClr val="3357B8"/>
                </a:solidFill>
                <a:latin typeface="Lora SemiBold"/>
                <a:ea typeface="Lora SemiBold"/>
                <a:cs typeface="Lora SemiBold"/>
              </a:defRPr>
            </a:lvl7pPr>
            <a:lvl8pPr algn="l">
              <a:buNone/>
              <a:defRPr sz="6500" b="1">
                <a:solidFill>
                  <a:srgbClr val="3357B8"/>
                </a:solidFill>
                <a:latin typeface="Lora SemiBold"/>
                <a:ea typeface="Lora SemiBold"/>
                <a:cs typeface="Lora SemiBold"/>
              </a:defRPr>
            </a:lvl8pPr>
            <a:lvl9pPr algn="l">
              <a:buNone/>
              <a:defRPr sz="6500" b="1">
                <a:solidFill>
                  <a:srgbClr val="3357B8"/>
                </a:solidFill>
                <a:latin typeface="Lora SemiBold"/>
                <a:ea typeface="Lora SemiBold"/>
                <a:cs typeface="Lora SemiBold"/>
              </a:defRPr>
            </a:lvl9pPr>
          </a:lstStyle>
          <a:p xmlns:a="http://schemas.openxmlformats.org/drawingml/2006/main">
            <a:pPr algn="l">
              <a:buNone/>
              <a:defRPr sz="6500" b="1">
                <a:solidFill>
                  <a:srgbClr val="3357B8"/>
                </a:solidFill>
                <a:latin typeface="Lora SemiBold"/>
                <a:ea typeface="Lora SemiBold"/>
                <a:cs typeface="Lora SemiBold"/>
              </a:defRPr>
            </a:pPr>
            <a:r>
              <a:rPr sz="6500" b="1">
                <a:solidFill>
                  <a:srgbClr val="3357B8"/>
                </a:solidFill>
                <a:latin typeface="Lora SemiBold"/>
                <a:ea typeface="Lora SemiBold"/>
                <a:cs typeface="Lora SemiBold"/>
              </a:rPr>
              <a:t>Ally Vision</a:t>
            </a:r>
          </a:p>
          <a:p xmlns:a="http://schemas.openxmlformats.org/drawingml/2006/main">
            <a:pPr algn="l">
              <a:buNone/>
              <a:defRPr sz="6500" b="1">
                <a:solidFill>
                  <a:srgbClr val="3357B8"/>
                </a:solidFill>
                <a:latin typeface="Lora SemiBold"/>
                <a:ea typeface="Lora SemiBold"/>
                <a:cs typeface="Lora SemiBold"/>
              </a:defRPr>
            </a:pPr>
            <a:r>
              <a:rPr sz="6500" b="1">
                <a:solidFill>
                  <a:srgbClr val="3357B8"/>
                </a:solidFill>
                <a:latin typeface="Lora SemiBold"/>
                <a:ea typeface="Lora SemiBold"/>
                <a:cs typeface="Lora SemiBold"/>
              </a:rPr>
              <a:t>Feel the space ahead</a:t>
            </a:r>
          </a:p>
        </p:txBody>
      </p:sp>
      <p:sp>
        <p:nvSpPr>
          <p:cNvPr id="5" name="Subtitle 4">
            <a:extLst xmlns:a="http://schemas.openxmlformats.org/drawingml/2006/main">
              <a:ext uri="{FF2B5EF4-FFF2-40B4-BE49-F238E27FC236}">
                <a16:creationId xmlns:a16="http://schemas.microsoft.com/office/drawing/2014/main" id="{119B400D-E218-8301-7E00-C5A55230DE5D}"/>
              </a:ext>
            </a:extLst>
          </p:cNvPr>
          <p:cNvSpPr>
            <a:spLocks xmlns:a="http://schemas.openxmlformats.org/drawingml/2006/main" noGrp="1"/>
          </p:cNvSpPr>
          <p:nvPr>
            <p:ph type="subTitle" idx="1"/>
          </p:nvPr>
        </p:nvSpPr>
        <p:spPr>
          <a:xfrm xmlns:a="http://schemas.openxmlformats.org/drawingml/2006/main">
            <a:off x="441201" y="4532466"/>
            <a:ext cx="6458364" cy="1388024"/>
          </a:xfrm>
        </p:spPr>
        <p:txBody>
          <a:bodyPr xmlns:a="http://schemas.openxmlformats.org/drawingml/2006/main">
            <a:noAutofit/>
          </a:bodyPr>
          <a:lstStyle xmlns:a="http://schemas.openxmlformats.org/drawingml/2006/main">
            <a:defPPr algn="l">
              <a:defRPr sz="1600">
                <a:solidFill>
                  <a:srgbClr val="5E6576"/>
                </a:solidFill>
                <a:latin typeface="Roboto"/>
                <a:ea typeface="Roboto"/>
                <a:cs typeface="Roboto"/>
              </a:defRPr>
            </a:defPPr>
            <a:lvl1pPr algn="l">
              <a:buNone/>
              <a:defRPr sz="1600">
                <a:solidFill>
                  <a:srgbClr val="5E6576"/>
                </a:solidFill>
                <a:latin typeface="Roboto"/>
                <a:ea typeface="Roboto"/>
                <a:cs typeface="Roboto"/>
              </a:defRPr>
            </a:lvl1pPr>
            <a:lvl2pPr algn="l">
              <a:buNone/>
              <a:defRPr sz="1600">
                <a:solidFill>
                  <a:srgbClr val="5E6576"/>
                </a:solidFill>
                <a:latin typeface="Roboto"/>
                <a:ea typeface="Roboto"/>
                <a:cs typeface="Roboto"/>
              </a:defRPr>
            </a:lvl2pPr>
            <a:lvl3pPr algn="l">
              <a:buNone/>
              <a:defRPr sz="1600">
                <a:solidFill>
                  <a:srgbClr val="5E6576"/>
                </a:solidFill>
                <a:latin typeface="Roboto"/>
                <a:ea typeface="Roboto"/>
                <a:cs typeface="Roboto"/>
              </a:defRPr>
            </a:lvl3pPr>
            <a:lvl4pPr algn="l">
              <a:buNone/>
              <a:defRPr sz="1600">
                <a:solidFill>
                  <a:srgbClr val="5E6576"/>
                </a:solidFill>
                <a:latin typeface="Roboto"/>
                <a:ea typeface="Roboto"/>
                <a:cs typeface="Roboto"/>
              </a:defRPr>
            </a:lvl4pPr>
            <a:lvl5pPr algn="l">
              <a:buNone/>
              <a:defRPr sz="1600">
                <a:solidFill>
                  <a:srgbClr val="5E6576"/>
                </a:solidFill>
                <a:latin typeface="Roboto"/>
                <a:ea typeface="Roboto"/>
                <a:cs typeface="Roboto"/>
              </a:defRPr>
            </a:lvl5pPr>
            <a:lvl6pPr algn="l">
              <a:buNone/>
              <a:defRPr sz="1600">
                <a:solidFill>
                  <a:srgbClr val="5E6576"/>
                </a:solidFill>
                <a:latin typeface="Roboto"/>
                <a:ea typeface="Roboto"/>
                <a:cs typeface="Roboto"/>
              </a:defRPr>
            </a:lvl6pPr>
            <a:lvl7pPr algn="l">
              <a:buNone/>
              <a:defRPr sz="1600">
                <a:solidFill>
                  <a:srgbClr val="5E6576"/>
                </a:solidFill>
                <a:latin typeface="Roboto"/>
                <a:ea typeface="Roboto"/>
                <a:cs typeface="Roboto"/>
              </a:defRPr>
            </a:lvl7pPr>
            <a:lvl8pPr algn="l">
              <a:buNone/>
              <a:defRPr sz="1600">
                <a:solidFill>
                  <a:srgbClr val="5E6576"/>
                </a:solidFill>
                <a:latin typeface="Roboto"/>
                <a:ea typeface="Roboto"/>
                <a:cs typeface="Roboto"/>
              </a:defRPr>
            </a:lvl8pPr>
            <a:lvl9pPr algn="l">
              <a:buNone/>
              <a:defRPr sz="1600">
                <a:solidFill>
                  <a:srgbClr val="5E6576"/>
                </a:solidFill>
                <a:latin typeface="Roboto"/>
                <a:ea typeface="Roboto"/>
                <a:cs typeface="Roboto"/>
              </a:defRPr>
            </a:lvl9pPr>
          </a:lstStyle>
          <a:p xmlns:a="http://schemas.openxmlformats.org/drawingml/2006/main">
            <a:pPr algn="l">
              <a:lnSpc>
                <a:spcPct val="120000"/>
              </a:lnSpc>
              <a:buNone/>
              <a:defRPr sz="1600">
                <a:solidFill>
                  <a:srgbClr val="5E6576"/>
                </a:solidFill>
                <a:latin typeface="Roboto"/>
                <a:ea typeface="Roboto"/>
                <a:cs typeface="Roboto"/>
              </a:defRPr>
            </a:pPr>
            <a:r>
              <a:rPr sz="1600">
                <a:solidFill>
                  <a:srgbClr val="5E6576"/>
                </a:solidFill>
                <a:latin typeface="Roboto"/>
                <a:ea typeface="Roboto"/>
                <a:cs typeface="Roboto"/>
              </a:rPr>
              <a:t>Affordable tactile navigation support</a:t>
            </a:r>
          </a:p>
          <a:p xmlns:a="http://schemas.openxmlformats.org/drawingml/2006/main">
            <a:pPr algn="l">
              <a:lnSpc>
                <a:spcPct val="120000"/>
              </a:lnSpc>
              <a:buNone/>
              <a:defRPr sz="1600">
                <a:solidFill>
                  <a:srgbClr val="5E6576"/>
                </a:solidFill>
                <a:latin typeface="Roboto"/>
                <a:ea typeface="Roboto"/>
                <a:cs typeface="Roboto"/>
              </a:defRPr>
            </a:pPr>
            <a:r>
              <a:rPr sz="1600">
                <a:solidFill>
                  <a:srgbClr val="5E6576"/>
                </a:solidFill>
                <a:latin typeface="Roboto"/>
                <a:ea typeface="Roboto"/>
                <a:cs typeface="Roboto"/>
              </a:rPr>
              <a:t>Egypt-first validation and institutional distribution</a:t>
            </a:r>
          </a:p>
          <a:p xmlns:a="http://schemas.openxmlformats.org/drawingml/2006/main">
            <a:pPr algn="l">
              <a:lnSpc>
                <a:spcPct val="120000"/>
              </a:lnSpc>
              <a:buNone/>
              <a:defRPr sz="1600">
                <a:solidFill>
                  <a:srgbClr val="5E6576"/>
                </a:solidFill>
                <a:latin typeface="Roboto"/>
                <a:ea typeface="Roboto"/>
                <a:cs typeface="Roboto"/>
              </a:defRPr>
            </a:pPr>
            <a:r>
              <a:rPr sz="1600">
                <a:solidFill>
                  <a:srgbClr val="5E6576"/>
                </a:solidFill>
                <a:latin typeface="Roboto"/>
                <a:ea typeface="Roboto"/>
                <a:cs typeface="Roboto"/>
              </a:rPr>
              <a:t>Next milestone: validated pilots and supplier-backed costs</a:t>
            </a:r>
          </a:p>
        </p:txBody>
      </p:sp>
      <p:sp>
        <p:nvSpPr>
          <p:cNvPr id="3" name="Straight Connector 2">
            <a:extLst xmlns:a="http://schemas.openxmlformats.org/drawingml/2006/main">
              <a:ext uri="{FF2B5EF4-FFF2-40B4-BE49-F238E27FC236}">
                <a16:creationId xmlns:a16="http://schemas.microsoft.com/office/drawing/2014/main" id="{8F48CCB4-4B35-4C84-8811-46AA7AC3A62C}"/>
              </a:ext>
            </a:extLst>
          </p:cNvPr>
          <p:cNvSpPr>
            <a:spLocks xmlns:a="http://schemas.openxmlformats.org/drawingml/2006/main" noGrp="1"/>
          </p:cNvSpPr>
          <p:nvPr/>
        </p:nvSpPr>
        <p:spPr>
          <a:xfrm xmlns:a="http://schemas.openxmlformats.org/drawingml/2006/main">
            <a:off x="-183260" y="3934067"/>
            <a:ext cx="12558520" cy="0"/>
          </a:xfrm>
          <a:prstGeom xmlns:a="http://schemas.openxmlformats.org/drawingml/2006/main" prst="line">
            <a:avLst/>
          </a:prstGeom>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extLst>
      <p:ext uri="{BB962C8B-B14F-4D97-AF65-F5344CB8AC3E}">
        <p14:creationId xmlns:p14="http://schemas.microsoft.com/office/powerpoint/2010/main" val="858355452"/>
      </p:ext>
    </p:extLst>
  </p:cSld>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2026-10-27T10:48:53.3860000Z</dcterms:created>
  <dcterms:modified xsi:type="dcterms:W3CDTF">2026-10-27T10:48:53.3860000Z</dcterms:modified>
</coreProperties>
</file>